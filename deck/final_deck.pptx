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p50</c:v>
                </c:pt>
              </c:strCache>
            </c:strRef>
          </c:tx>
          <c:spPr>
            <a:solidFill>
              <a:srgbClr val="1E7A6E"/>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Realme tablet, lesson lines</c:v>
                  </c:pt>
                  <c:pt idx="1">
                    <c:v>2 GB emulator, lesson lines</c:v>
                  </c:pt>
                  <c:pt idx="2">
                    <c:v>Laptop hub, free speech ≤17 words</c:v>
                  </c:pt>
                </c:lvl>
              </c:multiLvlStrCache>
            </c:multiLvlStrRef>
          </c:cat>
          <c:val>
            <c:numRef>
              <c:f>Sheet1!$B$2:$B$4</c:f>
              <c:numCache>
                <c:formatCode>General</c:formatCode>
                <c:ptCount val="3"/>
                <c:pt idx="0">
                  <c:v>0.7</c:v>
                </c:pt>
                <c:pt idx="1">
                  <c:v>0.5</c:v>
                </c:pt>
                <c:pt idx="2">
                  <c:v>2.04</c:v>
                </c:pt>
              </c:numCache>
            </c:numRef>
          </c:val>
        </c:ser>
        <c:ser>
          <c:idx val="1"/>
          <c:order val="1"/>
          <c:tx>
            <c:strRef>
              <c:f>Sheet1!$C$1</c:f>
              <c:strCache>
                <c:ptCount val="1"/>
                <c:pt idx="0">
                  <c:v>p90</c:v>
                </c:pt>
              </c:strCache>
            </c:strRef>
          </c:tx>
          <c:spPr>
            <a:solidFill>
              <a:srgbClr val="1F6FB2"/>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Realme tablet, lesson lines</c:v>
                  </c:pt>
                  <c:pt idx="1">
                    <c:v>2 GB emulator, lesson lines</c:v>
                  </c:pt>
                  <c:pt idx="2">
                    <c:v>Laptop hub, free speech ≤17 words</c:v>
                  </c:pt>
                </c:lvl>
              </c:multiLvlStrCache>
            </c:multiLvlStrRef>
          </c:cat>
          <c:val>
            <c:numRef>
              <c:f>Sheet1!$C$2:$C$4</c:f>
              <c:numCache>
                <c:formatCode>General</c:formatCode>
                <c:ptCount val="3"/>
                <c:pt idx="0">
                  <c:v>1.2</c:v>
                </c:pt>
                <c:pt idx="1">
                  <c:v>0.82</c:v>
                </c:pt>
                <c:pt idx="2">
                  <c:v>2.9</c:v>
                </c:pt>
              </c:numCache>
            </c:numRef>
          </c:val>
        </c:ser>
        <c:ser>
          <c:idx val="2"/>
          <c:order val="2"/>
          <c:tx>
            <c:strRef>
              <c:f>Sheet1!$D$1</c:f>
              <c:strCache>
                <c:ptCount val="1"/>
                <c:pt idx="0">
                  <c:v>p95</c:v>
                </c:pt>
              </c:strCache>
            </c:strRef>
          </c:tx>
          <c:spPr>
            <a:solidFill>
              <a:srgbClr val="14324D"/>
            </a:solidFill>
            <a:effectLst/>
          </c:spPr>
          <c:invertIfNegative val="0"/>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Realme tablet, lesson lines</c:v>
                  </c:pt>
                  <c:pt idx="1">
                    <c:v>2 GB emulator, lesson lines</c:v>
                  </c:pt>
                  <c:pt idx="2">
                    <c:v>Laptop hub, free speech ≤17 words</c:v>
                  </c:pt>
                </c:lvl>
              </c:multiLvlStrCache>
            </c:multiLvlStrRef>
          </c:cat>
          <c:val>
            <c:numRef>
              <c:f>Sheet1!$D$2:$D$4</c:f>
              <c:numCache>
                <c:formatCode>General</c:formatCode>
                <c:ptCount val="3"/>
                <c:pt idx="0">
                  <c:v>1.27</c:v>
                </c:pt>
                <c:pt idx="1">
                  <c:v>0.93</c:v>
                </c:pt>
                <c:pt idx="2">
                  <c:v>3.29</c:v>
                </c:pt>
              </c:numCache>
            </c:numRef>
          </c:val>
        </c:ser>
        <c:dLbls>
          <c:numFmt formatCode="0.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3"/>
          <c:order val="3"/>
          <c:tx>
            <c:strRef>
              <c:f>Sheet1!$E$1</c:f>
              <c:strCache>
                <c:ptCount val="1"/>
                <c:pt idx="0">
                  <c:v>3 s limit</c:v>
                </c:pt>
              </c:strCache>
            </c:strRef>
          </c:tx>
          <c:spPr>
            <a:solidFill>
              <a:srgbClr val="B03A2E"/>
            </a:solidFill>
            <a:ln w="25400" cap="flat">
              <a:solidFill>
                <a:srgbClr val="B03A2E"/>
              </a:solidFill>
              <a:prstDash val="solid"/>
              <a:round/>
            </a:ln>
            <a:effectLst/>
          </c:spPr>
          <c:invertIfNegative val="0"/>
          <c:dLbls>
            <c:numFmt formatCode="0.0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03A2E"/>
              </a:solidFill>
              <a:ln w="9525" cap="flat">
                <a:solidFill>
                  <a:srgbClr val="B03A2E"/>
                </a:solidFill>
                <a:prstDash val="solid"/>
                <a:round/>
              </a:ln>
              <a:effectLst/>
            </c:spPr>
          </c:marker>
          <c:cat>
            <c:multiLvlStrRef>
              <c:f>Sheet1!$A$2:$A$4</c:f>
              <c:multiLvlStrCache>
                <c:ptCount val="3"/>
                <c:lvl>
                  <c:pt idx="0">
                    <c:v>Realme tablet, lesson lines</c:v>
                  </c:pt>
                  <c:pt idx="1">
                    <c:v>2 GB emulator, lesson lines</c:v>
                  </c:pt>
                  <c:pt idx="2">
                    <c:v>Laptop hub, free speech ≤17 words</c:v>
                  </c:pt>
                </c:lvl>
              </c:multiLvlStrCache>
            </c:multiLvlStrRef>
          </c:cat>
          <c:val>
            <c:numRef>
              <c:f>Sheet1!$E$2:$E$4</c:f>
              <c:numCache>
                <c:formatCode>General</c:formatCode>
                <c:ptCount val="3"/>
                <c:pt idx="0">
                  <c:v>3</c:v>
                </c:pt>
                <c:pt idx="1">
                  <c:v>3</c:v>
                </c:pt>
                <c:pt idx="2">
                  <c:v>3</c:v>
                </c:pt>
              </c:numCache>
            </c:numRef>
          </c:val>
          <c:smooth val="0"/>
        </c:ser>
        <c:dLbls>
          <c:numFmt formatCode="0.0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E5E1D8"/>
              </a:solidFill>
              <a:prstDash val="solid"/>
              <a:round/>
            </a:ln>
          </c:spPr>
        </c:majorGridlines>
        <c:title>
          <c:tx>
            <c:rich>
              <a:bodyPr/>
              <a:lstStyle/>
              <a:p>
                <a:pPr>
                  <a:defRPr sz="1100" b="0" i="0" u="none" strike="noStrike">
                    <a:solidFill>
                      <a:srgbClr val="000000"/>
                    </a:solidFill>
                    <a:latin typeface="Arial"/>
                  </a:defRPr>
                </a:pPr>
                <a:r>
                  <a:rPr sz="1100" b="0" i="0" u="none" strike="noStrike">
                    <a:solidFill>
                      <a:srgbClr val="000000"/>
                    </a:solidFill>
                    <a:latin typeface="Arial"/>
                  </a:rPr>
                  <a:t>seconds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ms</c:v>
                </c:pt>
              </c:strCache>
            </c:strRef>
          </c:tx>
          <c:spPr>
            <a:solidFill>
              <a:srgbClr val="1F6FB2"/>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Recognition</c:v>
                  </c:pt>
                  <c:pt idx="1">
                    <c:v>Translation</c:v>
                  </c:pt>
                  <c:pt idx="2">
                    <c:v>Speech</c:v>
                  </c:pt>
                </c:lvl>
              </c:multiLvlStrCache>
            </c:multiLvlStrRef>
          </c:cat>
          <c:val>
            <c:numRef>
              <c:f>Sheet1!$B$2:$B$4</c:f>
              <c:numCache>
                <c:formatCode>General</c:formatCode>
                <c:ptCount val="3"/>
                <c:pt idx="0">
                  <c:v>861</c:v>
                </c:pt>
                <c:pt idx="1">
                  <c:v>846</c:v>
                </c:pt>
                <c:pt idx="2">
                  <c:v>360</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peak</c:v>
                </c:pt>
              </c:strCache>
            </c:strRef>
          </c:tx>
          <c:spPr>
            <a:solidFill>
              <a:srgbClr val="1E7A6E"/>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Lessons, packs (Realme)</c:v>
                  </c:pt>
                  <c:pt idx="1">
                    <c:v>Spoken lesson lines (2 GB emu)</c:v>
                  </c:pt>
                  <c:pt idx="2">
                    <c:v>Typing new sentences (2 GB emu)</c:v>
                  </c:pt>
                </c:lvl>
              </c:multiLvlStrCache>
            </c:multiLvlStrRef>
          </c:cat>
          <c:val>
            <c:numRef>
              <c:f>Sheet1!$B$2:$B$4</c:f>
              <c:numCache>
                <c:formatCode>General</c:formatCode>
                <c:ptCount val="3"/>
                <c:pt idx="0">
                  <c:v>0.3</c:v>
                </c:pt>
                <c:pt idx="1">
                  <c:v>0.75</c:v>
                </c:pt>
                <c:pt idx="2">
                  <c:v>1.3</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2 GB device RAM</c:v>
                </c:pt>
              </c:strCache>
            </c:strRef>
          </c:tx>
          <c:spPr>
            <a:solidFill>
              <a:srgbClr val="B03A2E"/>
            </a:solidFill>
            <a:ln w="25400" cap="flat">
              <a:solidFill>
                <a:srgbClr val="B03A2E"/>
              </a:solidFill>
              <a:prstDash val="solid"/>
              <a:round/>
            </a:ln>
            <a:effectLst/>
          </c:spPr>
          <c:invertIfNegative val="0"/>
          <c:dLbls>
            <c:numFmt formatCode="0.00" sourceLinked="0"/>
            <c:txPr>
              <a:bodyPr/>
              <a:lstStyle/>
              <a:p>
                <a:pPr>
                  <a:defRPr b="0" i="0" strike="noStrike" sz="10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03A2E"/>
              </a:solidFill>
              <a:ln w="9525" cap="flat">
                <a:solidFill>
                  <a:srgbClr val="B03A2E"/>
                </a:solidFill>
                <a:prstDash val="solid"/>
                <a:round/>
              </a:ln>
              <a:effectLst/>
            </c:spPr>
          </c:marker>
          <c:cat>
            <c:multiLvlStrRef>
              <c:f>Sheet1!$A$2:$A$4</c:f>
              <c:multiLvlStrCache>
                <c:ptCount val="3"/>
                <c:lvl>
                  <c:pt idx="0">
                    <c:v>Lessons, packs (Realme)</c:v>
                  </c:pt>
                  <c:pt idx="1">
                    <c:v>Spoken lesson lines (2 GB emu)</c:v>
                  </c:pt>
                  <c:pt idx="2">
                    <c:v>Typing new sentences (2 GB emu)</c:v>
                  </c:pt>
                </c:lvl>
              </c:multiLvlStrCache>
            </c:multiLvlStrRef>
          </c:cat>
          <c:val>
            <c:numRef>
              <c:f>Sheet1!$C$2:$C$4</c:f>
              <c:numCache>
                <c:formatCode>General</c:formatCode>
                <c:ptCount val="3"/>
                <c:pt idx="0">
                  <c:v>2</c:v>
                </c:pt>
                <c:pt idx="1">
                  <c:v>2</c:v>
                </c:pt>
                <c:pt idx="2">
                  <c:v>2</c:v>
                </c:pt>
              </c:numCache>
            </c:numRef>
          </c:val>
          <c:smooth val="0"/>
        </c:ser>
        <c:dLbls>
          <c:numFmt formatCode="0.00" sourceLinked="0"/>
          <c:txPr>
            <a:bodyPr/>
            <a:lstStyle/>
            <a:p>
              <a:pPr>
                <a:defRPr b="0" i="0" strike="noStrike" sz="10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
          <c:min val="0"/>
        </c:scaling>
        <c:delete val="0"/>
        <c:axPos val="b"/>
        <c:majorGridlines>
          <c:spPr>
            <a:ln w="6350" cap="flat">
              <a:solidFill>
                <a:srgbClr val="E5E1D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0.5"/>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8-bitPool, and this is Nijbhasha, which means 'one's own language'. In one line: a Hindi-medium teacher in Jharkhand runs a lesson in Santali, on a tablet, with no internet. Everything we show today is running code, and every number has a file behind it in our public repository.
Likely question: Why the name change from VaaniSetu? Answer: another team used that name; we renamed on 26 September to avoid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JEPC language-mapping survey of 8,244 schools found that about 98 percent teach in Hindi, while Grade 1 children's home languages include Ho 17.03 percent, Santali 13.07 percent and Mundari 7.32 percent. The problem statement names more than 5,000 tribal-area schools. PALASH shows mother-tongue teaching helps, but there are not enough teachers who speak these languages. A child who cannot answer 'two plus three' may not be failing at addition; they may not understand the Hindi question.
Likely question: Are those percentages from your own data? Answer: No, from the JEPC survey report, pages 17 and 18; the brief gives the 5,000+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insight: the teacher does not need a translator app; they need a bridge they can use in tomorrow's lesson. The teacher speaks Hindi; the child hears Santali, in Ol Chiki and in speech; and the teacher gets the Santali back in Devanagari to read aloud, so over time they learn it too. Teachers correct lines, corrections spread to other tablets, and anything the system is unsure about is flagged instead of played.
Likely question: Why not just use Google Translate? Answer: it needs the internet, gives no lesson structure or worksheets, and has no way to mark doubtful output for a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set-ups. The laptop hub runs the larger models and makes printable material; it is optional. The Android tablet runs smaller int8 models on the device. Content and models reach the tablet as signed packs; teacher corrections come back as signed files. The voice path is the same on both: speech recognition, then four translation layers where a teacher's correction or a verified sentence wins over the model, then three guards, then speech plus a Devanagari reading guide. One web page and one tested REST contract serve both devices.
Likely question: Do you need the laptop? Answer: No for lessons, spoken lesson lines, typed translation and worksheets; yes for free-form speech and making new content packs.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 Every lesson line has Santali in Ol Chiki and offline speech. Translation goes human-first: a teacher's correction, then our verified sentences, then the cache, then the model, IndicTrans2, direct from Hindi with no English in between. On a public test set the model scores 32.2 chrF++ Hindi to Santali. Each reply shows where it came from as a tier: A human-written, B model, C flagged. Under the Santali, the teacher sees it in Devanagari to read aloud. We are open about the voice: a Hindi voice reads our transliteration, because no offline Santali voice exists; our own fine-tuned voice and Indic Parler-TTS both lost to it on a rule we fixed before testing.
Likely question: Is 32 chrF++ good? Answer: It is the published model's level for Santali (the paper's average into Santali is 30.4 on the same set); we do not claim it is good enough alone, which is why the tiers and flags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the three-second limit. On the tablet, a spoken lesson line takes 0.70 seconds median and 1.27 seconds at the 95th percentile on the Realme Pad Mini, and 0.93 seconds at p95 on a 2 GB Android 9 emulator: measured over 50 lines each, in airplane mode, from the end of speech to the reply audio being ready. On the laptop hub, free Hindi speech of up to 17 words takes 2.04 seconds median, 2.90 at p90, but 3.29 at p95: eight of 96 sentences went over three seconds. We show that. Recognition and translation take about 0.85 seconds each, speech 0.36.
Likely question: Is this with children's voices and classroom noise? Answer: No. Public adult speech and synthetic lesson lines; children's speech is the first thing we would measure in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 For every lesson the app produces a bilingual worksheet with five kinds of exercise and an answer key, cut-out flashcards with Santali on the front and Hindi on the back, and new this week, a teacher's lesson plan with the Santali in Ol Chiki and in Devanagari to read aloud, plus the accepted answers. Every lesson is tagged with the Ministry's NIPUN Lakshya, quoted word for word. Eighteen lessons from Balvatika to Grade 3 cover every Lakshya; teachers can add their own from Hindi text.
Likely question: Who checked the mapping to NIPUN? Answer: we did, per lesson, marking full or partial fit; it has not been reviewed by a teacher yet,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R4. The app targets Android 9 and up. In airplane mode, all 24 contract checks pass on a real tablet, the Realme Pad Mini, and on a 2 GB Android 9 emulator. Models arrive once as a 361 MB signed int8 pack, content as a 38 MB signed pack; a changed pack is refused. Memory: lessons need about 0.3 GB, spoken lesson lines 0.75 GB, typing new sentences 1.3 GB, so translation is loaded only when needed. What we have not done: a real 2 GB tablet, and a 32-bit ARM build, which many cheap tablets need. Both are first on our list.
Likely question: Will 1.3 GB fit on a 2 GB tablet with Android running? Answer: it ran on the 2 GB emulator; free-form speech did not (13.5 s, models swapped), so that stays on the laptop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novelty is not one model; it is what a classroom needs around the model. Teacher corrections are reused first and shared between tablets. The Devanagari reading guide lets the teacher say the Santali themselves. Tiers and three guards stop doubtful output from being played. Teachers can import lessons with village examples. A printed daily plan with pronunciation. Progress per NIPUN goal, with no names. A voice corpus where adults from the community record lines, with consent, to grow better voices. And a low-resource strategy: human-written sentences first, and new languages by light fine-tuning, as we did for Mundari.
Likely question: Which of these are new this week? Answer: the reading guide, the tiers, the lesson plans and the voice corpus; each has tests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no native Santali speaker on the team, and we treat that as a design constraint, not a secret. Human-written sentences come first. Model output is checked three ways: a loop guard, a round-trip check (a weak signal: precision 0.46, recall 0.45, so we call it a caution), and a new script guard. That guard came from auditing our own content pack: 13 of 119 lesson lines had words in Urdu or Meetei Mayek script, and six of them had passed the round-trip check. Flagged lines are tier C: a warning, no auto-play, and the nearest verified sentence. Children's data never leaves the device.
Likely question: So how accurate is it on your lessons? Answer: not measured, because that needs native speakers; it is the first thing we ask a pilot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likely alternatives. A translate wrapper or an online app stops without internet, which rules out many target schools, and sends children's voices to the cloud. Text-only tools do not speak. A chatbot needs the internet and can invent. Where we win is the classroom job: offline on the tablet, both directions by voice, Santali in its own script, NIPUN lessons and worksheets, and flags on doubtful output. We deliberately do not claim better raw translation than any of them.
Likely question: Bhashini supports Santali; why not use it? Answer: it is an online service; we need the classroom to work without a network, and we need the lesson loop around the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PALASH runs in 1,041 schools across 8 of Jharkhand's 24 districts, according to JEPC in January 2026; the brief names more than 5,000 tribal-area schools. A classroom needs one Android tablet; the laptop hub is optional. There are no licence or per-use fees. Languages grow along one path: Santali now, Mundari as a preview from our own LoRA adapters, Ho once there is text to train on. We propose a PALASH classroom pilot as the first step; nothing is agreed yet, and we do not estimate hardware cost here.
Likely question: What does a tablet cost? Answer: we have not priced it; any Android 9+ tablet the school has, or a low-cost one, and we would size that with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starts with the gaps we have told you about. In 30 days: native review of the lessons, a 32-bit build and a real 2 GB tablet, and the demo video. In 90 days, if a pilot is agreed: five classrooms, a children's speech benchmark, and Mundari on the tablet. In 180 days: Ho content written with native speakers, a better Santali voice from the community corpus, and resumable downloads. It sustains itself because the models and code are open, lessons are editable files, and every correction and recording improves it.
Likely question: Who pays for maintenance? Answer: there are no licence fees; the ongoing work is content and review, which fits the existing PALASH teacher-training structure; that is a proposal, not an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live demo shows, in order: the tablet in airplane mode loading lessons; the teacher speaking a lesson line and the child hearing Santali in about 0.7 seconds, with the timer on screen; the Devanagari reading guide; a doubtful line flagged as tier C and not played; and the worksheet, flashcards and lesson plan. The code, tests and every number are in the repository behind the QR code. Our ask is simple: a native Santali reviewer, and one PALASH classroom to measure it with real children. Thank you.
Likely question: Can we try it now? Answer: yes, the tablet is in airplane mode; say any lesson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models and data are public, with licences listed in THIRD_PARTY_LICENSES.md. Test sets are used only for evaluation; a leakage guard stops any training script from seeing them. The default voice is non-commercial, which suits a free government programme; the APK is under GPL-3.0 because of espeak-ng.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numbers, each from a results file. Adult public speech and synthetic lesson lines only; children's speech is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judge doubts a number, it can be re-derived from a script in the repository. We fixed decision rules before running the comparisons, so we could not pick the winner after seeing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Children's data never leaves the classroom device. The only recordings we keep are from consenting adults in the voice corpus, and they stay on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gaps a judge would find; we list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real lines. The last row is one the new script guard catches: an Urdu word inside the Santali, now tier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set of fifteen questions and answers is in docs/winning_narrative.md.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barath0512s-rgb/nijbhasha"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24D"/>
        </a:solidFill>
      </p:bgPr>
    </p:bg>
    <p:spTree>
      <p:nvGrpSpPr>
        <p:cNvPr id="1" name=""/>
        <p:cNvGrpSpPr/>
        <p:nvPr/>
      </p:nvGrpSpPr>
      <p:grpSpPr>
        <a:xfrm>
          <a:off x="0" y="0"/>
          <a:ext cx="0" cy="0"/>
          <a:chOff x="0" y="0"/>
          <a:chExt cx="0" cy="0"/>
        </a:xfrm>
      </p:grpSpPr>
      <p:sp>
        <p:nvSpPr>
          <p:cNvPr id="2" name="Shape 0"/>
          <p:cNvSpPr/>
          <p:nvPr/>
        </p:nvSpPr>
        <p:spPr>
          <a:xfrm>
            <a:off x="9326880" y="274320"/>
            <a:ext cx="2560320" cy="1261872"/>
          </a:xfrm>
          <a:prstGeom prst="roundRect">
            <a:avLst>
              <a:gd name="adj" fmla="val 8696"/>
            </a:avLst>
          </a:prstGeom>
          <a:solidFill>
            <a:srgbClr val="FFFFFF"/>
          </a:solidFill>
          <a:ln w="12700">
            <a:solidFill>
              <a:srgbClr val="FFFFFF"/>
            </a:solidFill>
            <a:prstDash val="solid"/>
          </a:ln>
        </p:spPr>
      </p:sp>
      <p:pic>
        <p:nvPicPr>
          <p:cNvPr id="3" name="Image 0" descr="/tmp/claude-0/deckwork/assets/sih_logo.png">    </p:cNvPr>
          <p:cNvPicPr>
            <a:picLocks noChangeAspect="1"/>
          </p:cNvPicPr>
          <p:nvPr/>
        </p:nvPicPr>
        <p:blipFill>
          <a:blip r:embed="rId1"/>
          <a:stretch>
            <a:fillRect/>
          </a:stretch>
        </p:blipFill>
        <p:spPr>
          <a:xfrm>
            <a:off x="9464040" y="365760"/>
            <a:ext cx="2286000" cy="1078992"/>
          </a:xfrm>
          <a:prstGeom prst="rect">
            <a:avLst/>
          </a:prstGeom>
        </p:spPr>
      </p:pic>
      <p:sp>
        <p:nvSpPr>
          <p:cNvPr id="4" name="Text 1"/>
          <p:cNvSpPr txBox="1"/>
          <p:nvPr/>
        </p:nvSpPr>
        <p:spPr>
          <a:xfrm>
            <a:off x="731520" y="1737360"/>
            <a:ext cx="822960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Nijbhasha</a:t>
            </a:r>
            <a:endParaRPr lang="en-US" sz="6000" dirty="0"/>
          </a:p>
        </p:txBody>
      </p:sp>
      <p:sp>
        <p:nvSpPr>
          <p:cNvPr id="5" name="Text 2"/>
          <p:cNvSpPr txBox="1"/>
          <p:nvPr/>
        </p:nvSpPr>
        <p:spPr>
          <a:xfrm>
            <a:off x="731520" y="2788920"/>
            <a:ext cx="8229600" cy="640080"/>
          </a:xfrm>
          <a:prstGeom prst="rect">
            <a:avLst/>
          </a:prstGeom>
          <a:noFill/>
          <a:ln/>
        </p:spPr>
        <p:txBody>
          <a:bodyPr wrap="square" lIns="0" tIns="0" rIns="0" bIns="0" rtlCol="0" anchor="ctr"/>
          <a:lstStyle/>
          <a:p>
            <a:pPr indent="0" marL="0">
              <a:buNone/>
            </a:pPr>
            <a:r>
              <a:rPr lang="en-US" sz="3000" dirty="0">
                <a:solidFill>
                  <a:srgbClr val="F2C27B"/>
                </a:solidFill>
                <a:latin typeface="Nirmala UI" pitchFamily="34" charset="0"/>
                <a:ea typeface="Nirmala UI" pitchFamily="34" charset="-122"/>
                <a:cs typeface="Nirmala UI" pitchFamily="34" charset="-120"/>
              </a:rPr>
              <a:t>निजभाषा</a:t>
            </a:r>
            <a:endParaRPr lang="en-US" sz="3000" dirty="0"/>
          </a:p>
        </p:txBody>
      </p:sp>
      <p:sp>
        <p:nvSpPr>
          <p:cNvPr id="6" name="Text 3"/>
          <p:cNvSpPr txBox="1"/>
          <p:nvPr/>
        </p:nvSpPr>
        <p:spPr>
          <a:xfrm>
            <a:off x="731520" y="3611880"/>
            <a:ext cx="10058400" cy="548640"/>
          </a:xfrm>
          <a:prstGeom prst="rect">
            <a:avLst/>
          </a:prstGeom>
          <a:noFill/>
          <a:ln/>
        </p:spPr>
        <p:txBody>
          <a:bodyPr wrap="square" lIns="0" tIns="0" rIns="0" bIns="0" rtlCol="0" anchor="ctr"/>
          <a:lstStyle/>
          <a:p>
            <a:pPr indent="0" marL="0">
              <a:buNone/>
            </a:pPr>
            <a:r>
              <a:rPr lang="en-US" sz="2400" dirty="0">
                <a:solidFill>
                  <a:srgbClr val="FFFFFF"/>
                </a:solidFill>
                <a:latin typeface="Arial" pitchFamily="34" charset="0"/>
                <a:ea typeface="Arial" pitchFamily="34" charset="-122"/>
                <a:cs typeface="Arial" pitchFamily="34" charset="-120"/>
              </a:rPr>
              <a:t>A Hindi-medium teacher teaches in Santali. Offline, on a tablet.</a:t>
            </a:r>
            <a:endParaRPr lang="en-US" sz="2400" dirty="0"/>
          </a:p>
        </p:txBody>
      </p:sp>
      <p:sp>
        <p:nvSpPr>
          <p:cNvPr id="7" name="Text 4"/>
          <p:cNvSpPr txBox="1"/>
          <p:nvPr/>
        </p:nvSpPr>
        <p:spPr>
          <a:xfrm>
            <a:off x="731520" y="5760720"/>
            <a:ext cx="10515600" cy="365760"/>
          </a:xfrm>
          <a:prstGeom prst="rect">
            <a:avLst/>
          </a:prstGeom>
          <a:noFill/>
          <a:ln/>
        </p:spPr>
        <p:txBody>
          <a:bodyPr wrap="square" lIns="0" tIns="0" rIns="0" bIns="0" rtlCol="0" anchor="ctr"/>
          <a:lstStyle/>
          <a:p>
            <a:pPr indent="0" marL="0">
              <a:buNone/>
            </a:pPr>
            <a:r>
              <a:rPr lang="en-US" sz="1400" dirty="0">
                <a:solidFill>
                  <a:srgbClr val="C9D3DE"/>
                </a:solidFill>
                <a:latin typeface="Arial" pitchFamily="34" charset="0"/>
                <a:ea typeface="Arial" pitchFamily="34" charset="-122"/>
                <a:cs typeface="Arial" pitchFamily="34" charset="-120"/>
              </a:rPr>
              <a:t>SIH26042 · Smart Education · Software   |   Team 8-bitPool (VITV) · Team ID 168531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2</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Children are taught in a language many do not speak at home</a:t>
            </a:r>
            <a:endParaRPr lang="en-US" sz="2800" dirty="0"/>
          </a:p>
        </p:txBody>
      </p:sp>
      <p:sp>
        <p:nvSpPr>
          <p:cNvPr id="5" name="Text 3"/>
          <p:cNvSpPr txBox="1"/>
          <p:nvPr/>
        </p:nvSpPr>
        <p:spPr>
          <a:xfrm>
            <a:off x="457200" y="1188720"/>
            <a:ext cx="11247120" cy="365760"/>
          </a:xfrm>
          <a:prstGeom prst="rect">
            <a:avLst/>
          </a:prstGeom>
          <a:noFill/>
          <a:ln/>
        </p:spPr>
        <p:txBody>
          <a:bodyPr wrap="square" lIns="0" tIns="0" rIns="0" bIns="0" rtlCol="0" anchor="ctr"/>
          <a:lstStyle/>
          <a:p>
            <a:pPr indent="0" marL="0">
              <a:buNone/>
            </a:pPr>
            <a:r>
              <a:rPr lang="en-US" sz="1500" dirty="0">
                <a:solidFill>
                  <a:srgbClr val="5B6573"/>
                </a:solidFill>
                <a:latin typeface="Arial" pitchFamily="34" charset="0"/>
                <a:ea typeface="Arial" pitchFamily="34" charset="-122"/>
                <a:cs typeface="Arial" pitchFamily="34" charset="-120"/>
              </a:rPr>
              <a:t>Jharkhand, Grade 1: the teacher speaks Hindi; the child may speak Santali, Ho or Mundari.</a:t>
            </a:r>
            <a:endParaRPr lang="en-US" sz="1500" dirty="0"/>
          </a:p>
        </p:txBody>
      </p:sp>
      <p:sp>
        <p:nvSpPr>
          <p:cNvPr id="6" name="Shape 4"/>
          <p:cNvSpPr/>
          <p:nvPr/>
        </p:nvSpPr>
        <p:spPr>
          <a:xfrm>
            <a:off x="457200" y="1920240"/>
            <a:ext cx="3566160" cy="1828800"/>
          </a:xfrm>
          <a:prstGeom prst="roundRect">
            <a:avLst>
              <a:gd name="adj" fmla="val 6000"/>
            </a:avLst>
          </a:prstGeom>
          <a:solidFill>
            <a:srgbClr val="14324D"/>
          </a:solidFill>
          <a:ln w="12700">
            <a:solidFill>
              <a:srgbClr val="14324D"/>
            </a:solidFill>
            <a:prstDash val="solid"/>
          </a:ln>
        </p:spPr>
      </p:sp>
      <p:sp>
        <p:nvSpPr>
          <p:cNvPr id="7" name="Text 5"/>
          <p:cNvSpPr txBox="1"/>
          <p:nvPr/>
        </p:nvSpPr>
        <p:spPr>
          <a:xfrm>
            <a:off x="594360" y="2029968"/>
            <a:ext cx="329184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~98%</a:t>
            </a:r>
            <a:endParaRPr lang="en-US" sz="3000" dirty="0"/>
          </a:p>
        </p:txBody>
      </p:sp>
      <p:sp>
        <p:nvSpPr>
          <p:cNvPr id="8" name="Text 6"/>
          <p:cNvSpPr txBox="1"/>
          <p:nvPr/>
        </p:nvSpPr>
        <p:spPr>
          <a:xfrm>
            <a:off x="594360" y="2926080"/>
            <a:ext cx="3291840" cy="731520"/>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of surveyed schools teach in Hindi</a:t>
            </a:r>
            <a:endParaRPr lang="en-US" sz="1250" dirty="0"/>
          </a:p>
        </p:txBody>
      </p:sp>
      <p:sp>
        <p:nvSpPr>
          <p:cNvPr id="9" name="Shape 7"/>
          <p:cNvSpPr/>
          <p:nvPr/>
        </p:nvSpPr>
        <p:spPr>
          <a:xfrm>
            <a:off x="4315968" y="1920240"/>
            <a:ext cx="3566160" cy="1828800"/>
          </a:xfrm>
          <a:prstGeom prst="roundRect">
            <a:avLst>
              <a:gd name="adj" fmla="val 6000"/>
            </a:avLst>
          </a:prstGeom>
          <a:solidFill>
            <a:srgbClr val="1E7A6E"/>
          </a:solidFill>
          <a:ln w="12700">
            <a:solidFill>
              <a:srgbClr val="1E7A6E"/>
            </a:solidFill>
            <a:prstDash val="solid"/>
          </a:ln>
        </p:spPr>
      </p:sp>
      <p:sp>
        <p:nvSpPr>
          <p:cNvPr id="10" name="Text 8"/>
          <p:cNvSpPr txBox="1"/>
          <p:nvPr/>
        </p:nvSpPr>
        <p:spPr>
          <a:xfrm>
            <a:off x="4453128" y="2029968"/>
            <a:ext cx="329184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17 · 13 · 7 %</a:t>
            </a:r>
            <a:endParaRPr lang="en-US" sz="3000" dirty="0"/>
          </a:p>
        </p:txBody>
      </p:sp>
      <p:sp>
        <p:nvSpPr>
          <p:cNvPr id="11" name="Text 9"/>
          <p:cNvSpPr txBox="1"/>
          <p:nvPr/>
        </p:nvSpPr>
        <p:spPr>
          <a:xfrm>
            <a:off x="4453128" y="2926080"/>
            <a:ext cx="3291840" cy="731520"/>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Ho · Santali · Mundari: Grade 1 home languages</a:t>
            </a:r>
            <a:endParaRPr lang="en-US" sz="1250" dirty="0"/>
          </a:p>
        </p:txBody>
      </p:sp>
      <p:sp>
        <p:nvSpPr>
          <p:cNvPr id="12" name="Shape 10"/>
          <p:cNvSpPr/>
          <p:nvPr/>
        </p:nvSpPr>
        <p:spPr>
          <a:xfrm>
            <a:off x="8174736" y="1920240"/>
            <a:ext cx="3566160" cy="1828800"/>
          </a:xfrm>
          <a:prstGeom prst="roundRect">
            <a:avLst>
              <a:gd name="adj" fmla="val 6000"/>
            </a:avLst>
          </a:prstGeom>
          <a:solidFill>
            <a:srgbClr val="D9822B"/>
          </a:solidFill>
          <a:ln w="12700">
            <a:solidFill>
              <a:srgbClr val="D9822B"/>
            </a:solidFill>
            <a:prstDash val="solid"/>
          </a:ln>
        </p:spPr>
      </p:sp>
      <p:sp>
        <p:nvSpPr>
          <p:cNvPr id="13" name="Text 11"/>
          <p:cNvSpPr txBox="1"/>
          <p:nvPr/>
        </p:nvSpPr>
        <p:spPr>
          <a:xfrm>
            <a:off x="8311896" y="2029968"/>
            <a:ext cx="329184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5,000+</a:t>
            </a:r>
            <a:endParaRPr lang="en-US" sz="3000" dirty="0"/>
          </a:p>
        </p:txBody>
      </p:sp>
      <p:sp>
        <p:nvSpPr>
          <p:cNvPr id="14" name="Text 12"/>
          <p:cNvSpPr txBox="1"/>
          <p:nvPr/>
        </p:nvSpPr>
        <p:spPr>
          <a:xfrm>
            <a:off x="8311896" y="2926080"/>
            <a:ext cx="3291840" cy="731520"/>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tribal-area primary schools named in the problem statement</a:t>
            </a:r>
            <a:endParaRPr lang="en-US" sz="1250" dirty="0"/>
          </a:p>
        </p:txBody>
      </p:sp>
      <p:sp>
        <p:nvSpPr>
          <p:cNvPr id="15" name="Text 13"/>
          <p:cNvSpPr txBox="1"/>
          <p:nvPr/>
        </p:nvSpPr>
        <p:spPr>
          <a:xfrm>
            <a:off x="457200" y="4206240"/>
            <a:ext cx="11247120" cy="731520"/>
          </a:xfrm>
          <a:prstGeom prst="rect">
            <a:avLst/>
          </a:prstGeom>
          <a:noFill/>
          <a:ln/>
        </p:spPr>
        <p:txBody>
          <a:bodyPr wrap="square" lIns="0" tIns="0" rIns="0" bIns="0" rtlCol="0" anchor="ctr"/>
          <a:lstStyle/>
          <a:p>
            <a:pPr indent="0" marL="0">
              <a:buNone/>
            </a:pPr>
            <a:r>
              <a:rPr lang="en-US" sz="1800" dirty="0">
                <a:solidFill>
                  <a:srgbClr val="1F2A37"/>
                </a:solidFill>
                <a:latin typeface="Arial" pitchFamily="34" charset="0"/>
                <a:ea typeface="Arial" pitchFamily="34" charset="-122"/>
                <a:cs typeface="Arial" pitchFamily="34" charset="-120"/>
              </a:rPr>
              <a:t>PALASH shows mother-tongue teaching works; it cannot find enough teachers who speak these languages.</a:t>
            </a:r>
            <a:endParaRPr lang="en-US" sz="1800" dirty="0"/>
          </a:p>
        </p:txBody>
      </p:sp>
      <p:sp>
        <p:nvSpPr>
          <p:cNvPr id="16" name="Shape 14"/>
          <p:cNvSpPr/>
          <p:nvPr/>
        </p:nvSpPr>
        <p:spPr>
          <a:xfrm>
            <a:off x="457200" y="5074920"/>
            <a:ext cx="11247120" cy="1005840"/>
          </a:xfrm>
          <a:prstGeom prst="roundRect">
            <a:avLst>
              <a:gd name="adj" fmla="val 10909"/>
            </a:avLst>
          </a:prstGeom>
          <a:solidFill>
            <a:srgbClr val="FBF8F3"/>
          </a:solidFill>
          <a:ln w="12700">
            <a:solidFill>
              <a:srgbClr val="D9D2C5"/>
            </a:solidFill>
            <a:prstDash val="solid"/>
          </a:ln>
        </p:spPr>
      </p:sp>
      <p:sp>
        <p:nvSpPr>
          <p:cNvPr id="17" name="Text 15"/>
          <p:cNvSpPr txBox="1"/>
          <p:nvPr/>
        </p:nvSpPr>
        <p:spPr>
          <a:xfrm>
            <a:off x="731520" y="5074920"/>
            <a:ext cx="10698480" cy="1005840"/>
          </a:xfrm>
          <a:prstGeom prst="rect">
            <a:avLst/>
          </a:prstGeom>
          <a:noFill/>
          <a:ln/>
        </p:spPr>
        <p:txBody>
          <a:bodyPr wrap="square" lIns="0" tIns="0" rIns="0" bIns="0" rtlCol="0" anchor="ctr"/>
          <a:lstStyle/>
          <a:p>
            <a:pPr indent="0" marL="0">
              <a:buNone/>
            </a:pPr>
            <a:r>
              <a:rPr lang="en-US" sz="1800" dirty="0">
                <a:solidFill>
                  <a:srgbClr val="1F2A37"/>
                </a:solidFill>
                <a:latin typeface="Arial" pitchFamily="34" charset="0"/>
                <a:ea typeface="Arial" pitchFamily="34" charset="-122"/>
                <a:cs typeface="Arial" pitchFamily="34" charset="-120"/>
              </a:rPr>
              <a:t>A child who cannot answer </a:t>
            </a:r>
            <a:pPr indent="0" marL="0">
              <a:buNone/>
            </a:pPr>
            <a:r>
              <a:rPr lang="en-US" sz="1800" b="1" dirty="0">
                <a:solidFill>
                  <a:srgbClr val="1F2A37"/>
                </a:solidFill>
                <a:latin typeface="Nirmala UI" pitchFamily="34" charset="0"/>
                <a:ea typeface="Nirmala UI" pitchFamily="34" charset="-122"/>
                <a:cs typeface="Nirmala UI" pitchFamily="34" charset="-120"/>
              </a:rPr>
              <a:t>“दो और तीन कितने होते हैं?”</a:t>
            </a:r>
            <a:pPr indent="0" marL="0">
              <a:buNone/>
            </a:pPr>
            <a:r>
              <a:rPr lang="en-US" sz="1800" dirty="0">
                <a:solidFill>
                  <a:srgbClr val="1F2A37"/>
                </a:solidFill>
                <a:latin typeface="Arial" pitchFamily="34" charset="0"/>
                <a:ea typeface="Arial" pitchFamily="34" charset="-122"/>
                <a:cs typeface="Arial" pitchFamily="34" charset="-120"/>
              </a:rPr>
              <a:t> may not be failing at addition, but at Hindi.</a:t>
            </a:r>
            <a:endParaRPr lang="en-US" sz="1800" dirty="0"/>
          </a:p>
        </p:txBody>
      </p:sp>
      <p:sp>
        <p:nvSpPr>
          <p:cNvPr id="18" name="Text 16"/>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JEPC Language Mapping Survey Ph. 1 (2024), pp. 17-18 (8,244 schools, 7 districts); SIH26042 brief</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3</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Not a translator: a bridge the teacher can use tomorrow</a:t>
            </a:r>
            <a:endParaRPr lang="en-US" sz="2800" dirty="0"/>
          </a:p>
        </p:txBody>
      </p:sp>
      <p:sp>
        <p:nvSpPr>
          <p:cNvPr id="5" name="Shape 3"/>
          <p:cNvSpPr/>
          <p:nvPr/>
        </p:nvSpPr>
        <p:spPr>
          <a:xfrm>
            <a:off x="1874520" y="1600200"/>
            <a:ext cx="731520" cy="731520"/>
          </a:xfrm>
          <a:prstGeom prst="ellipse">
            <a:avLst/>
          </a:prstGeom>
          <a:solidFill>
            <a:srgbClr val="14324D"/>
          </a:solidFill>
          <a:ln w="12700">
            <a:solidFill>
              <a:srgbClr val="14324D"/>
            </a:solidFill>
            <a:prstDash val="solid"/>
          </a:ln>
        </p:spPr>
      </p:sp>
      <p:sp>
        <p:nvSpPr>
          <p:cNvPr id="6" name="Text 4"/>
          <p:cNvSpPr txBox="1"/>
          <p:nvPr/>
        </p:nvSpPr>
        <p:spPr>
          <a:xfrm>
            <a:off x="1874520" y="16002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7" name="Text 5"/>
          <p:cNvSpPr txBox="1"/>
          <p:nvPr/>
        </p:nvSpPr>
        <p:spPr>
          <a:xfrm>
            <a:off x="457200" y="2514600"/>
            <a:ext cx="3566160" cy="457200"/>
          </a:xfrm>
          <a:prstGeom prst="rect">
            <a:avLst/>
          </a:prstGeom>
          <a:noFill/>
          <a:ln/>
        </p:spPr>
        <p:txBody>
          <a:bodyPr wrap="square" lIns="0" tIns="0" rIns="0" bIns="0" rtlCol="0" anchor="ctr"/>
          <a:lstStyle/>
          <a:p>
            <a:pPr algn="ctr" indent="0" marL="0">
              <a:buNone/>
            </a:pPr>
            <a:r>
              <a:rPr lang="en-US" sz="2000" b="1" dirty="0">
                <a:solidFill>
                  <a:srgbClr val="14324D"/>
                </a:solidFill>
                <a:latin typeface="Arial" pitchFamily="34" charset="0"/>
                <a:ea typeface="Arial" pitchFamily="34" charset="-122"/>
                <a:cs typeface="Arial" pitchFamily="34" charset="-120"/>
              </a:rPr>
              <a:t>Teacher speaks Hindi</a:t>
            </a:r>
            <a:endParaRPr lang="en-US" sz="2000" dirty="0"/>
          </a:p>
        </p:txBody>
      </p:sp>
      <p:sp>
        <p:nvSpPr>
          <p:cNvPr id="8" name="Text 6"/>
          <p:cNvSpPr txBox="1"/>
          <p:nvPr/>
        </p:nvSpPr>
        <p:spPr>
          <a:xfrm>
            <a:off x="640080" y="3017520"/>
            <a:ext cx="3200400" cy="822960"/>
          </a:xfrm>
          <a:prstGeom prst="rect">
            <a:avLst/>
          </a:prstGeom>
          <a:noFill/>
          <a:ln/>
        </p:spPr>
        <p:txBody>
          <a:bodyPr wrap="square" lIns="0" tIns="0" rIns="0" bIns="0" rtlCol="0" anchor="ctr"/>
          <a:lstStyle/>
          <a:p>
            <a:pPr algn="ctr" indent="0" marL="0">
              <a:buNone/>
            </a:pPr>
            <a:r>
              <a:rPr lang="en-US" sz="1400" dirty="0">
                <a:solidFill>
                  <a:srgbClr val="5B6573"/>
                </a:solidFill>
                <a:latin typeface="Arial" pitchFamily="34" charset="0"/>
                <a:ea typeface="Arial" pitchFamily="34" charset="-122"/>
                <a:cs typeface="Arial" pitchFamily="34" charset="-120"/>
              </a:rPr>
              <a:t>No Santali training needed</a:t>
            </a:r>
            <a:endParaRPr lang="en-US" sz="1400" dirty="0"/>
          </a:p>
        </p:txBody>
      </p:sp>
      <p:sp>
        <p:nvSpPr>
          <p:cNvPr id="9" name="Shape 7"/>
          <p:cNvSpPr/>
          <p:nvPr/>
        </p:nvSpPr>
        <p:spPr>
          <a:xfrm>
            <a:off x="3886200" y="1965960"/>
            <a:ext cx="731520" cy="0"/>
          </a:xfrm>
          <a:prstGeom prst="line">
            <a:avLst/>
          </a:prstGeom>
          <a:noFill/>
          <a:ln w="25400">
            <a:solidFill>
              <a:srgbClr val="5B6573"/>
            </a:solidFill>
            <a:prstDash val="solid"/>
            <a:tailEnd type="triangle"/>
          </a:ln>
        </p:spPr>
      </p:sp>
      <p:sp>
        <p:nvSpPr>
          <p:cNvPr id="10" name="Shape 8"/>
          <p:cNvSpPr/>
          <p:nvPr/>
        </p:nvSpPr>
        <p:spPr>
          <a:xfrm>
            <a:off x="5715000" y="1600200"/>
            <a:ext cx="731520" cy="731520"/>
          </a:xfrm>
          <a:prstGeom prst="ellipse">
            <a:avLst/>
          </a:prstGeom>
          <a:solidFill>
            <a:srgbClr val="1E7A6E"/>
          </a:solidFill>
          <a:ln w="12700">
            <a:solidFill>
              <a:srgbClr val="1E7A6E"/>
            </a:solidFill>
            <a:prstDash val="solid"/>
          </a:ln>
        </p:spPr>
      </p:sp>
      <p:sp>
        <p:nvSpPr>
          <p:cNvPr id="11" name="Text 9"/>
          <p:cNvSpPr txBox="1"/>
          <p:nvPr/>
        </p:nvSpPr>
        <p:spPr>
          <a:xfrm>
            <a:off x="5715000" y="16002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12" name="Text 10"/>
          <p:cNvSpPr txBox="1"/>
          <p:nvPr/>
        </p:nvSpPr>
        <p:spPr>
          <a:xfrm>
            <a:off x="4297680" y="2514600"/>
            <a:ext cx="3566160" cy="457200"/>
          </a:xfrm>
          <a:prstGeom prst="rect">
            <a:avLst/>
          </a:prstGeom>
          <a:noFill/>
          <a:ln/>
        </p:spPr>
        <p:txBody>
          <a:bodyPr wrap="square" lIns="0" tIns="0" rIns="0" bIns="0" rtlCol="0" anchor="ctr"/>
          <a:lstStyle/>
          <a:p>
            <a:pPr algn="ctr" indent="0" marL="0">
              <a:buNone/>
            </a:pPr>
            <a:r>
              <a:rPr lang="en-US" sz="2000" b="1" dirty="0">
                <a:solidFill>
                  <a:srgbClr val="14324D"/>
                </a:solidFill>
                <a:latin typeface="Arial" pitchFamily="34" charset="0"/>
                <a:ea typeface="Arial" pitchFamily="34" charset="-122"/>
                <a:cs typeface="Arial" pitchFamily="34" charset="-120"/>
              </a:rPr>
              <a:t>Child hears Santali</a:t>
            </a:r>
            <a:endParaRPr lang="en-US" sz="2000" dirty="0"/>
          </a:p>
        </p:txBody>
      </p:sp>
      <p:sp>
        <p:nvSpPr>
          <p:cNvPr id="13" name="Text 11"/>
          <p:cNvSpPr txBox="1"/>
          <p:nvPr/>
        </p:nvSpPr>
        <p:spPr>
          <a:xfrm>
            <a:off x="4480560" y="3017520"/>
            <a:ext cx="3200400" cy="822960"/>
          </a:xfrm>
          <a:prstGeom prst="rect">
            <a:avLst/>
          </a:prstGeom>
          <a:noFill/>
          <a:ln/>
        </p:spPr>
        <p:txBody>
          <a:bodyPr wrap="square" lIns="0" tIns="0" rIns="0" bIns="0" rtlCol="0" anchor="ctr"/>
          <a:lstStyle/>
          <a:p>
            <a:pPr algn="ctr" indent="0" marL="0">
              <a:buNone/>
            </a:pPr>
            <a:r>
              <a:rPr lang="en-US" sz="1400" dirty="0">
                <a:solidFill>
                  <a:srgbClr val="5B6573"/>
                </a:solidFill>
                <a:latin typeface="Arial" pitchFamily="34" charset="0"/>
                <a:ea typeface="Arial" pitchFamily="34" charset="-122"/>
                <a:cs typeface="Arial" pitchFamily="34" charset="-120"/>
              </a:rPr>
              <a:t>Text in Ol Chiki and speech, in under a second on the tablet</a:t>
            </a:r>
            <a:endParaRPr lang="en-US" sz="1400" dirty="0"/>
          </a:p>
        </p:txBody>
      </p:sp>
      <p:sp>
        <p:nvSpPr>
          <p:cNvPr id="14" name="Shape 12"/>
          <p:cNvSpPr/>
          <p:nvPr/>
        </p:nvSpPr>
        <p:spPr>
          <a:xfrm>
            <a:off x="7726680" y="1965960"/>
            <a:ext cx="731520" cy="0"/>
          </a:xfrm>
          <a:prstGeom prst="line">
            <a:avLst/>
          </a:prstGeom>
          <a:noFill/>
          <a:ln w="25400">
            <a:solidFill>
              <a:srgbClr val="5B6573"/>
            </a:solidFill>
            <a:prstDash val="solid"/>
            <a:tailEnd type="triangle"/>
          </a:ln>
        </p:spPr>
      </p:sp>
      <p:sp>
        <p:nvSpPr>
          <p:cNvPr id="15" name="Shape 13"/>
          <p:cNvSpPr/>
          <p:nvPr/>
        </p:nvSpPr>
        <p:spPr>
          <a:xfrm>
            <a:off x="9555480" y="1600200"/>
            <a:ext cx="731520" cy="731520"/>
          </a:xfrm>
          <a:prstGeom prst="ellipse">
            <a:avLst/>
          </a:prstGeom>
          <a:solidFill>
            <a:srgbClr val="D9822B"/>
          </a:solidFill>
          <a:ln w="12700">
            <a:solidFill>
              <a:srgbClr val="D9822B"/>
            </a:solidFill>
            <a:prstDash val="solid"/>
          </a:ln>
        </p:spPr>
      </p:sp>
      <p:sp>
        <p:nvSpPr>
          <p:cNvPr id="16" name="Text 14"/>
          <p:cNvSpPr txBox="1"/>
          <p:nvPr/>
        </p:nvSpPr>
        <p:spPr>
          <a:xfrm>
            <a:off x="9555480" y="16002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17" name="Text 15"/>
          <p:cNvSpPr txBox="1"/>
          <p:nvPr/>
        </p:nvSpPr>
        <p:spPr>
          <a:xfrm>
            <a:off x="8138160" y="2514600"/>
            <a:ext cx="3566160" cy="457200"/>
          </a:xfrm>
          <a:prstGeom prst="rect">
            <a:avLst/>
          </a:prstGeom>
          <a:noFill/>
          <a:ln/>
        </p:spPr>
        <p:txBody>
          <a:bodyPr wrap="square" lIns="0" tIns="0" rIns="0" bIns="0" rtlCol="0" anchor="ctr"/>
          <a:lstStyle/>
          <a:p>
            <a:pPr algn="ctr" indent="0" marL="0">
              <a:buNone/>
            </a:pPr>
            <a:r>
              <a:rPr lang="en-US" sz="2000" b="1" dirty="0">
                <a:solidFill>
                  <a:srgbClr val="14324D"/>
                </a:solidFill>
                <a:latin typeface="Arial" pitchFamily="34" charset="0"/>
                <a:ea typeface="Arial" pitchFamily="34" charset="-122"/>
                <a:cs typeface="Arial" pitchFamily="34" charset="-120"/>
              </a:rPr>
              <a:t>Teacher reads it back</a:t>
            </a:r>
            <a:endParaRPr lang="en-US" sz="2000" dirty="0"/>
          </a:p>
        </p:txBody>
      </p:sp>
      <p:sp>
        <p:nvSpPr>
          <p:cNvPr id="18" name="Text 16"/>
          <p:cNvSpPr txBox="1"/>
          <p:nvPr/>
        </p:nvSpPr>
        <p:spPr>
          <a:xfrm>
            <a:off x="8321040" y="3017520"/>
            <a:ext cx="3200400" cy="822960"/>
          </a:xfrm>
          <a:prstGeom prst="rect">
            <a:avLst/>
          </a:prstGeom>
          <a:noFill/>
          <a:ln/>
        </p:spPr>
        <p:txBody>
          <a:bodyPr wrap="square" lIns="0" tIns="0" rIns="0" bIns="0" rtlCol="0" anchor="ctr"/>
          <a:lstStyle/>
          <a:p>
            <a:pPr algn="ctr" indent="0" marL="0">
              <a:buNone/>
            </a:pPr>
            <a:r>
              <a:rPr lang="en-US" sz="1400" dirty="0">
                <a:solidFill>
                  <a:srgbClr val="5B6573"/>
                </a:solidFill>
                <a:latin typeface="Arial" pitchFamily="34" charset="0"/>
                <a:ea typeface="Arial" pitchFamily="34" charset="-122"/>
                <a:cs typeface="Arial" pitchFamily="34" charset="-120"/>
              </a:rPr>
              <a:t>Devanagari reading guide; lesson plan to print</a:t>
            </a:r>
            <a:endParaRPr lang="en-US" sz="1400" dirty="0"/>
          </a:p>
        </p:txBody>
      </p:sp>
      <p:sp>
        <p:nvSpPr>
          <p:cNvPr id="19" name="Shape 17"/>
          <p:cNvSpPr/>
          <p:nvPr/>
        </p:nvSpPr>
        <p:spPr>
          <a:xfrm>
            <a:off x="1371600" y="4389120"/>
            <a:ext cx="9418320" cy="1005840"/>
          </a:xfrm>
          <a:prstGeom prst="roundRect">
            <a:avLst>
              <a:gd name="adj" fmla="val 10909"/>
            </a:avLst>
          </a:prstGeom>
          <a:solidFill>
            <a:srgbClr val="FBF8F3"/>
          </a:solidFill>
          <a:ln w="12700">
            <a:solidFill>
              <a:srgbClr val="D9D2C5"/>
            </a:solidFill>
            <a:prstDash val="solid"/>
          </a:ln>
        </p:spPr>
      </p:sp>
      <p:sp>
        <p:nvSpPr>
          <p:cNvPr id="20" name="Text 18"/>
          <p:cNvSpPr txBox="1"/>
          <p:nvPr/>
        </p:nvSpPr>
        <p:spPr>
          <a:xfrm>
            <a:off x="1554480" y="4389120"/>
            <a:ext cx="9052560" cy="1005840"/>
          </a:xfrm>
          <a:prstGeom prst="rect">
            <a:avLst/>
          </a:prstGeom>
          <a:noFill/>
          <a:ln/>
        </p:spPr>
        <p:txBody>
          <a:bodyPr wrap="square" lIns="0" tIns="0" rIns="0" bIns="0" rtlCol="0" anchor="ctr"/>
          <a:lstStyle/>
          <a:p>
            <a:pPr algn="ctr" indent="0" marL="0">
              <a:buNone/>
            </a:pPr>
            <a:r>
              <a:rPr lang="en-US" sz="1800" dirty="0">
                <a:solidFill>
                  <a:srgbClr val="1F2A37"/>
                </a:solidFill>
                <a:latin typeface="Arial" pitchFamily="34" charset="0"/>
                <a:ea typeface="Arial" pitchFamily="34" charset="-122"/>
                <a:cs typeface="Arial" pitchFamily="34" charset="-120"/>
              </a:rPr>
              <a:t>The community corrects it; every doubtful line is flagged, never played as right.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4</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One pipeline, two devices, no internet after the first sync</a:t>
            </a:r>
            <a:endParaRPr lang="en-US" sz="2800" dirty="0"/>
          </a:p>
        </p:txBody>
      </p:sp>
      <p:sp>
        <p:nvSpPr>
          <p:cNvPr id="5" name="Shape 3"/>
          <p:cNvSpPr/>
          <p:nvPr/>
        </p:nvSpPr>
        <p:spPr>
          <a:xfrm>
            <a:off x="457200" y="1417320"/>
            <a:ext cx="3931920" cy="2331720"/>
          </a:xfrm>
          <a:prstGeom prst="roundRect">
            <a:avLst>
              <a:gd name="adj" fmla="val 3922"/>
            </a:avLst>
          </a:prstGeom>
          <a:solidFill>
            <a:srgbClr val="FBF8F3"/>
          </a:solidFill>
          <a:ln w="12700">
            <a:solidFill>
              <a:srgbClr val="D9D2C5"/>
            </a:solidFill>
            <a:prstDash val="solid"/>
          </a:ln>
        </p:spPr>
      </p:sp>
      <p:sp>
        <p:nvSpPr>
          <p:cNvPr id="6" name="Text 4"/>
          <p:cNvSpPr txBox="1"/>
          <p:nvPr/>
        </p:nvSpPr>
        <p:spPr>
          <a:xfrm>
            <a:off x="640080" y="1554480"/>
            <a:ext cx="3566160" cy="365760"/>
          </a:xfrm>
          <a:prstGeom prst="rect">
            <a:avLst/>
          </a:prstGeom>
          <a:noFill/>
          <a:ln/>
        </p:spPr>
        <p:txBody>
          <a:bodyPr wrap="square" lIns="0" tIns="0" rIns="0" bIns="0" rtlCol="0" anchor="ctr"/>
          <a:lstStyle/>
          <a:p>
            <a:pPr indent="0" marL="0">
              <a:buNone/>
            </a:pPr>
            <a:r>
              <a:rPr lang="en-US" sz="1500" b="1" dirty="0">
                <a:solidFill>
                  <a:srgbClr val="14324D"/>
                </a:solidFill>
                <a:latin typeface="Arial" pitchFamily="34" charset="0"/>
                <a:ea typeface="Arial" pitchFamily="34" charset="-122"/>
                <a:cs typeface="Arial" pitchFamily="34" charset="-120"/>
              </a:rPr>
              <a:t>Laptop hub (optional)</a:t>
            </a:r>
            <a:endParaRPr lang="en-US" sz="1500" dirty="0"/>
          </a:p>
        </p:txBody>
      </p:sp>
      <p:sp>
        <p:nvSpPr>
          <p:cNvPr id="7" name="Text 5"/>
          <p:cNvSpPr txBox="1"/>
          <p:nvPr/>
        </p:nvSpPr>
        <p:spPr>
          <a:xfrm>
            <a:off x="640080" y="1947672"/>
            <a:ext cx="3566160" cy="1691640"/>
          </a:xfrm>
          <a:prstGeom prst="rect">
            <a:avLst/>
          </a:prstGeom>
          <a:noFill/>
          <a:ln/>
        </p:spPr>
        <p:txBody>
          <a:bodyPr wrap="square" lIns="0" tIns="0" rIns="0" bIns="0" rtlCol="0" anchor="t"/>
          <a:lstStyle/>
          <a:p>
            <a:pPr indent="0" marL="0">
              <a:buNone/>
            </a:pPr>
            <a:r>
              <a:rPr lang="en-US" sz="1250" dirty="0">
                <a:solidFill>
                  <a:srgbClr val="1F2A37"/>
                </a:solidFill>
                <a:latin typeface="Arial" pitchFamily="34" charset="0"/>
                <a:ea typeface="Arial" pitchFamily="34" charset="-122"/>
                <a:cs typeface="Arial" pitchFamily="34" charset="-120"/>
              </a:rPr>
              <a:t>Speech: IndicConformer 600M</a:t>
            </a:r>
            <a:endParaRPr lang="en-US" sz="1250" dirty="0"/>
          </a:p>
          <a:p>
            <a:pPr indent="0" marL="0">
              <a:buNone/>
            </a:pPr>
            <a:r>
              <a:rPr lang="en-US" sz="1250" dirty="0">
                <a:solidFill>
                  <a:srgbClr val="1F2A37"/>
                </a:solidFill>
                <a:latin typeface="Arial" pitchFamily="34" charset="0"/>
                <a:ea typeface="Arial" pitchFamily="34" charset="-122"/>
                <a:cs typeface="Arial" pitchFamily="34" charset="-120"/>
              </a:rPr>
              <a:t>Translation: IndicTrans2 320M, direct</a:t>
            </a:r>
            <a:endParaRPr lang="en-US" sz="1250" dirty="0"/>
          </a:p>
          <a:p>
            <a:pPr indent="0" marL="0">
              <a:buNone/>
            </a:pPr>
            <a:r>
              <a:rPr lang="en-US" sz="1250" dirty="0">
                <a:solidFill>
                  <a:srgbClr val="1F2A37"/>
                </a:solidFill>
                <a:latin typeface="Arial" pitchFamily="34" charset="0"/>
                <a:ea typeface="Arial" pitchFamily="34" charset="-122"/>
                <a:cs typeface="Arial" pitchFamily="34" charset="-120"/>
              </a:rPr>
              <a:t>Voice: Piper (offline)</a:t>
            </a:r>
            <a:endParaRPr lang="en-US" sz="1250" dirty="0"/>
          </a:p>
          <a:p>
            <a:pPr indent="0" marL="0">
              <a:buNone/>
            </a:pPr>
            <a:r>
              <a:rPr lang="en-US" sz="1250" dirty="0">
                <a:solidFill>
                  <a:srgbClr val="1F2A37"/>
                </a:solidFill>
                <a:latin typeface="Arial" pitchFamily="34" charset="0"/>
                <a:ea typeface="Arial" pitchFamily="34" charset="-122"/>
                <a:cs typeface="Arial" pitchFamily="34" charset="-120"/>
              </a:rPr>
              <a:t>Makes worksheets, flashcards, lesson plans</a:t>
            </a:r>
            <a:endParaRPr lang="en-US" sz="1250" dirty="0"/>
          </a:p>
          <a:p>
            <a:pPr indent="0" marL="0">
              <a:buNone/>
            </a:pPr>
            <a:r>
              <a:rPr lang="en-US" sz="1250" dirty="0">
                <a:solidFill>
                  <a:srgbClr val="1F2A37"/>
                </a:solidFill>
                <a:latin typeface="Arial" pitchFamily="34" charset="0"/>
                <a:ea typeface="Arial" pitchFamily="34" charset="-122"/>
                <a:cs typeface="Arial" pitchFamily="34" charset="-120"/>
              </a:rPr>
              <a:t>SQLite: corrections, sessions</a:t>
            </a:r>
            <a:endParaRPr lang="en-US" sz="1250" dirty="0"/>
          </a:p>
        </p:txBody>
      </p:sp>
      <p:sp>
        <p:nvSpPr>
          <p:cNvPr id="8" name="Shape 6"/>
          <p:cNvSpPr/>
          <p:nvPr/>
        </p:nvSpPr>
        <p:spPr>
          <a:xfrm>
            <a:off x="7772400" y="1417320"/>
            <a:ext cx="3931920" cy="2331720"/>
          </a:xfrm>
          <a:prstGeom prst="roundRect">
            <a:avLst>
              <a:gd name="adj" fmla="val 3922"/>
            </a:avLst>
          </a:prstGeom>
          <a:solidFill>
            <a:srgbClr val="FBF8F3"/>
          </a:solidFill>
          <a:ln w="12700">
            <a:solidFill>
              <a:srgbClr val="D9D2C5"/>
            </a:solidFill>
            <a:prstDash val="solid"/>
          </a:ln>
        </p:spPr>
      </p:sp>
      <p:sp>
        <p:nvSpPr>
          <p:cNvPr id="9" name="Text 7"/>
          <p:cNvSpPr txBox="1"/>
          <p:nvPr/>
        </p:nvSpPr>
        <p:spPr>
          <a:xfrm>
            <a:off x="7955280" y="1554480"/>
            <a:ext cx="3566160" cy="365760"/>
          </a:xfrm>
          <a:prstGeom prst="rect">
            <a:avLst/>
          </a:prstGeom>
          <a:noFill/>
          <a:ln/>
        </p:spPr>
        <p:txBody>
          <a:bodyPr wrap="square" lIns="0" tIns="0" rIns="0" bIns="0" rtlCol="0" anchor="ctr"/>
          <a:lstStyle/>
          <a:p>
            <a:pPr indent="0" marL="0">
              <a:buNone/>
            </a:pPr>
            <a:r>
              <a:rPr lang="en-US" sz="1500" b="1" dirty="0">
                <a:solidFill>
                  <a:srgbClr val="1E7A6E"/>
                </a:solidFill>
                <a:latin typeface="Arial" pitchFamily="34" charset="0"/>
                <a:ea typeface="Arial" pitchFamily="34" charset="-122"/>
                <a:cs typeface="Arial" pitchFamily="34" charset="-120"/>
              </a:rPr>
              <a:t>Android tablet (Android 9+)</a:t>
            </a:r>
            <a:endParaRPr lang="en-US" sz="1500" dirty="0"/>
          </a:p>
        </p:txBody>
      </p:sp>
      <p:sp>
        <p:nvSpPr>
          <p:cNvPr id="10" name="Text 8"/>
          <p:cNvSpPr txBox="1"/>
          <p:nvPr/>
        </p:nvSpPr>
        <p:spPr>
          <a:xfrm>
            <a:off x="7955280" y="1947672"/>
            <a:ext cx="3566160" cy="1691640"/>
          </a:xfrm>
          <a:prstGeom prst="rect">
            <a:avLst/>
          </a:prstGeom>
          <a:noFill/>
          <a:ln/>
        </p:spPr>
        <p:txBody>
          <a:bodyPr wrap="square" lIns="0" tIns="0" rIns="0" bIns="0" rtlCol="0" anchor="t"/>
          <a:lstStyle/>
          <a:p>
            <a:pPr indent="0" marL="0">
              <a:buNone/>
            </a:pPr>
            <a:r>
              <a:rPr lang="en-US" sz="1250" dirty="0">
                <a:solidFill>
                  <a:srgbClr val="1F2A37"/>
                </a:solidFill>
                <a:latin typeface="Arial" pitchFamily="34" charset="0"/>
                <a:ea typeface="Arial" pitchFamily="34" charset="-122"/>
                <a:cs typeface="Arial" pitchFamily="34" charset="-120"/>
              </a:rPr>
              <a:t>Speech: IndicConformer 120M int8</a:t>
            </a:r>
            <a:endParaRPr lang="en-US" sz="1250" dirty="0"/>
          </a:p>
          <a:p>
            <a:pPr indent="0" marL="0">
              <a:buNone/>
            </a:pPr>
            <a:r>
              <a:rPr lang="en-US" sz="1250" dirty="0">
                <a:solidFill>
                  <a:srgbClr val="1F2A37"/>
                </a:solidFill>
                <a:latin typeface="Arial" pitchFamily="34" charset="0"/>
                <a:ea typeface="Arial" pitchFamily="34" charset="-122"/>
                <a:cs typeface="Arial" pitchFamily="34" charset="-120"/>
              </a:rPr>
              <a:t>Translation: IndicTrans2 int8</a:t>
            </a:r>
            <a:endParaRPr lang="en-US" sz="1250" dirty="0"/>
          </a:p>
          <a:p>
            <a:pPr indent="0" marL="0">
              <a:buNone/>
            </a:pPr>
            <a:r>
              <a:rPr lang="en-US" sz="1250" dirty="0">
                <a:solidFill>
                  <a:srgbClr val="1F2A37"/>
                </a:solidFill>
                <a:latin typeface="Arial" pitchFamily="34" charset="0"/>
                <a:ea typeface="Arial" pitchFamily="34" charset="-122"/>
                <a:cs typeface="Arial" pitchFamily="34" charset="-120"/>
              </a:rPr>
              <a:t>Voice: Piper via sherpa-onnx</a:t>
            </a:r>
            <a:endParaRPr lang="en-US" sz="1250" dirty="0"/>
          </a:p>
          <a:p>
            <a:pPr indent="0" marL="0">
              <a:buNone/>
            </a:pPr>
            <a:r>
              <a:rPr lang="en-US" sz="1250" dirty="0">
                <a:solidFill>
                  <a:srgbClr val="1F2A37"/>
                </a:solidFill>
                <a:latin typeface="Arial" pitchFamily="34" charset="0"/>
                <a:ea typeface="Arial" pitchFamily="34" charset="-122"/>
                <a:cs typeface="Arial" pitchFamily="34" charset="-120"/>
              </a:rPr>
              <a:t>Lesson-line matcher; PDFs from the pack</a:t>
            </a:r>
            <a:endParaRPr lang="en-US" sz="1250" dirty="0"/>
          </a:p>
          <a:p>
            <a:pPr indent="0" marL="0">
              <a:buNone/>
            </a:pPr>
            <a:r>
              <a:rPr lang="en-US" sz="1250" dirty="0">
                <a:solidFill>
                  <a:srgbClr val="1F2A37"/>
                </a:solidFill>
                <a:latin typeface="Arial" pitchFamily="34" charset="0"/>
                <a:ea typeface="Arial" pitchFamily="34" charset="-122"/>
                <a:cs typeface="Arial" pitchFamily="34" charset="-120"/>
              </a:rPr>
              <a:t>Runs in airplane mode</a:t>
            </a:r>
            <a:endParaRPr lang="en-US" sz="1250" dirty="0"/>
          </a:p>
        </p:txBody>
      </p:sp>
      <p:sp>
        <p:nvSpPr>
          <p:cNvPr id="11" name="Shape 9"/>
          <p:cNvSpPr/>
          <p:nvPr/>
        </p:nvSpPr>
        <p:spPr>
          <a:xfrm>
            <a:off x="4754880" y="1691640"/>
            <a:ext cx="2651760" cy="640080"/>
          </a:xfrm>
          <a:prstGeom prst="roundRect">
            <a:avLst>
              <a:gd name="adj" fmla="val 14286"/>
            </a:avLst>
          </a:prstGeom>
          <a:solidFill>
            <a:srgbClr val="D9822B"/>
          </a:solidFill>
          <a:ln w="12700">
            <a:solidFill>
              <a:srgbClr val="D9822B"/>
            </a:solidFill>
            <a:prstDash val="solid"/>
          </a:ln>
        </p:spPr>
      </p:sp>
      <p:sp>
        <p:nvSpPr>
          <p:cNvPr id="12" name="Text 10"/>
          <p:cNvSpPr txBox="1"/>
          <p:nvPr/>
        </p:nvSpPr>
        <p:spPr>
          <a:xfrm>
            <a:off x="4754880" y="1691640"/>
            <a:ext cx="265176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Signed content + model packs</a:t>
            </a:r>
            <a:endParaRPr lang="en-US" sz="1250" dirty="0"/>
          </a:p>
        </p:txBody>
      </p:sp>
      <p:sp>
        <p:nvSpPr>
          <p:cNvPr id="13" name="Shape 11"/>
          <p:cNvSpPr/>
          <p:nvPr/>
        </p:nvSpPr>
        <p:spPr>
          <a:xfrm>
            <a:off x="4434840" y="2011680"/>
            <a:ext cx="274320" cy="0"/>
          </a:xfrm>
          <a:prstGeom prst="line">
            <a:avLst/>
          </a:prstGeom>
          <a:noFill/>
          <a:ln w="25400">
            <a:solidFill>
              <a:srgbClr val="D9822B"/>
            </a:solidFill>
            <a:prstDash val="solid"/>
            <a:tailEnd type="triangle"/>
          </a:ln>
        </p:spPr>
      </p:sp>
      <p:sp>
        <p:nvSpPr>
          <p:cNvPr id="14" name="Shape 12"/>
          <p:cNvSpPr/>
          <p:nvPr/>
        </p:nvSpPr>
        <p:spPr>
          <a:xfrm>
            <a:off x="7424928" y="2011680"/>
            <a:ext cx="301752" cy="0"/>
          </a:xfrm>
          <a:prstGeom prst="line">
            <a:avLst/>
          </a:prstGeom>
          <a:noFill/>
          <a:ln w="25400">
            <a:solidFill>
              <a:srgbClr val="D9822B"/>
            </a:solidFill>
            <a:prstDash val="solid"/>
            <a:tailEnd type="triangle"/>
          </a:ln>
        </p:spPr>
      </p:sp>
      <p:sp>
        <p:nvSpPr>
          <p:cNvPr id="15" name="Shape 13"/>
          <p:cNvSpPr/>
          <p:nvPr/>
        </p:nvSpPr>
        <p:spPr>
          <a:xfrm>
            <a:off x="4754880" y="2788920"/>
            <a:ext cx="2651760" cy="640080"/>
          </a:xfrm>
          <a:prstGeom prst="roundRect">
            <a:avLst>
              <a:gd name="adj" fmla="val 14286"/>
            </a:avLst>
          </a:prstGeom>
          <a:solidFill>
            <a:srgbClr val="1E7A45"/>
          </a:solidFill>
          <a:ln w="12700">
            <a:solidFill>
              <a:srgbClr val="1E7A45"/>
            </a:solidFill>
            <a:prstDash val="solid"/>
          </a:ln>
        </p:spPr>
      </p:sp>
      <p:sp>
        <p:nvSpPr>
          <p:cNvPr id="16" name="Text 14"/>
          <p:cNvSpPr txBox="1"/>
          <p:nvPr/>
        </p:nvSpPr>
        <p:spPr>
          <a:xfrm>
            <a:off x="4754880" y="2788920"/>
            <a:ext cx="265176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Signed teacher corrections</a:t>
            </a:r>
            <a:endParaRPr lang="en-US" sz="1250" dirty="0"/>
          </a:p>
        </p:txBody>
      </p:sp>
      <p:sp>
        <p:nvSpPr>
          <p:cNvPr id="17" name="Shape 15"/>
          <p:cNvSpPr/>
          <p:nvPr/>
        </p:nvSpPr>
        <p:spPr>
          <a:xfrm>
            <a:off x="7726680" y="3108960"/>
            <a:ext cx="-301752" cy="0"/>
          </a:xfrm>
          <a:prstGeom prst="line">
            <a:avLst/>
          </a:prstGeom>
          <a:noFill/>
          <a:ln w="25400">
            <a:solidFill>
              <a:srgbClr val="1E7A45"/>
            </a:solidFill>
            <a:prstDash val="solid"/>
            <a:tailEnd type="triangle"/>
          </a:ln>
        </p:spPr>
      </p:sp>
      <p:sp>
        <p:nvSpPr>
          <p:cNvPr id="18" name="Shape 16"/>
          <p:cNvSpPr/>
          <p:nvPr/>
        </p:nvSpPr>
        <p:spPr>
          <a:xfrm>
            <a:off x="4709160" y="3108960"/>
            <a:ext cx="-274320" cy="0"/>
          </a:xfrm>
          <a:prstGeom prst="line">
            <a:avLst/>
          </a:prstGeom>
          <a:noFill/>
          <a:ln w="25400">
            <a:solidFill>
              <a:srgbClr val="1E7A45"/>
            </a:solidFill>
            <a:prstDash val="solid"/>
            <a:tailEnd type="triangle"/>
          </a:ln>
        </p:spPr>
      </p:sp>
      <p:sp>
        <p:nvSpPr>
          <p:cNvPr id="19" name="Shape 17"/>
          <p:cNvSpPr/>
          <p:nvPr/>
        </p:nvSpPr>
        <p:spPr>
          <a:xfrm>
            <a:off x="457200" y="4343400"/>
            <a:ext cx="1005840" cy="868680"/>
          </a:xfrm>
          <a:prstGeom prst="roundRect">
            <a:avLst>
              <a:gd name="adj" fmla="val 10526"/>
            </a:avLst>
          </a:prstGeom>
          <a:solidFill>
            <a:srgbClr val="14324D"/>
          </a:solidFill>
          <a:ln w="12700">
            <a:solidFill>
              <a:srgbClr val="14324D"/>
            </a:solidFill>
            <a:prstDash val="solid"/>
          </a:ln>
        </p:spPr>
      </p:sp>
      <p:sp>
        <p:nvSpPr>
          <p:cNvPr id="20" name="Text 18"/>
          <p:cNvSpPr txBox="1"/>
          <p:nvPr/>
        </p:nvSpPr>
        <p:spPr>
          <a:xfrm>
            <a:off x="457200" y="4343400"/>
            <a:ext cx="1005840" cy="86868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Mic</a:t>
            </a:r>
            <a:endParaRPr lang="en-US" sz="1200" dirty="0"/>
          </a:p>
        </p:txBody>
      </p:sp>
      <p:sp>
        <p:nvSpPr>
          <p:cNvPr id="21" name="Shape 19"/>
          <p:cNvSpPr/>
          <p:nvPr/>
        </p:nvSpPr>
        <p:spPr>
          <a:xfrm>
            <a:off x="1481328" y="4773168"/>
            <a:ext cx="128016" cy="0"/>
          </a:xfrm>
          <a:prstGeom prst="line">
            <a:avLst/>
          </a:prstGeom>
          <a:noFill/>
          <a:ln w="25400">
            <a:solidFill>
              <a:srgbClr val="5B6573"/>
            </a:solidFill>
            <a:prstDash val="solid"/>
            <a:tailEnd type="triangle"/>
          </a:ln>
        </p:spPr>
      </p:sp>
      <p:sp>
        <p:nvSpPr>
          <p:cNvPr id="22" name="Shape 20"/>
          <p:cNvSpPr/>
          <p:nvPr/>
        </p:nvSpPr>
        <p:spPr>
          <a:xfrm>
            <a:off x="1627632" y="4343400"/>
            <a:ext cx="1737360" cy="868680"/>
          </a:xfrm>
          <a:prstGeom prst="roundRect">
            <a:avLst>
              <a:gd name="adj" fmla="val 10526"/>
            </a:avLst>
          </a:prstGeom>
          <a:solidFill>
            <a:srgbClr val="14324D"/>
          </a:solidFill>
          <a:ln w="12700">
            <a:solidFill>
              <a:srgbClr val="14324D"/>
            </a:solidFill>
            <a:prstDash val="solid"/>
          </a:ln>
        </p:spPr>
      </p:sp>
      <p:sp>
        <p:nvSpPr>
          <p:cNvPr id="23" name="Text 21"/>
          <p:cNvSpPr txBox="1"/>
          <p:nvPr/>
        </p:nvSpPr>
        <p:spPr>
          <a:xfrm>
            <a:off x="1627632" y="4343400"/>
            <a:ext cx="1737360" cy="86868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Speech recognition</a:t>
            </a:r>
            <a:endParaRPr lang="en-US" sz="1200" dirty="0"/>
          </a:p>
        </p:txBody>
      </p:sp>
      <p:sp>
        <p:nvSpPr>
          <p:cNvPr id="24" name="Shape 22"/>
          <p:cNvSpPr/>
          <p:nvPr/>
        </p:nvSpPr>
        <p:spPr>
          <a:xfrm>
            <a:off x="3383280" y="4773168"/>
            <a:ext cx="128016" cy="0"/>
          </a:xfrm>
          <a:prstGeom prst="line">
            <a:avLst/>
          </a:prstGeom>
          <a:noFill/>
          <a:ln w="25400">
            <a:solidFill>
              <a:srgbClr val="5B6573"/>
            </a:solidFill>
            <a:prstDash val="solid"/>
            <a:tailEnd type="triangle"/>
          </a:ln>
        </p:spPr>
      </p:sp>
      <p:sp>
        <p:nvSpPr>
          <p:cNvPr id="25" name="Shape 23"/>
          <p:cNvSpPr/>
          <p:nvPr/>
        </p:nvSpPr>
        <p:spPr>
          <a:xfrm>
            <a:off x="3529584" y="4343400"/>
            <a:ext cx="2651760" cy="868680"/>
          </a:xfrm>
          <a:prstGeom prst="roundRect">
            <a:avLst>
              <a:gd name="adj" fmla="val 10526"/>
            </a:avLst>
          </a:prstGeom>
          <a:solidFill>
            <a:srgbClr val="1F6FB2"/>
          </a:solidFill>
          <a:ln w="12700">
            <a:solidFill>
              <a:srgbClr val="1F6FB2"/>
            </a:solidFill>
            <a:prstDash val="solid"/>
          </a:ln>
        </p:spPr>
      </p:sp>
      <p:sp>
        <p:nvSpPr>
          <p:cNvPr id="26" name="Text 24"/>
          <p:cNvSpPr txBox="1"/>
          <p:nvPr/>
        </p:nvSpPr>
        <p:spPr>
          <a:xfrm>
            <a:off x="3529584" y="4343400"/>
            <a:ext cx="2651760" cy="86868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Teacher fix → glossary → cache → model</a:t>
            </a:r>
            <a:endParaRPr lang="en-US" sz="1200" dirty="0"/>
          </a:p>
        </p:txBody>
      </p:sp>
      <p:sp>
        <p:nvSpPr>
          <p:cNvPr id="27" name="Shape 25"/>
          <p:cNvSpPr/>
          <p:nvPr/>
        </p:nvSpPr>
        <p:spPr>
          <a:xfrm>
            <a:off x="6199632" y="4773168"/>
            <a:ext cx="128016" cy="0"/>
          </a:xfrm>
          <a:prstGeom prst="line">
            <a:avLst/>
          </a:prstGeom>
          <a:noFill/>
          <a:ln w="25400">
            <a:solidFill>
              <a:srgbClr val="5B6573"/>
            </a:solidFill>
            <a:prstDash val="solid"/>
            <a:tailEnd type="triangle"/>
          </a:ln>
        </p:spPr>
      </p:sp>
      <p:sp>
        <p:nvSpPr>
          <p:cNvPr id="28" name="Shape 26"/>
          <p:cNvSpPr/>
          <p:nvPr/>
        </p:nvSpPr>
        <p:spPr>
          <a:xfrm>
            <a:off x="6345936" y="4343400"/>
            <a:ext cx="2331720" cy="868680"/>
          </a:xfrm>
          <a:prstGeom prst="roundRect">
            <a:avLst>
              <a:gd name="adj" fmla="val 10526"/>
            </a:avLst>
          </a:prstGeom>
          <a:solidFill>
            <a:srgbClr val="B03A2E"/>
          </a:solidFill>
          <a:ln w="12700">
            <a:solidFill>
              <a:srgbClr val="B03A2E"/>
            </a:solidFill>
            <a:prstDash val="solid"/>
          </a:ln>
        </p:spPr>
      </p:sp>
      <p:sp>
        <p:nvSpPr>
          <p:cNvPr id="29" name="Text 27"/>
          <p:cNvSpPr txBox="1"/>
          <p:nvPr/>
        </p:nvSpPr>
        <p:spPr>
          <a:xfrm>
            <a:off x="6345936" y="4343400"/>
            <a:ext cx="2331720" cy="86868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Guards: loop · round trip · script</a:t>
            </a:r>
            <a:endParaRPr lang="en-US" sz="1200" dirty="0"/>
          </a:p>
        </p:txBody>
      </p:sp>
      <p:sp>
        <p:nvSpPr>
          <p:cNvPr id="30" name="Shape 28"/>
          <p:cNvSpPr/>
          <p:nvPr/>
        </p:nvSpPr>
        <p:spPr>
          <a:xfrm>
            <a:off x="8695944" y="4773168"/>
            <a:ext cx="128016" cy="0"/>
          </a:xfrm>
          <a:prstGeom prst="line">
            <a:avLst/>
          </a:prstGeom>
          <a:noFill/>
          <a:ln w="25400">
            <a:solidFill>
              <a:srgbClr val="5B6573"/>
            </a:solidFill>
            <a:prstDash val="solid"/>
            <a:tailEnd type="triangle"/>
          </a:ln>
        </p:spPr>
      </p:sp>
      <p:sp>
        <p:nvSpPr>
          <p:cNvPr id="31" name="Shape 29"/>
          <p:cNvSpPr/>
          <p:nvPr/>
        </p:nvSpPr>
        <p:spPr>
          <a:xfrm>
            <a:off x="8842248" y="4343400"/>
            <a:ext cx="1920240" cy="868680"/>
          </a:xfrm>
          <a:prstGeom prst="roundRect">
            <a:avLst>
              <a:gd name="adj" fmla="val 10526"/>
            </a:avLst>
          </a:prstGeom>
          <a:solidFill>
            <a:srgbClr val="1E7A6E"/>
          </a:solidFill>
          <a:ln w="12700">
            <a:solidFill>
              <a:srgbClr val="1E7A6E"/>
            </a:solidFill>
            <a:prstDash val="solid"/>
          </a:ln>
        </p:spPr>
      </p:sp>
      <p:sp>
        <p:nvSpPr>
          <p:cNvPr id="32" name="Text 30"/>
          <p:cNvSpPr txBox="1"/>
          <p:nvPr/>
        </p:nvSpPr>
        <p:spPr>
          <a:xfrm>
            <a:off x="8842248" y="4343400"/>
            <a:ext cx="1920240" cy="86868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Speech + reading guide</a:t>
            </a:r>
            <a:endParaRPr lang="en-US" sz="1200" dirty="0"/>
          </a:p>
        </p:txBody>
      </p:sp>
      <p:sp>
        <p:nvSpPr>
          <p:cNvPr id="33" name="Shape 31"/>
          <p:cNvSpPr/>
          <p:nvPr/>
        </p:nvSpPr>
        <p:spPr>
          <a:xfrm>
            <a:off x="10780776" y="4773168"/>
            <a:ext cx="128016" cy="0"/>
          </a:xfrm>
          <a:prstGeom prst="line">
            <a:avLst/>
          </a:prstGeom>
          <a:noFill/>
          <a:ln w="25400">
            <a:solidFill>
              <a:srgbClr val="5B6573"/>
            </a:solidFill>
            <a:prstDash val="solid"/>
            <a:tailEnd type="triangle"/>
          </a:ln>
        </p:spPr>
      </p:sp>
      <p:sp>
        <p:nvSpPr>
          <p:cNvPr id="34" name="Shape 32"/>
          <p:cNvSpPr/>
          <p:nvPr/>
        </p:nvSpPr>
        <p:spPr>
          <a:xfrm>
            <a:off x="10927080" y="4343400"/>
            <a:ext cx="1143000" cy="868680"/>
          </a:xfrm>
          <a:prstGeom prst="roundRect">
            <a:avLst>
              <a:gd name="adj" fmla="val 10526"/>
            </a:avLst>
          </a:prstGeom>
          <a:solidFill>
            <a:srgbClr val="1E7A6E"/>
          </a:solidFill>
          <a:ln w="12700">
            <a:solidFill>
              <a:srgbClr val="1E7A6E"/>
            </a:solidFill>
            <a:prstDash val="solid"/>
          </a:ln>
        </p:spPr>
      </p:sp>
      <p:sp>
        <p:nvSpPr>
          <p:cNvPr id="35" name="Text 33"/>
          <p:cNvSpPr txBox="1"/>
          <p:nvPr/>
        </p:nvSpPr>
        <p:spPr>
          <a:xfrm>
            <a:off x="10927080" y="4343400"/>
            <a:ext cx="1143000" cy="86868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Speaker</a:t>
            </a:r>
            <a:endParaRPr lang="en-US" sz="1200" dirty="0"/>
          </a:p>
        </p:txBody>
      </p:sp>
      <p:sp>
        <p:nvSpPr>
          <p:cNvPr id="36" name="Text 34"/>
          <p:cNvSpPr txBox="1"/>
          <p:nvPr/>
        </p:nvSpPr>
        <p:spPr>
          <a:xfrm>
            <a:off x="457200" y="5532120"/>
            <a:ext cx="11247120" cy="41148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The same page (frontend.html) runs on both; the same 24-case REST contract is tested on both.</a:t>
            </a:r>
            <a:endParaRPr lang="en-US" sz="1400" dirty="0"/>
          </a:p>
        </p:txBody>
      </p:sp>
      <p:sp>
        <p:nvSpPr>
          <p:cNvPr id="37" name="Text 35"/>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README §4; contract/rest_contract.json; android/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5</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R1: every lesson line in Santali text and speech, with a trust tier</a:t>
            </a:r>
            <a:endParaRPr lang="en-US" sz="2800" dirty="0"/>
          </a:p>
        </p:txBody>
      </p:sp>
      <p:sp>
        <p:nvSpPr>
          <p:cNvPr id="5" name="Text 3"/>
          <p:cNvSpPr txBox="1"/>
          <p:nvPr/>
        </p:nvSpPr>
        <p:spPr>
          <a:xfrm>
            <a:off x="457200" y="1463040"/>
            <a:ext cx="4754880" cy="2926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A37"/>
                </a:solidFill>
                <a:latin typeface="Arial" pitchFamily="34" charset="0"/>
                <a:ea typeface="Arial" pitchFamily="34" charset="-122"/>
                <a:cs typeface="Arial" pitchFamily="34" charset="-120"/>
              </a:rPr>
              <a:t>Human first: teacher correction → verified sentence → cache → model</a:t>
            </a:r>
            <a:endParaRPr lang="en-US" sz="1600" dirty="0"/>
          </a:p>
          <a:p>
            <a:pPr marL="342900" indent="-342900">
              <a:spcAft>
                <a:spcPts val="800"/>
              </a:spcAft>
              <a:buSzPct val="100000"/>
              <a:buChar char="•"/>
            </a:pPr>
            <a:r>
              <a:rPr lang="en-US" sz="1600" dirty="0">
                <a:solidFill>
                  <a:srgbClr val="1F2A37"/>
                </a:solidFill>
                <a:latin typeface="Arial" pitchFamily="34" charset="0"/>
                <a:ea typeface="Arial" pitchFamily="34" charset="-122"/>
                <a:cs typeface="Arial" pitchFamily="34" charset="-120"/>
              </a:rPr>
              <a:t>Direct Hindi → Santali (IndicTrans2), Ol Chiki script</a:t>
            </a:r>
            <a:endParaRPr lang="en-US" sz="1600" dirty="0"/>
          </a:p>
          <a:p>
            <a:pPr marL="342900" indent="-342900">
              <a:spcAft>
                <a:spcPts val="800"/>
              </a:spcAft>
              <a:buSzPct val="100000"/>
              <a:buChar char="•"/>
            </a:pPr>
            <a:r>
              <a:rPr lang="en-US" sz="1600" dirty="0">
                <a:solidFill>
                  <a:srgbClr val="1F2A37"/>
                </a:solidFill>
                <a:latin typeface="Arial" pitchFamily="34" charset="0"/>
                <a:ea typeface="Arial" pitchFamily="34" charset="-122"/>
                <a:cs typeface="Arial" pitchFamily="34" charset="-120"/>
              </a:rPr>
              <a:t>Speech offline; Devanagari reading guide for the teacher</a:t>
            </a:r>
            <a:endParaRPr lang="en-US" sz="1600" dirty="0"/>
          </a:p>
          <a:p>
            <a:pPr marL="342900" indent="-342900">
              <a:spcAft>
                <a:spcPts val="800"/>
              </a:spcAft>
              <a:buSzPct val="100000"/>
              <a:buChar char="•"/>
            </a:pPr>
            <a:r>
              <a:rPr lang="en-US" sz="1600" dirty="0">
                <a:solidFill>
                  <a:srgbClr val="1F2A37"/>
                </a:solidFill>
                <a:latin typeface="Arial" pitchFamily="34" charset="0"/>
                <a:ea typeface="Arial" pitchFamily="34" charset="-122"/>
                <a:cs typeface="Arial" pitchFamily="34" charset="-120"/>
              </a:rPr>
              <a:t>Tier A human-written · B model · C flagged</a:t>
            </a:r>
            <a:endParaRPr lang="en-US" sz="1600" dirty="0"/>
          </a:p>
        </p:txBody>
      </p:sp>
      <p:sp>
        <p:nvSpPr>
          <p:cNvPr id="6" name="Shape 4"/>
          <p:cNvSpPr/>
          <p:nvPr/>
        </p:nvSpPr>
        <p:spPr>
          <a:xfrm>
            <a:off x="457200" y="4480560"/>
            <a:ext cx="2286000" cy="1508760"/>
          </a:xfrm>
          <a:prstGeom prst="roundRect">
            <a:avLst>
              <a:gd name="adj" fmla="val 7273"/>
            </a:avLst>
          </a:prstGeom>
          <a:solidFill>
            <a:srgbClr val="14324D"/>
          </a:solidFill>
          <a:ln w="12700">
            <a:solidFill>
              <a:srgbClr val="14324D"/>
            </a:solidFill>
            <a:prstDash val="solid"/>
          </a:ln>
        </p:spPr>
      </p:sp>
      <p:sp>
        <p:nvSpPr>
          <p:cNvPr id="7" name="Text 5"/>
          <p:cNvSpPr txBox="1"/>
          <p:nvPr/>
        </p:nvSpPr>
        <p:spPr>
          <a:xfrm>
            <a:off x="594360" y="4590288"/>
            <a:ext cx="2011680" cy="7543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32.2</a:t>
            </a:r>
            <a:endParaRPr lang="en-US" sz="3000" dirty="0"/>
          </a:p>
        </p:txBody>
      </p:sp>
      <p:sp>
        <p:nvSpPr>
          <p:cNvPr id="8" name="Text 6"/>
          <p:cNvSpPr txBox="1"/>
          <p:nvPr/>
        </p:nvSpPr>
        <p:spPr>
          <a:xfrm>
            <a:off x="594360" y="5310378"/>
            <a:ext cx="2011680" cy="603504"/>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chrF++ Hindi → Santali, IN22-Conv (n = 1,503)</a:t>
            </a:r>
            <a:endParaRPr lang="en-US" sz="1250" dirty="0"/>
          </a:p>
        </p:txBody>
      </p:sp>
      <p:sp>
        <p:nvSpPr>
          <p:cNvPr id="9" name="Shape 7"/>
          <p:cNvSpPr/>
          <p:nvPr/>
        </p:nvSpPr>
        <p:spPr>
          <a:xfrm>
            <a:off x="2926080" y="4480560"/>
            <a:ext cx="2286000" cy="1508760"/>
          </a:xfrm>
          <a:prstGeom prst="roundRect">
            <a:avLst>
              <a:gd name="adj" fmla="val 7273"/>
            </a:avLst>
          </a:prstGeom>
          <a:solidFill>
            <a:srgbClr val="1E7A6E"/>
          </a:solidFill>
          <a:ln w="12700">
            <a:solidFill>
              <a:srgbClr val="1E7A6E"/>
            </a:solidFill>
            <a:prstDash val="solid"/>
          </a:ln>
        </p:spPr>
      </p:sp>
      <p:sp>
        <p:nvSpPr>
          <p:cNvPr id="10" name="Text 8"/>
          <p:cNvSpPr txBox="1"/>
          <p:nvPr/>
        </p:nvSpPr>
        <p:spPr>
          <a:xfrm>
            <a:off x="3063240" y="4590288"/>
            <a:ext cx="2011680" cy="7543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119</a:t>
            </a:r>
            <a:endParaRPr lang="en-US" sz="3000" dirty="0"/>
          </a:p>
        </p:txBody>
      </p:sp>
      <p:sp>
        <p:nvSpPr>
          <p:cNvPr id="11" name="Text 9"/>
          <p:cNvSpPr txBox="1"/>
          <p:nvPr/>
        </p:nvSpPr>
        <p:spPr>
          <a:xfrm>
            <a:off x="3063240" y="5310378"/>
            <a:ext cx="2011680" cy="603504"/>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lesson lines checked: script, numbers, flags</a:t>
            </a:r>
            <a:endParaRPr lang="en-US" sz="1250" dirty="0"/>
          </a:p>
        </p:txBody>
      </p:sp>
      <p:pic>
        <p:nvPicPr>
          <p:cNvPr id="12" name="Image 0" descr="/tmp/claude-0/deckwork/assets/keep_ui_guide_en.png">    </p:cNvPr>
          <p:cNvPicPr>
            <a:picLocks noChangeAspect="1"/>
          </p:cNvPicPr>
          <p:nvPr/>
        </p:nvPicPr>
        <p:blipFill>
          <a:blip r:embed="rId1"/>
          <a:stretch>
            <a:fillRect/>
          </a:stretch>
        </p:blipFill>
        <p:spPr>
          <a:xfrm>
            <a:off x="5486400" y="1463040"/>
            <a:ext cx="6263640" cy="2834640"/>
          </a:xfrm>
          <a:prstGeom prst="rect">
            <a:avLst/>
          </a:prstGeom>
        </p:spPr>
      </p:pic>
      <p:sp>
        <p:nvSpPr>
          <p:cNvPr id="13" name="Text 10"/>
          <p:cNvSpPr txBox="1"/>
          <p:nvPr/>
        </p:nvSpPr>
        <p:spPr>
          <a:xfrm>
            <a:off x="5486400" y="4370832"/>
            <a:ext cx="6263640" cy="365760"/>
          </a:xfrm>
          <a:prstGeom prst="rect">
            <a:avLst/>
          </a:prstGeom>
          <a:noFill/>
          <a:ln/>
        </p:spPr>
        <p:txBody>
          <a:bodyPr wrap="square" lIns="0" tIns="0" rIns="0" bIns="0" rtlCol="0" anchor="ctr"/>
          <a:lstStyle/>
          <a:p>
            <a:pPr indent="0" marL="0">
              <a:buNone/>
            </a:pPr>
            <a:r>
              <a:rPr lang="en-US" sz="1200" i="1" dirty="0">
                <a:solidFill>
                  <a:srgbClr val="5B6573"/>
                </a:solidFill>
                <a:latin typeface="Arial" pitchFamily="34" charset="0"/>
                <a:ea typeface="Arial" pitchFamily="34" charset="-122"/>
                <a:cs typeface="Arial" pitchFamily="34" charset="-120"/>
              </a:rPr>
              <a:t>Live page: Santali (Ol Chiki), reading guide in Devanagari, badge "B · Model".</a:t>
            </a:r>
            <a:endParaRPr lang="en-US" sz="1200" dirty="0"/>
          </a:p>
        </p:txBody>
      </p:sp>
      <p:sp>
        <p:nvSpPr>
          <p:cNvPr id="14" name="Text 11"/>
          <p:cNvSpPr txBox="1"/>
          <p:nvPr/>
        </p:nvSpPr>
        <p:spPr>
          <a:xfrm>
            <a:off x="5486400" y="4892040"/>
            <a:ext cx="6263640" cy="82296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Santali is spoken by a Hindi voice reading our transliteration: no offline Santali voice exists; two alternatives lost on a pre-set rule.</a:t>
            </a:r>
            <a:endParaRPr lang="en-US" sz="1300" dirty="0"/>
          </a:p>
        </p:txBody>
      </p:sp>
      <p:sp>
        <p:nvSpPr>
          <p:cNvPr id="15" name="Text 12"/>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eval/results/benchmarks.md; docs/fln_translation_sample.md; bench/results/voice_rule_finale.md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6</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R2: spoken lesson lines on the tablet take 0.70 s (median), 1.27 s at p95</a:t>
            </a:r>
            <a:endParaRPr lang="en-US" sz="2800" dirty="0"/>
          </a:p>
        </p:txBody>
      </p:sp>
      <p:graphicFrame>
        <p:nvGraphicFramePr>
          <p:cNvPr id="5" name="Chart 0" descr=""/>
          <p:cNvGraphicFramePr/>
          <p:nvPr/>
        </p:nvGraphicFramePr>
        <p:xfrm>
          <a:off x="457200" y="141732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772400" y="1463040"/>
            <a:ext cx="3931920" cy="365760"/>
          </a:xfrm>
          <a:prstGeom prst="rect">
            <a:avLst/>
          </a:prstGeom>
          <a:noFill/>
          <a:ln/>
        </p:spPr>
        <p:txBody>
          <a:bodyPr wrap="square" lIns="0" tIns="0" rIns="0" bIns="0" rtlCol="0" anchor="ctr"/>
          <a:lstStyle/>
          <a:p>
            <a:pPr indent="0" marL="0">
              <a:buNone/>
            </a:pPr>
            <a:r>
              <a:rPr lang="en-US" sz="1500" b="1" dirty="0">
                <a:solidFill>
                  <a:srgbClr val="14324D"/>
                </a:solidFill>
                <a:latin typeface="Arial" pitchFamily="34" charset="0"/>
                <a:ea typeface="Arial" pitchFamily="34" charset="-122"/>
                <a:cs typeface="Arial" pitchFamily="34" charset="-120"/>
              </a:rPr>
              <a:t>Laptop hub, per stage (median)</a:t>
            </a:r>
            <a:endParaRPr lang="en-US" sz="1500" dirty="0"/>
          </a:p>
        </p:txBody>
      </p:sp>
      <p:graphicFrame>
        <p:nvGraphicFramePr>
          <p:cNvPr id="7" name="Chart 1" descr=""/>
          <p:cNvGraphicFramePr/>
          <p:nvPr/>
        </p:nvGraphicFramePr>
        <p:xfrm>
          <a:off x="7680960" y="1828800"/>
          <a:ext cx="4069080" cy="21031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7772400" y="4114800"/>
            <a:ext cx="3931920" cy="173736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Honest tail: on the laptop, 8 of 96 free-speech sentences took over 3 s (p95 3.29 s). Free speech stays on the laptop; the tablet matches lesson lines and refuses anything else.</a:t>
            </a:r>
            <a:endParaRPr lang="en-US" sz="1300" dirty="0"/>
          </a:p>
        </p:txBody>
      </p:sp>
      <p:sp>
        <p:nvSpPr>
          <p:cNvPr id="9" name="Text 5"/>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bench/results/latency_percentiles.md (50 lines per device; 3 hub runs × 32 sentences, FLEURS)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7</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R3: each lesson prints a worksheet, flashcards and a teacher plan, tagged to NIPUN</a:t>
            </a:r>
            <a:endParaRPr lang="en-US" sz="2800" dirty="0"/>
          </a:p>
        </p:txBody>
      </p:sp>
      <p:sp>
        <p:nvSpPr>
          <p:cNvPr id="5" name="Shape 3"/>
          <p:cNvSpPr/>
          <p:nvPr/>
        </p:nvSpPr>
        <p:spPr>
          <a:xfrm>
            <a:off x="457200" y="1417320"/>
            <a:ext cx="3566160" cy="3977640"/>
          </a:xfrm>
          <a:prstGeom prst="rect">
            <a:avLst/>
          </a:prstGeom>
          <a:solidFill>
            <a:srgbClr val="FFFFFF"/>
          </a:solidFill>
          <a:ln w="12700">
            <a:solidFill>
              <a:srgbClr val="D9D2C5"/>
            </a:solidFill>
            <a:prstDash val="solid"/>
          </a:ln>
        </p:spPr>
      </p:sp>
      <p:pic>
        <p:nvPicPr>
          <p:cNvPr id="6" name="Image 0" descr="/tmp/claude-0/deckwork/assets/ws-1.png">    </p:cNvPr>
          <p:cNvPicPr>
            <a:picLocks noChangeAspect="1"/>
          </p:cNvPicPr>
          <p:nvPr/>
        </p:nvPicPr>
        <p:blipFill>
          <a:blip r:embed="rId1"/>
          <a:srcRect l="0" r="0" t="0" b="0"/>
          <a:stretch/>
        </p:blipFill>
        <p:spPr>
          <a:xfrm>
            <a:off x="868680" y="1508760"/>
            <a:ext cx="2743200" cy="3794760"/>
          </a:xfrm>
          <a:prstGeom prst="rect">
            <a:avLst/>
          </a:prstGeom>
        </p:spPr>
      </p:pic>
      <p:sp>
        <p:nvSpPr>
          <p:cNvPr id="7" name="Text 4"/>
          <p:cNvSpPr txBox="1"/>
          <p:nvPr/>
        </p:nvSpPr>
        <p:spPr>
          <a:xfrm>
            <a:off x="457200" y="5458968"/>
            <a:ext cx="3566160" cy="457200"/>
          </a:xfrm>
          <a:prstGeom prst="rect">
            <a:avLst/>
          </a:prstGeom>
          <a:noFill/>
          <a:ln/>
        </p:spPr>
        <p:txBody>
          <a:bodyPr wrap="square" lIns="0" tIns="0" rIns="0" bIns="0" rtlCol="0" anchor="ctr"/>
          <a:lstStyle/>
          <a:p>
            <a:pPr algn="ctr" indent="0" marL="0">
              <a:buNone/>
            </a:pPr>
            <a:r>
              <a:rPr lang="en-US" sz="1200" dirty="0">
                <a:solidFill>
                  <a:srgbClr val="5B6573"/>
                </a:solidFill>
                <a:latin typeface="Arial" pitchFamily="34" charset="0"/>
                <a:ea typeface="Arial" pitchFamily="34" charset="-122"/>
                <a:cs typeface="Arial" pitchFamily="34" charset="-120"/>
              </a:rPr>
              <a:t>Worksheet: count, match, fill, circle, trace; answer key</a:t>
            </a:r>
            <a:endParaRPr lang="en-US" sz="1200" dirty="0"/>
          </a:p>
        </p:txBody>
      </p:sp>
      <p:sp>
        <p:nvSpPr>
          <p:cNvPr id="8" name="Shape 5"/>
          <p:cNvSpPr/>
          <p:nvPr/>
        </p:nvSpPr>
        <p:spPr>
          <a:xfrm>
            <a:off x="4297680" y="1417320"/>
            <a:ext cx="3566160" cy="3977640"/>
          </a:xfrm>
          <a:prstGeom prst="rect">
            <a:avLst/>
          </a:prstGeom>
          <a:solidFill>
            <a:srgbClr val="FFFFFF"/>
          </a:solidFill>
          <a:ln w="12700">
            <a:solidFill>
              <a:srgbClr val="D9D2C5"/>
            </a:solidFill>
            <a:prstDash val="solid"/>
          </a:ln>
        </p:spPr>
      </p:sp>
      <p:pic>
        <p:nvPicPr>
          <p:cNvPr id="9" name="Image 1" descr="/tmp/claude-0/deckwork/assets/fc-1.png">    </p:cNvPr>
          <p:cNvPicPr>
            <a:picLocks noChangeAspect="1"/>
          </p:cNvPicPr>
          <p:nvPr/>
        </p:nvPicPr>
        <p:blipFill>
          <a:blip r:embed="rId2"/>
          <a:srcRect l="0" r="0" t="0" b="0"/>
          <a:stretch/>
        </p:blipFill>
        <p:spPr>
          <a:xfrm>
            <a:off x="4709160" y="1508760"/>
            <a:ext cx="2743200" cy="3794760"/>
          </a:xfrm>
          <a:prstGeom prst="rect">
            <a:avLst/>
          </a:prstGeom>
        </p:spPr>
      </p:pic>
      <p:sp>
        <p:nvSpPr>
          <p:cNvPr id="10" name="Text 6"/>
          <p:cNvSpPr txBox="1"/>
          <p:nvPr/>
        </p:nvSpPr>
        <p:spPr>
          <a:xfrm>
            <a:off x="4297680" y="5458968"/>
            <a:ext cx="3566160" cy="457200"/>
          </a:xfrm>
          <a:prstGeom prst="rect">
            <a:avLst/>
          </a:prstGeom>
          <a:noFill/>
          <a:ln/>
        </p:spPr>
        <p:txBody>
          <a:bodyPr wrap="square" lIns="0" tIns="0" rIns="0" bIns="0" rtlCol="0" anchor="ctr"/>
          <a:lstStyle/>
          <a:p>
            <a:pPr algn="ctr" indent="0" marL="0">
              <a:buNone/>
            </a:pPr>
            <a:r>
              <a:rPr lang="en-US" sz="1200" dirty="0">
                <a:solidFill>
                  <a:srgbClr val="5B6573"/>
                </a:solidFill>
                <a:latin typeface="Arial" pitchFamily="34" charset="0"/>
                <a:ea typeface="Arial" pitchFamily="34" charset="-122"/>
                <a:cs typeface="Arial" pitchFamily="34" charset="-120"/>
              </a:rPr>
              <a:t>Cut-out flashcards, mirrored backs, review mark</a:t>
            </a:r>
            <a:endParaRPr lang="en-US" sz="1200" dirty="0"/>
          </a:p>
        </p:txBody>
      </p:sp>
      <p:sp>
        <p:nvSpPr>
          <p:cNvPr id="11" name="Shape 7"/>
          <p:cNvSpPr/>
          <p:nvPr/>
        </p:nvSpPr>
        <p:spPr>
          <a:xfrm>
            <a:off x="8138160" y="1417320"/>
            <a:ext cx="3566160" cy="3977640"/>
          </a:xfrm>
          <a:prstGeom prst="rect">
            <a:avLst/>
          </a:prstGeom>
          <a:solidFill>
            <a:srgbClr val="FFFFFF"/>
          </a:solidFill>
          <a:ln w="12700">
            <a:solidFill>
              <a:srgbClr val="D9D2C5"/>
            </a:solidFill>
            <a:prstDash val="solid"/>
          </a:ln>
        </p:spPr>
      </p:sp>
      <p:pic>
        <p:nvPicPr>
          <p:cNvPr id="12" name="Image 2" descr="/tmp/claude-0/deckwork/assets/lp-1.png">    </p:cNvPr>
          <p:cNvPicPr>
            <a:picLocks noChangeAspect="1"/>
          </p:cNvPicPr>
          <p:nvPr/>
        </p:nvPicPr>
        <p:blipFill>
          <a:blip r:embed="rId3"/>
          <a:srcRect l="0" r="0" t="0" b="0"/>
          <a:stretch/>
        </p:blipFill>
        <p:spPr>
          <a:xfrm>
            <a:off x="8549640" y="1508760"/>
            <a:ext cx="2743200" cy="3794760"/>
          </a:xfrm>
          <a:prstGeom prst="rect">
            <a:avLst/>
          </a:prstGeom>
        </p:spPr>
      </p:pic>
      <p:sp>
        <p:nvSpPr>
          <p:cNvPr id="13" name="Text 8"/>
          <p:cNvSpPr txBox="1"/>
          <p:nvPr/>
        </p:nvSpPr>
        <p:spPr>
          <a:xfrm>
            <a:off x="8138160" y="5458968"/>
            <a:ext cx="3566160" cy="457200"/>
          </a:xfrm>
          <a:prstGeom prst="rect">
            <a:avLst/>
          </a:prstGeom>
          <a:noFill/>
          <a:ln/>
        </p:spPr>
        <p:txBody>
          <a:bodyPr wrap="square" lIns="0" tIns="0" rIns="0" bIns="0" rtlCol="0" anchor="ctr"/>
          <a:lstStyle/>
          <a:p>
            <a:pPr algn="ctr" indent="0" marL="0">
              <a:buNone/>
            </a:pPr>
            <a:r>
              <a:rPr lang="en-US" sz="1200" dirty="0">
                <a:solidFill>
                  <a:srgbClr val="5B6573"/>
                </a:solidFill>
                <a:latin typeface="Arial" pitchFamily="34" charset="0"/>
                <a:ea typeface="Arial" pitchFamily="34" charset="-122"/>
                <a:cs typeface="Arial" pitchFamily="34" charset="-120"/>
              </a:rPr>
              <a:t>Teacher's plan: Hindi, Santali, reading guide, answers</a:t>
            </a:r>
            <a:endParaRPr lang="en-US" sz="1200" dirty="0"/>
          </a:p>
        </p:txBody>
      </p:sp>
      <p:sp>
        <p:nvSpPr>
          <p:cNvPr id="14" name="Shape 9"/>
          <p:cNvSpPr/>
          <p:nvPr/>
        </p:nvSpPr>
        <p:spPr>
          <a:xfrm>
            <a:off x="457200" y="5989320"/>
            <a:ext cx="5120640" cy="292608"/>
          </a:xfrm>
          <a:prstGeom prst="roundRect">
            <a:avLst>
              <a:gd name="adj" fmla="val 50000"/>
            </a:avLst>
          </a:prstGeom>
          <a:solidFill>
            <a:srgbClr val="1E7A45"/>
          </a:solidFill>
          <a:ln w="12700">
            <a:solidFill>
              <a:srgbClr val="1E7A45"/>
            </a:solidFill>
            <a:prstDash val="solid"/>
          </a:ln>
        </p:spPr>
      </p:sp>
      <p:sp>
        <p:nvSpPr>
          <p:cNvPr id="15" name="Text 10"/>
          <p:cNvSpPr txBox="1"/>
          <p:nvPr/>
        </p:nvSpPr>
        <p:spPr>
          <a:xfrm>
            <a:off x="457200" y="5989320"/>
            <a:ext cx="51206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NIPUN-G1-NUM-2: Perform simple addition and subtraction</a:t>
            </a:r>
            <a:endParaRPr lang="en-US" sz="1050" dirty="0"/>
          </a:p>
        </p:txBody>
      </p:sp>
      <p:sp>
        <p:nvSpPr>
          <p:cNvPr id="16" name="Shape 11"/>
          <p:cNvSpPr/>
          <p:nvPr/>
        </p:nvSpPr>
        <p:spPr>
          <a:xfrm>
            <a:off x="5760720" y="5989320"/>
            <a:ext cx="3017520" cy="292608"/>
          </a:xfrm>
          <a:prstGeom prst="roundRect">
            <a:avLst>
              <a:gd name="adj" fmla="val 50000"/>
            </a:avLst>
          </a:prstGeom>
          <a:solidFill>
            <a:srgbClr val="14324D"/>
          </a:solidFill>
          <a:ln w="12700">
            <a:solidFill>
              <a:srgbClr val="14324D"/>
            </a:solidFill>
            <a:prstDash val="solid"/>
          </a:ln>
        </p:spPr>
      </p:sp>
      <p:sp>
        <p:nvSpPr>
          <p:cNvPr id="17" name="Text 12"/>
          <p:cNvSpPr txBox="1"/>
          <p:nvPr/>
        </p:nvSpPr>
        <p:spPr>
          <a:xfrm>
            <a:off x="5760720" y="5989320"/>
            <a:ext cx="301752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18 lessons · every Lakshya</a:t>
            </a:r>
            <a:endParaRPr lang="en-US" sz="1050" dirty="0"/>
          </a:p>
        </p:txBody>
      </p:sp>
      <p:sp>
        <p:nvSpPr>
          <p:cNvPr id="18" name="Text 13"/>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docs/samples/; nipun/lakshya.py (Ministry text, 2021)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8</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R4: airplane mode, 24 of 24 checks on a 2 GB Android 9 emulator and a real tablet</a:t>
            </a:r>
            <a:endParaRPr lang="en-US" sz="2800" dirty="0"/>
          </a:p>
        </p:txBody>
      </p:sp>
      <p:sp>
        <p:nvSpPr>
          <p:cNvPr id="5" name="Shape 3"/>
          <p:cNvSpPr/>
          <p:nvPr/>
        </p:nvSpPr>
        <p:spPr>
          <a:xfrm>
            <a:off x="457200" y="1463040"/>
            <a:ext cx="2377440" cy="1325880"/>
          </a:xfrm>
          <a:prstGeom prst="roundRect">
            <a:avLst>
              <a:gd name="adj" fmla="val 8276"/>
            </a:avLst>
          </a:prstGeom>
          <a:solidFill>
            <a:srgbClr val="14324D"/>
          </a:solidFill>
          <a:ln w="12700">
            <a:solidFill>
              <a:srgbClr val="14324D"/>
            </a:solidFill>
            <a:prstDash val="solid"/>
          </a:ln>
        </p:spPr>
      </p:sp>
      <p:sp>
        <p:nvSpPr>
          <p:cNvPr id="6" name="Text 4"/>
          <p:cNvSpPr txBox="1"/>
          <p:nvPr/>
        </p:nvSpPr>
        <p:spPr>
          <a:xfrm>
            <a:off x="594360" y="1572768"/>
            <a:ext cx="2103120" cy="6629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Android 9+</a:t>
            </a:r>
            <a:endParaRPr lang="en-US" sz="3000" dirty="0"/>
          </a:p>
        </p:txBody>
      </p:sp>
      <p:sp>
        <p:nvSpPr>
          <p:cNvPr id="7" name="Text 5"/>
          <p:cNvSpPr txBox="1"/>
          <p:nvPr/>
        </p:nvSpPr>
        <p:spPr>
          <a:xfrm>
            <a:off x="594360" y="2192274"/>
            <a:ext cx="2103120" cy="530352"/>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minSdk 28</a:t>
            </a:r>
            <a:endParaRPr lang="en-US" sz="1250" dirty="0"/>
          </a:p>
        </p:txBody>
      </p:sp>
      <p:sp>
        <p:nvSpPr>
          <p:cNvPr id="8" name="Shape 6"/>
          <p:cNvSpPr/>
          <p:nvPr/>
        </p:nvSpPr>
        <p:spPr>
          <a:xfrm>
            <a:off x="3017520" y="1463040"/>
            <a:ext cx="2377440" cy="1325880"/>
          </a:xfrm>
          <a:prstGeom prst="roundRect">
            <a:avLst>
              <a:gd name="adj" fmla="val 8276"/>
            </a:avLst>
          </a:prstGeom>
          <a:solidFill>
            <a:srgbClr val="14324D"/>
          </a:solidFill>
          <a:ln w="12700">
            <a:solidFill>
              <a:srgbClr val="14324D"/>
            </a:solidFill>
            <a:prstDash val="solid"/>
          </a:ln>
        </p:spPr>
      </p:sp>
      <p:sp>
        <p:nvSpPr>
          <p:cNvPr id="9" name="Text 7"/>
          <p:cNvSpPr txBox="1"/>
          <p:nvPr/>
        </p:nvSpPr>
        <p:spPr>
          <a:xfrm>
            <a:off x="3154680" y="1572768"/>
            <a:ext cx="2103120" cy="6629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72 MB</a:t>
            </a:r>
            <a:endParaRPr lang="en-US" sz="3000" dirty="0"/>
          </a:p>
        </p:txBody>
      </p:sp>
      <p:sp>
        <p:nvSpPr>
          <p:cNvPr id="10" name="Text 8"/>
          <p:cNvSpPr txBox="1"/>
          <p:nvPr/>
        </p:nvSpPr>
        <p:spPr>
          <a:xfrm>
            <a:off x="3154680" y="2192274"/>
            <a:ext cx="2103120" cy="530352"/>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release APK</a:t>
            </a:r>
            <a:endParaRPr lang="en-US" sz="1250" dirty="0"/>
          </a:p>
        </p:txBody>
      </p:sp>
      <p:sp>
        <p:nvSpPr>
          <p:cNvPr id="11" name="Shape 9"/>
          <p:cNvSpPr/>
          <p:nvPr/>
        </p:nvSpPr>
        <p:spPr>
          <a:xfrm>
            <a:off x="457200" y="2971800"/>
            <a:ext cx="2377440" cy="1325880"/>
          </a:xfrm>
          <a:prstGeom prst="roundRect">
            <a:avLst>
              <a:gd name="adj" fmla="val 8276"/>
            </a:avLst>
          </a:prstGeom>
          <a:solidFill>
            <a:srgbClr val="1E7A6E"/>
          </a:solidFill>
          <a:ln w="12700">
            <a:solidFill>
              <a:srgbClr val="1E7A6E"/>
            </a:solidFill>
            <a:prstDash val="solid"/>
          </a:ln>
        </p:spPr>
      </p:sp>
      <p:sp>
        <p:nvSpPr>
          <p:cNvPr id="12" name="Text 10"/>
          <p:cNvSpPr txBox="1"/>
          <p:nvPr/>
        </p:nvSpPr>
        <p:spPr>
          <a:xfrm>
            <a:off x="594360" y="3081528"/>
            <a:ext cx="2103120" cy="6629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361 MB</a:t>
            </a:r>
            <a:endParaRPr lang="en-US" sz="3000" dirty="0"/>
          </a:p>
        </p:txBody>
      </p:sp>
      <p:sp>
        <p:nvSpPr>
          <p:cNvPr id="13" name="Text 11"/>
          <p:cNvSpPr txBox="1"/>
          <p:nvPr/>
        </p:nvSpPr>
        <p:spPr>
          <a:xfrm>
            <a:off x="594360" y="3701034"/>
            <a:ext cx="2103120" cy="530352"/>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model pack, int8, signed</a:t>
            </a:r>
            <a:endParaRPr lang="en-US" sz="1250" dirty="0"/>
          </a:p>
        </p:txBody>
      </p:sp>
      <p:sp>
        <p:nvSpPr>
          <p:cNvPr id="14" name="Shape 12"/>
          <p:cNvSpPr/>
          <p:nvPr/>
        </p:nvSpPr>
        <p:spPr>
          <a:xfrm>
            <a:off x="3017520" y="2971800"/>
            <a:ext cx="2377440" cy="1325880"/>
          </a:xfrm>
          <a:prstGeom prst="roundRect">
            <a:avLst>
              <a:gd name="adj" fmla="val 8276"/>
            </a:avLst>
          </a:prstGeom>
          <a:solidFill>
            <a:srgbClr val="1E7A6E"/>
          </a:solidFill>
          <a:ln w="12700">
            <a:solidFill>
              <a:srgbClr val="1E7A6E"/>
            </a:solidFill>
            <a:prstDash val="solid"/>
          </a:ln>
        </p:spPr>
      </p:sp>
      <p:sp>
        <p:nvSpPr>
          <p:cNvPr id="15" name="Text 13"/>
          <p:cNvSpPr txBox="1"/>
          <p:nvPr/>
        </p:nvSpPr>
        <p:spPr>
          <a:xfrm>
            <a:off x="3154680" y="3081528"/>
            <a:ext cx="2103120" cy="6629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38 MB</a:t>
            </a:r>
            <a:endParaRPr lang="en-US" sz="3000" dirty="0"/>
          </a:p>
        </p:txBody>
      </p:sp>
      <p:sp>
        <p:nvSpPr>
          <p:cNvPr id="16" name="Text 14"/>
          <p:cNvSpPr txBox="1"/>
          <p:nvPr/>
        </p:nvSpPr>
        <p:spPr>
          <a:xfrm>
            <a:off x="3154680" y="3701034"/>
            <a:ext cx="2103120" cy="530352"/>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content pack, signed</a:t>
            </a:r>
            <a:endParaRPr lang="en-US" sz="1250" dirty="0"/>
          </a:p>
        </p:txBody>
      </p:sp>
      <p:sp>
        <p:nvSpPr>
          <p:cNvPr id="17" name="Text 15"/>
          <p:cNvSpPr txBox="1"/>
          <p:nvPr/>
        </p:nvSpPr>
        <p:spPr>
          <a:xfrm>
            <a:off x="457200" y="4526280"/>
            <a:ext cx="4937760" cy="1097280"/>
          </a:xfrm>
          <a:prstGeom prst="rect">
            <a:avLst/>
          </a:prstGeom>
          <a:noFill/>
          <a:ln/>
        </p:spPr>
        <p:txBody>
          <a:bodyPr wrap="square" lIns="0" tIns="0" rIns="0" bIns="0" rtlCol="0" anchor="ctr"/>
          <a:lstStyle/>
          <a:p>
            <a:pPr indent="0" marL="0">
              <a:buNone/>
            </a:pPr>
            <a:r>
              <a:rPr lang="en-US" sz="1350" dirty="0">
                <a:solidFill>
                  <a:srgbClr val="1F2A37"/>
                </a:solidFill>
                <a:latin typeface="Arial" pitchFamily="34" charset="0"/>
                <a:ea typeface="Arial" pitchFamily="34" charset="-122"/>
                <a:cs typeface="Arial" pitchFamily="34" charset="-120"/>
              </a:rPr>
              <a:t>Tested: Realme Pad Mini (4 GB, Android 11) and a 2 GB Android 9 emulator. Not yet: a real 2 GB tablet, a 32-bit build.</a:t>
            </a:r>
            <a:endParaRPr lang="en-US" sz="1350" dirty="0"/>
          </a:p>
        </p:txBody>
      </p:sp>
      <p:sp>
        <p:nvSpPr>
          <p:cNvPr id="18" name="Text 16"/>
          <p:cNvSpPr txBox="1"/>
          <p:nvPr/>
        </p:nvSpPr>
        <p:spPr>
          <a:xfrm>
            <a:off x="5852160" y="1463040"/>
            <a:ext cx="5852160" cy="365760"/>
          </a:xfrm>
          <a:prstGeom prst="rect">
            <a:avLst/>
          </a:prstGeom>
          <a:noFill/>
          <a:ln/>
        </p:spPr>
        <p:txBody>
          <a:bodyPr wrap="square" lIns="0" tIns="0" rIns="0" bIns="0" rtlCol="0" anchor="ctr"/>
          <a:lstStyle/>
          <a:p>
            <a:pPr indent="0" marL="0">
              <a:buNone/>
            </a:pPr>
            <a:r>
              <a:rPr lang="en-US" sz="1500" b="1" dirty="0">
                <a:solidFill>
                  <a:srgbClr val="14324D"/>
                </a:solidFill>
                <a:latin typeface="Arial" pitchFamily="34" charset="0"/>
                <a:ea typeface="Arial" pitchFamily="34" charset="-122"/>
                <a:cs typeface="Arial" pitchFamily="34" charset="-120"/>
              </a:rPr>
              <a:t>Peak memory (app + WebView), GB</a:t>
            </a:r>
            <a:endParaRPr lang="en-US" sz="1500" dirty="0"/>
          </a:p>
        </p:txBody>
      </p:sp>
      <p:graphicFrame>
        <p:nvGraphicFramePr>
          <p:cNvPr id="19" name="Chart 0" descr=""/>
          <p:cNvGraphicFramePr/>
          <p:nvPr/>
        </p:nvGraphicFramePr>
        <p:xfrm>
          <a:off x="5760720" y="18288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5852160" y="5074920"/>
            <a:ext cx="5852160" cy="548640"/>
          </a:xfrm>
          <a:prstGeom prst="rect">
            <a:avLst/>
          </a:prstGeom>
          <a:noFill/>
          <a:ln/>
        </p:spPr>
        <p:txBody>
          <a:bodyPr wrap="square" lIns="0" tIns="0" rIns="0" bIns="0" rtlCol="0" anchor="ctr"/>
          <a:lstStyle/>
          <a:p>
            <a:pPr indent="0" marL="0">
              <a:buNone/>
            </a:pPr>
            <a:r>
              <a:rPr lang="en-US" sz="1300" dirty="0">
                <a:solidFill>
                  <a:srgbClr val="1F2A37"/>
                </a:solidFill>
                <a:latin typeface="Arial" pitchFamily="34" charset="0"/>
                <a:ea typeface="Arial" pitchFamily="34" charset="-122"/>
                <a:cs typeface="Arial" pitchFamily="34" charset="-120"/>
              </a:rPr>
              <a:t>Translation (1.3 GB) loads only when needed; the recogniser is released first.</a:t>
            </a:r>
            <a:endParaRPr lang="en-US" sz="1300" dirty="0"/>
          </a:p>
        </p:txBody>
      </p:sp>
      <p:sp>
        <p:nvSpPr>
          <p:cNvPr id="21" name="Text 18"/>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bench/results/realme-…-rc2_2026-09-28_m1.md; emulator-2gb-android9_2026-09-26_{m1,voice,nmt_memfix}.md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9</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Eight things a classroom needs that a translator does not do</a:t>
            </a:r>
            <a:endParaRPr lang="en-US" sz="2800" dirty="0"/>
          </a:p>
        </p:txBody>
      </p:sp>
      <p:sp>
        <p:nvSpPr>
          <p:cNvPr id="5" name="Shape 3"/>
          <p:cNvSpPr/>
          <p:nvPr/>
        </p:nvSpPr>
        <p:spPr>
          <a:xfrm>
            <a:off x="457200" y="1463040"/>
            <a:ext cx="2651760" cy="2103120"/>
          </a:xfrm>
          <a:prstGeom prst="roundRect">
            <a:avLst>
              <a:gd name="adj" fmla="val 4348"/>
            </a:avLst>
          </a:prstGeom>
          <a:solidFill>
            <a:srgbClr val="FBF8F3"/>
          </a:solidFill>
          <a:ln w="12700">
            <a:solidFill>
              <a:srgbClr val="D9D2C5"/>
            </a:solidFill>
            <a:prstDash val="solid"/>
          </a:ln>
        </p:spPr>
      </p:sp>
      <p:sp>
        <p:nvSpPr>
          <p:cNvPr id="6" name="Shape 4"/>
          <p:cNvSpPr/>
          <p:nvPr/>
        </p:nvSpPr>
        <p:spPr>
          <a:xfrm>
            <a:off x="640080" y="1645920"/>
            <a:ext cx="914400" cy="292608"/>
          </a:xfrm>
          <a:prstGeom prst="roundRect">
            <a:avLst>
              <a:gd name="adj" fmla="val 50000"/>
            </a:avLst>
          </a:prstGeom>
          <a:solidFill>
            <a:srgbClr val="1E7A45"/>
          </a:solidFill>
          <a:ln w="12700">
            <a:solidFill>
              <a:srgbClr val="1E7A45"/>
            </a:solidFill>
            <a:prstDash val="solid"/>
          </a:ln>
        </p:spPr>
      </p:sp>
      <p:sp>
        <p:nvSpPr>
          <p:cNvPr id="7" name="Text 5"/>
          <p:cNvSpPr txBox="1"/>
          <p:nvPr/>
        </p:nvSpPr>
        <p:spPr>
          <a:xfrm>
            <a:off x="640080" y="164592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built</a:t>
            </a:r>
            <a:endParaRPr lang="en-US" sz="1050" dirty="0"/>
          </a:p>
        </p:txBody>
      </p:sp>
      <p:sp>
        <p:nvSpPr>
          <p:cNvPr id="8" name="Text 6"/>
          <p:cNvSpPr txBox="1"/>
          <p:nvPr/>
        </p:nvSpPr>
        <p:spPr>
          <a:xfrm>
            <a:off x="640080" y="2057400"/>
            <a:ext cx="2286000" cy="640080"/>
          </a:xfrm>
          <a:prstGeom prst="rect">
            <a:avLst/>
          </a:prstGeom>
          <a:noFill/>
          <a:ln/>
        </p:spPr>
        <p:txBody>
          <a:bodyPr wrap="square" lIns="0" tIns="0" rIns="0" bIns="0" rtlCol="0" anchor="t"/>
          <a:lstStyle/>
          <a:p>
            <a:pPr indent="0" marL="0">
              <a:buNone/>
            </a:pPr>
            <a:r>
              <a:rPr lang="en-US" sz="1500" b="1" dirty="0">
                <a:solidFill>
                  <a:srgbClr val="14324D"/>
                </a:solidFill>
                <a:latin typeface="Arial" pitchFamily="34" charset="0"/>
                <a:ea typeface="Arial" pitchFamily="34" charset="-122"/>
                <a:cs typeface="Arial" pitchFamily="34" charset="-120"/>
              </a:rPr>
              <a:t>Teacher corrections</a:t>
            </a:r>
            <a:endParaRPr lang="en-US" sz="1500" dirty="0"/>
          </a:p>
        </p:txBody>
      </p:sp>
      <p:sp>
        <p:nvSpPr>
          <p:cNvPr id="9" name="Text 7"/>
          <p:cNvSpPr txBox="1"/>
          <p:nvPr/>
        </p:nvSpPr>
        <p:spPr>
          <a:xfrm>
            <a:off x="640080" y="2697480"/>
            <a:ext cx="2286000" cy="777240"/>
          </a:xfrm>
          <a:prstGeom prst="rect">
            <a:avLst/>
          </a:prstGeom>
          <a:noFill/>
          <a:ln/>
        </p:spPr>
        <p:txBody>
          <a:bodyPr wrap="square" lIns="0" tIns="0" rIns="0" bIns="0" rtlCol="0" anchor="t"/>
          <a:lstStyle/>
          <a:p>
            <a:pPr indent="0" marL="0">
              <a:buNone/>
            </a:pPr>
            <a:r>
              <a:rPr lang="en-US" sz="1200" dirty="0">
                <a:solidFill>
                  <a:srgbClr val="1F2A37"/>
                </a:solidFill>
                <a:latin typeface="Arial" pitchFamily="34" charset="0"/>
                <a:ea typeface="Arial" pitchFamily="34" charset="-122"/>
                <a:cs typeface="Arial" pitchFamily="34" charset="-120"/>
              </a:rPr>
              <a:t>reused first; synced between tablets as signed files</a:t>
            </a:r>
            <a:endParaRPr lang="en-US" sz="1200" dirty="0"/>
          </a:p>
        </p:txBody>
      </p:sp>
      <p:sp>
        <p:nvSpPr>
          <p:cNvPr id="10" name="Shape 8"/>
          <p:cNvSpPr/>
          <p:nvPr/>
        </p:nvSpPr>
        <p:spPr>
          <a:xfrm>
            <a:off x="3291840" y="1463040"/>
            <a:ext cx="2651760" cy="2103120"/>
          </a:xfrm>
          <a:prstGeom prst="roundRect">
            <a:avLst>
              <a:gd name="adj" fmla="val 4348"/>
            </a:avLst>
          </a:prstGeom>
          <a:solidFill>
            <a:srgbClr val="FBF8F3"/>
          </a:solidFill>
          <a:ln w="12700">
            <a:solidFill>
              <a:srgbClr val="D9D2C5"/>
            </a:solidFill>
            <a:prstDash val="solid"/>
          </a:ln>
        </p:spPr>
      </p:sp>
      <p:sp>
        <p:nvSpPr>
          <p:cNvPr id="11" name="Shape 9"/>
          <p:cNvSpPr/>
          <p:nvPr/>
        </p:nvSpPr>
        <p:spPr>
          <a:xfrm>
            <a:off x="3474720" y="1645920"/>
            <a:ext cx="914400" cy="292608"/>
          </a:xfrm>
          <a:prstGeom prst="roundRect">
            <a:avLst>
              <a:gd name="adj" fmla="val 50000"/>
            </a:avLst>
          </a:prstGeom>
          <a:solidFill>
            <a:srgbClr val="D9822B"/>
          </a:solidFill>
          <a:ln w="12700">
            <a:solidFill>
              <a:srgbClr val="D9822B"/>
            </a:solidFill>
            <a:prstDash val="solid"/>
          </a:ln>
        </p:spPr>
      </p:sp>
      <p:sp>
        <p:nvSpPr>
          <p:cNvPr id="12" name="Text 10"/>
          <p:cNvSpPr txBox="1"/>
          <p:nvPr/>
        </p:nvSpPr>
        <p:spPr>
          <a:xfrm>
            <a:off x="3474720" y="164592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new</a:t>
            </a:r>
            <a:endParaRPr lang="en-US" sz="1050" dirty="0"/>
          </a:p>
        </p:txBody>
      </p:sp>
      <p:sp>
        <p:nvSpPr>
          <p:cNvPr id="13" name="Text 11"/>
          <p:cNvSpPr txBox="1"/>
          <p:nvPr/>
        </p:nvSpPr>
        <p:spPr>
          <a:xfrm>
            <a:off x="3474720" y="2057400"/>
            <a:ext cx="2286000" cy="640080"/>
          </a:xfrm>
          <a:prstGeom prst="rect">
            <a:avLst/>
          </a:prstGeom>
          <a:noFill/>
          <a:ln/>
        </p:spPr>
        <p:txBody>
          <a:bodyPr wrap="square" lIns="0" tIns="0" rIns="0" bIns="0" rtlCol="0" anchor="t"/>
          <a:lstStyle/>
          <a:p>
            <a:pPr indent="0" marL="0">
              <a:buNone/>
            </a:pPr>
            <a:r>
              <a:rPr lang="en-US" sz="1500" b="1" dirty="0">
                <a:solidFill>
                  <a:srgbClr val="14324D"/>
                </a:solidFill>
                <a:latin typeface="Arial" pitchFamily="34" charset="0"/>
                <a:ea typeface="Arial" pitchFamily="34" charset="-122"/>
                <a:cs typeface="Arial" pitchFamily="34" charset="-120"/>
              </a:rPr>
              <a:t>Devanagari reading guide</a:t>
            </a:r>
            <a:endParaRPr lang="en-US" sz="1500" dirty="0"/>
          </a:p>
        </p:txBody>
      </p:sp>
      <p:sp>
        <p:nvSpPr>
          <p:cNvPr id="14" name="Text 12"/>
          <p:cNvSpPr txBox="1"/>
          <p:nvPr/>
        </p:nvSpPr>
        <p:spPr>
          <a:xfrm>
            <a:off x="3474720" y="2697480"/>
            <a:ext cx="2286000" cy="777240"/>
          </a:xfrm>
          <a:prstGeom prst="rect">
            <a:avLst/>
          </a:prstGeom>
          <a:noFill/>
          <a:ln/>
        </p:spPr>
        <p:txBody>
          <a:bodyPr wrap="square" lIns="0" tIns="0" rIns="0" bIns="0" rtlCol="0" anchor="t"/>
          <a:lstStyle/>
          <a:p>
            <a:pPr indent="0" marL="0">
              <a:buNone/>
            </a:pPr>
            <a:r>
              <a:rPr lang="en-US" sz="1200" dirty="0">
                <a:solidFill>
                  <a:srgbClr val="1F2A37"/>
                </a:solidFill>
                <a:latin typeface="Arial" pitchFamily="34" charset="0"/>
                <a:ea typeface="Arial" pitchFamily="34" charset="-122"/>
                <a:cs typeface="Arial" pitchFamily="34" charset="-120"/>
              </a:rPr>
              <a:t>the teacher can read the Santali aloud</a:t>
            </a:r>
            <a:endParaRPr lang="en-US" sz="1200" dirty="0"/>
          </a:p>
        </p:txBody>
      </p:sp>
      <p:sp>
        <p:nvSpPr>
          <p:cNvPr id="15" name="Shape 13"/>
          <p:cNvSpPr/>
          <p:nvPr/>
        </p:nvSpPr>
        <p:spPr>
          <a:xfrm>
            <a:off x="6126480" y="1463040"/>
            <a:ext cx="2651760" cy="2103120"/>
          </a:xfrm>
          <a:prstGeom prst="roundRect">
            <a:avLst>
              <a:gd name="adj" fmla="val 4348"/>
            </a:avLst>
          </a:prstGeom>
          <a:solidFill>
            <a:srgbClr val="FBF8F3"/>
          </a:solidFill>
          <a:ln w="12700">
            <a:solidFill>
              <a:srgbClr val="D9D2C5"/>
            </a:solidFill>
            <a:prstDash val="solid"/>
          </a:ln>
        </p:spPr>
      </p:sp>
      <p:sp>
        <p:nvSpPr>
          <p:cNvPr id="16" name="Shape 14"/>
          <p:cNvSpPr/>
          <p:nvPr/>
        </p:nvSpPr>
        <p:spPr>
          <a:xfrm>
            <a:off x="6309360" y="1645920"/>
            <a:ext cx="914400" cy="292608"/>
          </a:xfrm>
          <a:prstGeom prst="roundRect">
            <a:avLst>
              <a:gd name="adj" fmla="val 50000"/>
            </a:avLst>
          </a:prstGeom>
          <a:solidFill>
            <a:srgbClr val="1E7A45"/>
          </a:solidFill>
          <a:ln w="12700">
            <a:solidFill>
              <a:srgbClr val="1E7A45"/>
            </a:solidFill>
            <a:prstDash val="solid"/>
          </a:ln>
        </p:spPr>
      </p:sp>
      <p:sp>
        <p:nvSpPr>
          <p:cNvPr id="17" name="Text 15"/>
          <p:cNvSpPr txBox="1"/>
          <p:nvPr/>
        </p:nvSpPr>
        <p:spPr>
          <a:xfrm>
            <a:off x="6309360" y="164592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built</a:t>
            </a:r>
            <a:endParaRPr lang="en-US" sz="1050" dirty="0"/>
          </a:p>
        </p:txBody>
      </p:sp>
      <p:sp>
        <p:nvSpPr>
          <p:cNvPr id="18" name="Text 16"/>
          <p:cNvSpPr txBox="1"/>
          <p:nvPr/>
        </p:nvSpPr>
        <p:spPr>
          <a:xfrm>
            <a:off x="6309360" y="2057400"/>
            <a:ext cx="2286000" cy="640080"/>
          </a:xfrm>
          <a:prstGeom prst="rect">
            <a:avLst/>
          </a:prstGeom>
          <a:noFill/>
          <a:ln/>
        </p:spPr>
        <p:txBody>
          <a:bodyPr wrap="square" lIns="0" tIns="0" rIns="0" bIns="0" rtlCol="0" anchor="t"/>
          <a:lstStyle/>
          <a:p>
            <a:pPr indent="0" marL="0">
              <a:buNone/>
            </a:pPr>
            <a:r>
              <a:rPr lang="en-US" sz="1500" b="1" dirty="0">
                <a:solidFill>
                  <a:srgbClr val="14324D"/>
                </a:solidFill>
                <a:latin typeface="Arial" pitchFamily="34" charset="0"/>
                <a:ea typeface="Arial" pitchFamily="34" charset="-122"/>
                <a:cs typeface="Arial" pitchFamily="34" charset="-120"/>
              </a:rPr>
              <a:t>Trust tiers + 3 guards</a:t>
            </a:r>
            <a:endParaRPr lang="en-US" sz="1500" dirty="0"/>
          </a:p>
        </p:txBody>
      </p:sp>
      <p:sp>
        <p:nvSpPr>
          <p:cNvPr id="19" name="Text 17"/>
          <p:cNvSpPr txBox="1"/>
          <p:nvPr/>
        </p:nvSpPr>
        <p:spPr>
          <a:xfrm>
            <a:off x="6309360" y="2697480"/>
            <a:ext cx="2286000" cy="777240"/>
          </a:xfrm>
          <a:prstGeom prst="rect">
            <a:avLst/>
          </a:prstGeom>
          <a:noFill/>
          <a:ln/>
        </p:spPr>
        <p:txBody>
          <a:bodyPr wrap="square" lIns="0" tIns="0" rIns="0" bIns="0" rtlCol="0" anchor="t"/>
          <a:lstStyle/>
          <a:p>
            <a:pPr indent="0" marL="0">
              <a:buNone/>
            </a:pPr>
            <a:r>
              <a:rPr lang="en-US" sz="1200" dirty="0">
                <a:solidFill>
                  <a:srgbClr val="1F2A37"/>
                </a:solidFill>
                <a:latin typeface="Arial" pitchFamily="34" charset="0"/>
                <a:ea typeface="Arial" pitchFamily="34" charset="-122"/>
                <a:cs typeface="Arial" pitchFamily="34" charset="-120"/>
              </a:rPr>
              <a:t>loop, round trip, script; C is never auto-played</a:t>
            </a:r>
            <a:endParaRPr lang="en-US" sz="1200" dirty="0"/>
          </a:p>
        </p:txBody>
      </p:sp>
      <p:sp>
        <p:nvSpPr>
          <p:cNvPr id="20" name="Shape 18"/>
          <p:cNvSpPr/>
          <p:nvPr/>
        </p:nvSpPr>
        <p:spPr>
          <a:xfrm>
            <a:off x="8961120" y="1463040"/>
            <a:ext cx="2651760" cy="2103120"/>
          </a:xfrm>
          <a:prstGeom prst="roundRect">
            <a:avLst>
              <a:gd name="adj" fmla="val 4348"/>
            </a:avLst>
          </a:prstGeom>
          <a:solidFill>
            <a:srgbClr val="FBF8F3"/>
          </a:solidFill>
          <a:ln w="12700">
            <a:solidFill>
              <a:srgbClr val="D9D2C5"/>
            </a:solidFill>
            <a:prstDash val="solid"/>
          </a:ln>
        </p:spPr>
      </p:sp>
      <p:sp>
        <p:nvSpPr>
          <p:cNvPr id="21" name="Shape 19"/>
          <p:cNvSpPr/>
          <p:nvPr/>
        </p:nvSpPr>
        <p:spPr>
          <a:xfrm>
            <a:off x="9144000" y="1645920"/>
            <a:ext cx="914400" cy="292608"/>
          </a:xfrm>
          <a:prstGeom prst="roundRect">
            <a:avLst>
              <a:gd name="adj" fmla="val 50000"/>
            </a:avLst>
          </a:prstGeom>
          <a:solidFill>
            <a:srgbClr val="1F6FB2"/>
          </a:solidFill>
          <a:ln w="12700">
            <a:solidFill>
              <a:srgbClr val="1F6FB2"/>
            </a:solidFill>
            <a:prstDash val="solid"/>
          </a:ln>
        </p:spPr>
      </p:sp>
      <p:sp>
        <p:nvSpPr>
          <p:cNvPr id="22" name="Text 20"/>
          <p:cNvSpPr txBox="1"/>
          <p:nvPr/>
        </p:nvSpPr>
        <p:spPr>
          <a:xfrm>
            <a:off x="9144000" y="164592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sample</a:t>
            </a:r>
            <a:endParaRPr lang="en-US" sz="1050" dirty="0"/>
          </a:p>
        </p:txBody>
      </p:sp>
      <p:sp>
        <p:nvSpPr>
          <p:cNvPr id="23" name="Text 21"/>
          <p:cNvSpPr txBox="1"/>
          <p:nvPr/>
        </p:nvSpPr>
        <p:spPr>
          <a:xfrm>
            <a:off x="9144000" y="2057400"/>
            <a:ext cx="2286000" cy="640080"/>
          </a:xfrm>
          <a:prstGeom prst="rect">
            <a:avLst/>
          </a:prstGeom>
          <a:noFill/>
          <a:ln/>
        </p:spPr>
        <p:txBody>
          <a:bodyPr wrap="square" lIns="0" tIns="0" rIns="0" bIns="0" rtlCol="0" anchor="t"/>
          <a:lstStyle/>
          <a:p>
            <a:pPr indent="0" marL="0">
              <a:buNone/>
            </a:pPr>
            <a:r>
              <a:rPr lang="en-US" sz="1500" b="1" dirty="0">
                <a:solidFill>
                  <a:srgbClr val="14324D"/>
                </a:solidFill>
                <a:latin typeface="Arial" pitchFamily="34" charset="0"/>
                <a:ea typeface="Arial" pitchFamily="34" charset="-122"/>
                <a:cs typeface="Arial" pitchFamily="34" charset="-120"/>
              </a:rPr>
              <a:t>Local-context lessons</a:t>
            </a:r>
            <a:endParaRPr lang="en-US" sz="1500" dirty="0"/>
          </a:p>
        </p:txBody>
      </p:sp>
      <p:sp>
        <p:nvSpPr>
          <p:cNvPr id="24" name="Text 22"/>
          <p:cNvSpPr txBox="1"/>
          <p:nvPr/>
        </p:nvSpPr>
        <p:spPr>
          <a:xfrm>
            <a:off x="9144000" y="2697480"/>
            <a:ext cx="2286000" cy="777240"/>
          </a:xfrm>
          <a:prstGeom prst="rect">
            <a:avLst/>
          </a:prstGeom>
          <a:noFill/>
          <a:ln/>
        </p:spPr>
        <p:txBody>
          <a:bodyPr wrap="square" lIns="0" tIns="0" rIns="0" bIns="0" rtlCol="0" anchor="t"/>
          <a:lstStyle/>
          <a:p>
            <a:pPr indent="0" marL="0">
              <a:buNone/>
            </a:pPr>
            <a:r>
              <a:rPr lang="en-US" sz="1200" dirty="0">
                <a:solidFill>
                  <a:srgbClr val="1F2A37"/>
                </a:solidFill>
                <a:latin typeface="Arial" pitchFamily="34" charset="0"/>
                <a:ea typeface="Arial" pitchFamily="34" charset="-122"/>
                <a:cs typeface="Arial" pitchFamily="34" charset="-120"/>
              </a:rPr>
              <a:t>teachers import village examples; app translates</a:t>
            </a:r>
            <a:endParaRPr lang="en-US" sz="1200" dirty="0"/>
          </a:p>
        </p:txBody>
      </p:sp>
      <p:sp>
        <p:nvSpPr>
          <p:cNvPr id="25" name="Shape 23"/>
          <p:cNvSpPr/>
          <p:nvPr/>
        </p:nvSpPr>
        <p:spPr>
          <a:xfrm>
            <a:off x="457200" y="3794760"/>
            <a:ext cx="2651760" cy="2103120"/>
          </a:xfrm>
          <a:prstGeom prst="roundRect">
            <a:avLst>
              <a:gd name="adj" fmla="val 4348"/>
            </a:avLst>
          </a:prstGeom>
          <a:solidFill>
            <a:srgbClr val="FBF8F3"/>
          </a:solidFill>
          <a:ln w="12700">
            <a:solidFill>
              <a:srgbClr val="D9D2C5"/>
            </a:solidFill>
            <a:prstDash val="solid"/>
          </a:ln>
        </p:spPr>
      </p:sp>
      <p:sp>
        <p:nvSpPr>
          <p:cNvPr id="26" name="Shape 24"/>
          <p:cNvSpPr/>
          <p:nvPr/>
        </p:nvSpPr>
        <p:spPr>
          <a:xfrm>
            <a:off x="640080" y="3977640"/>
            <a:ext cx="914400" cy="292608"/>
          </a:xfrm>
          <a:prstGeom prst="roundRect">
            <a:avLst>
              <a:gd name="adj" fmla="val 50000"/>
            </a:avLst>
          </a:prstGeom>
          <a:solidFill>
            <a:srgbClr val="D9822B"/>
          </a:solidFill>
          <a:ln w="12700">
            <a:solidFill>
              <a:srgbClr val="D9822B"/>
            </a:solidFill>
            <a:prstDash val="solid"/>
          </a:ln>
        </p:spPr>
      </p:sp>
      <p:sp>
        <p:nvSpPr>
          <p:cNvPr id="27" name="Text 25"/>
          <p:cNvSpPr txBox="1"/>
          <p:nvPr/>
        </p:nvSpPr>
        <p:spPr>
          <a:xfrm>
            <a:off x="640080" y="397764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new</a:t>
            </a:r>
            <a:endParaRPr lang="en-US" sz="1050" dirty="0"/>
          </a:p>
        </p:txBody>
      </p:sp>
      <p:sp>
        <p:nvSpPr>
          <p:cNvPr id="28" name="Text 26"/>
          <p:cNvSpPr txBox="1"/>
          <p:nvPr/>
        </p:nvSpPr>
        <p:spPr>
          <a:xfrm>
            <a:off x="640080" y="4389120"/>
            <a:ext cx="2286000" cy="640080"/>
          </a:xfrm>
          <a:prstGeom prst="rect">
            <a:avLst/>
          </a:prstGeom>
          <a:noFill/>
          <a:ln/>
        </p:spPr>
        <p:txBody>
          <a:bodyPr wrap="square" lIns="0" tIns="0" rIns="0" bIns="0" rtlCol="0" anchor="t"/>
          <a:lstStyle/>
          <a:p>
            <a:pPr indent="0" marL="0">
              <a:buNone/>
            </a:pPr>
            <a:r>
              <a:rPr lang="en-US" sz="1500" b="1" dirty="0">
                <a:solidFill>
                  <a:srgbClr val="14324D"/>
                </a:solidFill>
                <a:latin typeface="Arial" pitchFamily="34" charset="0"/>
                <a:ea typeface="Arial" pitchFamily="34" charset="-122"/>
                <a:cs typeface="Arial" pitchFamily="34" charset="-120"/>
              </a:rPr>
              <a:t>Lesson plans</a:t>
            </a:r>
            <a:endParaRPr lang="en-US" sz="1500" dirty="0"/>
          </a:p>
        </p:txBody>
      </p:sp>
      <p:sp>
        <p:nvSpPr>
          <p:cNvPr id="29" name="Text 27"/>
          <p:cNvSpPr txBox="1"/>
          <p:nvPr/>
        </p:nvSpPr>
        <p:spPr>
          <a:xfrm>
            <a:off x="640080" y="5029200"/>
            <a:ext cx="2286000" cy="777240"/>
          </a:xfrm>
          <a:prstGeom prst="rect">
            <a:avLst/>
          </a:prstGeom>
          <a:noFill/>
          <a:ln/>
        </p:spPr>
        <p:txBody>
          <a:bodyPr wrap="square" lIns="0" tIns="0" rIns="0" bIns="0" rtlCol="0" anchor="t"/>
          <a:lstStyle/>
          <a:p>
            <a:pPr indent="0" marL="0">
              <a:buNone/>
            </a:pPr>
            <a:r>
              <a:rPr lang="en-US" sz="1200" dirty="0">
                <a:solidFill>
                  <a:srgbClr val="1F2A37"/>
                </a:solidFill>
                <a:latin typeface="Arial" pitchFamily="34" charset="0"/>
                <a:ea typeface="Arial" pitchFamily="34" charset="-122"/>
                <a:cs typeface="Arial" pitchFamily="34" charset="-120"/>
              </a:rPr>
              <a:t>daily script with pronunciation guide and answers</a:t>
            </a:r>
            <a:endParaRPr lang="en-US" sz="1200" dirty="0"/>
          </a:p>
        </p:txBody>
      </p:sp>
      <p:sp>
        <p:nvSpPr>
          <p:cNvPr id="30" name="Shape 28"/>
          <p:cNvSpPr/>
          <p:nvPr/>
        </p:nvSpPr>
        <p:spPr>
          <a:xfrm>
            <a:off x="3291840" y="3794760"/>
            <a:ext cx="2651760" cy="2103120"/>
          </a:xfrm>
          <a:prstGeom prst="roundRect">
            <a:avLst>
              <a:gd name="adj" fmla="val 4348"/>
            </a:avLst>
          </a:prstGeom>
          <a:solidFill>
            <a:srgbClr val="FBF8F3"/>
          </a:solidFill>
          <a:ln w="12700">
            <a:solidFill>
              <a:srgbClr val="D9D2C5"/>
            </a:solidFill>
            <a:prstDash val="solid"/>
          </a:ln>
        </p:spPr>
      </p:sp>
      <p:sp>
        <p:nvSpPr>
          <p:cNvPr id="31" name="Shape 29"/>
          <p:cNvSpPr/>
          <p:nvPr/>
        </p:nvSpPr>
        <p:spPr>
          <a:xfrm>
            <a:off x="3474720" y="3977640"/>
            <a:ext cx="914400" cy="292608"/>
          </a:xfrm>
          <a:prstGeom prst="roundRect">
            <a:avLst>
              <a:gd name="adj" fmla="val 50000"/>
            </a:avLst>
          </a:prstGeom>
          <a:solidFill>
            <a:srgbClr val="1E7A45"/>
          </a:solidFill>
          <a:ln w="12700">
            <a:solidFill>
              <a:srgbClr val="1E7A45"/>
            </a:solidFill>
            <a:prstDash val="solid"/>
          </a:ln>
        </p:spPr>
      </p:sp>
      <p:sp>
        <p:nvSpPr>
          <p:cNvPr id="32" name="Text 30"/>
          <p:cNvSpPr txBox="1"/>
          <p:nvPr/>
        </p:nvSpPr>
        <p:spPr>
          <a:xfrm>
            <a:off x="3474720" y="397764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built</a:t>
            </a:r>
            <a:endParaRPr lang="en-US" sz="1050" dirty="0"/>
          </a:p>
        </p:txBody>
      </p:sp>
      <p:sp>
        <p:nvSpPr>
          <p:cNvPr id="33" name="Text 31"/>
          <p:cNvSpPr txBox="1"/>
          <p:nvPr/>
        </p:nvSpPr>
        <p:spPr>
          <a:xfrm>
            <a:off x="3474720" y="4389120"/>
            <a:ext cx="2286000" cy="640080"/>
          </a:xfrm>
          <a:prstGeom prst="rect">
            <a:avLst/>
          </a:prstGeom>
          <a:noFill/>
          <a:ln/>
        </p:spPr>
        <p:txBody>
          <a:bodyPr wrap="square" lIns="0" tIns="0" rIns="0" bIns="0" rtlCol="0" anchor="t"/>
          <a:lstStyle/>
          <a:p>
            <a:pPr indent="0" marL="0">
              <a:buNone/>
            </a:pPr>
            <a:r>
              <a:rPr lang="en-US" sz="1500" b="1" dirty="0">
                <a:solidFill>
                  <a:srgbClr val="14324D"/>
                </a:solidFill>
                <a:latin typeface="Arial" pitchFamily="34" charset="0"/>
                <a:ea typeface="Arial" pitchFamily="34" charset="-122"/>
                <a:cs typeface="Arial" pitchFamily="34" charset="-120"/>
              </a:rPr>
              <a:t>Progress per NIPUN Lakshya</a:t>
            </a:r>
            <a:endParaRPr lang="en-US" sz="1500" dirty="0"/>
          </a:p>
        </p:txBody>
      </p:sp>
      <p:sp>
        <p:nvSpPr>
          <p:cNvPr id="34" name="Text 32"/>
          <p:cNvSpPr txBox="1"/>
          <p:nvPr/>
        </p:nvSpPr>
        <p:spPr>
          <a:xfrm>
            <a:off x="3474720" y="5029200"/>
            <a:ext cx="2286000" cy="777240"/>
          </a:xfrm>
          <a:prstGeom prst="rect">
            <a:avLst/>
          </a:prstGeom>
          <a:noFill/>
          <a:ln/>
        </p:spPr>
        <p:txBody>
          <a:bodyPr wrap="square" lIns="0" tIns="0" rIns="0" bIns="0" rtlCol="0" anchor="t"/>
          <a:lstStyle/>
          <a:p>
            <a:pPr indent="0" marL="0">
              <a:buNone/>
            </a:pPr>
            <a:r>
              <a:rPr lang="en-US" sz="1200" dirty="0">
                <a:solidFill>
                  <a:srgbClr val="1F2A37"/>
                </a:solidFill>
                <a:latin typeface="Arial" pitchFamily="34" charset="0"/>
                <a:ea typeface="Arial" pitchFamily="34" charset="-122"/>
                <a:cs typeface="Arial" pitchFamily="34" charset="-120"/>
              </a:rPr>
              <a:t>by week; CSV and PDF; no names</a:t>
            </a:r>
            <a:endParaRPr lang="en-US" sz="1200" dirty="0"/>
          </a:p>
        </p:txBody>
      </p:sp>
      <p:sp>
        <p:nvSpPr>
          <p:cNvPr id="35" name="Shape 33"/>
          <p:cNvSpPr/>
          <p:nvPr/>
        </p:nvSpPr>
        <p:spPr>
          <a:xfrm>
            <a:off x="6126480" y="3794760"/>
            <a:ext cx="2651760" cy="2103120"/>
          </a:xfrm>
          <a:prstGeom prst="roundRect">
            <a:avLst>
              <a:gd name="adj" fmla="val 4348"/>
            </a:avLst>
          </a:prstGeom>
          <a:solidFill>
            <a:srgbClr val="FBF8F3"/>
          </a:solidFill>
          <a:ln w="12700">
            <a:solidFill>
              <a:srgbClr val="D9D2C5"/>
            </a:solidFill>
            <a:prstDash val="solid"/>
          </a:ln>
        </p:spPr>
      </p:sp>
      <p:sp>
        <p:nvSpPr>
          <p:cNvPr id="36" name="Shape 34"/>
          <p:cNvSpPr/>
          <p:nvPr/>
        </p:nvSpPr>
        <p:spPr>
          <a:xfrm>
            <a:off x="6309360" y="3977640"/>
            <a:ext cx="914400" cy="292608"/>
          </a:xfrm>
          <a:prstGeom prst="roundRect">
            <a:avLst>
              <a:gd name="adj" fmla="val 50000"/>
            </a:avLst>
          </a:prstGeom>
          <a:solidFill>
            <a:srgbClr val="D9822B"/>
          </a:solidFill>
          <a:ln w="12700">
            <a:solidFill>
              <a:srgbClr val="D9822B"/>
            </a:solidFill>
            <a:prstDash val="solid"/>
          </a:ln>
        </p:spPr>
      </p:sp>
      <p:sp>
        <p:nvSpPr>
          <p:cNvPr id="37" name="Text 35"/>
          <p:cNvSpPr txBox="1"/>
          <p:nvPr/>
        </p:nvSpPr>
        <p:spPr>
          <a:xfrm>
            <a:off x="6309360" y="397764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new</a:t>
            </a:r>
            <a:endParaRPr lang="en-US" sz="1050" dirty="0"/>
          </a:p>
        </p:txBody>
      </p:sp>
      <p:sp>
        <p:nvSpPr>
          <p:cNvPr id="38" name="Text 36"/>
          <p:cNvSpPr txBox="1"/>
          <p:nvPr/>
        </p:nvSpPr>
        <p:spPr>
          <a:xfrm>
            <a:off x="6309360" y="4389120"/>
            <a:ext cx="2286000" cy="640080"/>
          </a:xfrm>
          <a:prstGeom prst="rect">
            <a:avLst/>
          </a:prstGeom>
          <a:noFill/>
          <a:ln/>
        </p:spPr>
        <p:txBody>
          <a:bodyPr wrap="square" lIns="0" tIns="0" rIns="0" bIns="0" rtlCol="0" anchor="t"/>
          <a:lstStyle/>
          <a:p>
            <a:pPr indent="0" marL="0">
              <a:buNone/>
            </a:pPr>
            <a:r>
              <a:rPr lang="en-US" sz="1500" b="1" dirty="0">
                <a:solidFill>
                  <a:srgbClr val="14324D"/>
                </a:solidFill>
                <a:latin typeface="Arial" pitchFamily="34" charset="0"/>
                <a:ea typeface="Arial" pitchFamily="34" charset="-122"/>
                <a:cs typeface="Arial" pitchFamily="34" charset="-120"/>
              </a:rPr>
              <a:t>Community voice corpus</a:t>
            </a:r>
            <a:endParaRPr lang="en-US" sz="1500" dirty="0"/>
          </a:p>
        </p:txBody>
      </p:sp>
      <p:sp>
        <p:nvSpPr>
          <p:cNvPr id="39" name="Text 37"/>
          <p:cNvSpPr txBox="1"/>
          <p:nvPr/>
        </p:nvSpPr>
        <p:spPr>
          <a:xfrm>
            <a:off x="6309360" y="5029200"/>
            <a:ext cx="2286000" cy="777240"/>
          </a:xfrm>
          <a:prstGeom prst="rect">
            <a:avLst/>
          </a:prstGeom>
          <a:noFill/>
          <a:ln/>
        </p:spPr>
        <p:txBody>
          <a:bodyPr wrap="square" lIns="0" tIns="0" rIns="0" bIns="0" rtlCol="0" anchor="t"/>
          <a:lstStyle/>
          <a:p>
            <a:pPr indent="0" marL="0">
              <a:buNone/>
            </a:pPr>
            <a:r>
              <a:rPr lang="en-US" sz="1200" dirty="0">
                <a:solidFill>
                  <a:srgbClr val="1F2A37"/>
                </a:solidFill>
                <a:latin typeface="Arial" pitchFamily="34" charset="0"/>
                <a:ea typeface="Arial" pitchFamily="34" charset="-122"/>
                <a:cs typeface="Arial" pitchFamily="34" charset="-120"/>
              </a:rPr>
              <a:t>adults only, consent, stays on the laptop</a:t>
            </a:r>
            <a:endParaRPr lang="en-US" sz="1200" dirty="0"/>
          </a:p>
        </p:txBody>
      </p:sp>
      <p:sp>
        <p:nvSpPr>
          <p:cNvPr id="40" name="Shape 38"/>
          <p:cNvSpPr/>
          <p:nvPr/>
        </p:nvSpPr>
        <p:spPr>
          <a:xfrm>
            <a:off x="8961120" y="3794760"/>
            <a:ext cx="2651760" cy="2103120"/>
          </a:xfrm>
          <a:prstGeom prst="roundRect">
            <a:avLst>
              <a:gd name="adj" fmla="val 4348"/>
            </a:avLst>
          </a:prstGeom>
          <a:solidFill>
            <a:srgbClr val="FBF8F3"/>
          </a:solidFill>
          <a:ln w="12700">
            <a:solidFill>
              <a:srgbClr val="D9D2C5"/>
            </a:solidFill>
            <a:prstDash val="solid"/>
          </a:ln>
        </p:spPr>
      </p:sp>
      <p:sp>
        <p:nvSpPr>
          <p:cNvPr id="41" name="Shape 39"/>
          <p:cNvSpPr/>
          <p:nvPr/>
        </p:nvSpPr>
        <p:spPr>
          <a:xfrm>
            <a:off x="9144000" y="3977640"/>
            <a:ext cx="914400" cy="292608"/>
          </a:xfrm>
          <a:prstGeom prst="roundRect">
            <a:avLst>
              <a:gd name="adj" fmla="val 50000"/>
            </a:avLst>
          </a:prstGeom>
          <a:solidFill>
            <a:srgbClr val="1E7A45"/>
          </a:solidFill>
          <a:ln w="12700">
            <a:solidFill>
              <a:srgbClr val="1E7A45"/>
            </a:solidFill>
            <a:prstDash val="solid"/>
          </a:ln>
        </p:spPr>
      </p:sp>
      <p:sp>
        <p:nvSpPr>
          <p:cNvPr id="42" name="Text 40"/>
          <p:cNvSpPr txBox="1"/>
          <p:nvPr/>
        </p:nvSpPr>
        <p:spPr>
          <a:xfrm>
            <a:off x="9144000" y="3977640"/>
            <a:ext cx="9144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built</a:t>
            </a:r>
            <a:endParaRPr lang="en-US" sz="1050" dirty="0"/>
          </a:p>
        </p:txBody>
      </p:sp>
      <p:sp>
        <p:nvSpPr>
          <p:cNvPr id="43" name="Text 41"/>
          <p:cNvSpPr txBox="1"/>
          <p:nvPr/>
        </p:nvSpPr>
        <p:spPr>
          <a:xfrm>
            <a:off x="9144000" y="4389120"/>
            <a:ext cx="2286000" cy="640080"/>
          </a:xfrm>
          <a:prstGeom prst="rect">
            <a:avLst/>
          </a:prstGeom>
          <a:noFill/>
          <a:ln/>
        </p:spPr>
        <p:txBody>
          <a:bodyPr wrap="square" lIns="0" tIns="0" rIns="0" bIns="0" rtlCol="0" anchor="t"/>
          <a:lstStyle/>
          <a:p>
            <a:pPr indent="0" marL="0">
              <a:buNone/>
            </a:pPr>
            <a:r>
              <a:rPr lang="en-US" sz="1500" b="1" dirty="0">
                <a:solidFill>
                  <a:srgbClr val="14324D"/>
                </a:solidFill>
                <a:latin typeface="Arial" pitchFamily="34" charset="0"/>
                <a:ea typeface="Arial" pitchFamily="34" charset="-122"/>
                <a:cs typeface="Arial" pitchFamily="34" charset="-120"/>
              </a:rPr>
              <a:t>Low-resource bootstrapping</a:t>
            </a:r>
            <a:endParaRPr lang="en-US" sz="1500" dirty="0"/>
          </a:p>
        </p:txBody>
      </p:sp>
      <p:sp>
        <p:nvSpPr>
          <p:cNvPr id="44" name="Text 42"/>
          <p:cNvSpPr txBox="1"/>
          <p:nvPr/>
        </p:nvSpPr>
        <p:spPr>
          <a:xfrm>
            <a:off x="9144000" y="5029200"/>
            <a:ext cx="2286000" cy="777240"/>
          </a:xfrm>
          <a:prstGeom prst="rect">
            <a:avLst/>
          </a:prstGeom>
          <a:noFill/>
          <a:ln/>
        </p:spPr>
        <p:txBody>
          <a:bodyPr wrap="square" lIns="0" tIns="0" rIns="0" bIns="0" rtlCol="0" anchor="t"/>
          <a:lstStyle/>
          <a:p>
            <a:pPr indent="0" marL="0">
              <a:buNone/>
            </a:pPr>
            <a:r>
              <a:rPr lang="en-US" sz="1200" dirty="0">
                <a:solidFill>
                  <a:srgbClr val="1F2A37"/>
                </a:solidFill>
                <a:latin typeface="Arial" pitchFamily="34" charset="0"/>
                <a:ea typeface="Arial" pitchFamily="34" charset="-122"/>
                <a:cs typeface="Arial" pitchFamily="34" charset="-120"/>
              </a:rPr>
              <a:t>glossary-first; Mundari by LoRA (preview)</a:t>
            </a:r>
            <a:endParaRPr lang="en-US" sz="1200" dirty="0"/>
          </a:p>
        </p:txBody>
      </p:sp>
      <p:sp>
        <p:nvSpPr>
          <p:cNvPr id="45" name="Text 43"/>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docs/feature_traceability.md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10</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No native speaker yet: so nothing doubtful is played as if it were right</a:t>
            </a:r>
            <a:endParaRPr lang="en-US" sz="2800" dirty="0"/>
          </a:p>
        </p:txBody>
      </p:sp>
      <p:pic>
        <p:nvPicPr>
          <p:cNvPr id="5" name="Image 0" descr="/tmp/claude-0/deckwork/assets/ui_tierC_en.png">    </p:cNvPr>
          <p:cNvPicPr>
            <a:picLocks noChangeAspect="1"/>
          </p:cNvPicPr>
          <p:nvPr/>
        </p:nvPicPr>
        <p:blipFill>
          <a:blip r:embed="rId1"/>
          <a:stretch>
            <a:fillRect/>
          </a:stretch>
        </p:blipFill>
        <p:spPr>
          <a:xfrm>
            <a:off x="457200" y="1463040"/>
            <a:ext cx="6035040" cy="2734056"/>
          </a:xfrm>
          <a:prstGeom prst="rect">
            <a:avLst/>
          </a:prstGeom>
        </p:spPr>
      </p:pic>
      <p:sp>
        <p:nvSpPr>
          <p:cNvPr id="6" name="Text 3"/>
          <p:cNvSpPr txBox="1"/>
          <p:nvPr/>
        </p:nvSpPr>
        <p:spPr>
          <a:xfrm>
            <a:off x="457200" y="4279392"/>
            <a:ext cx="6035040" cy="411480"/>
          </a:xfrm>
          <a:prstGeom prst="rect">
            <a:avLst/>
          </a:prstGeom>
          <a:noFill/>
          <a:ln/>
        </p:spPr>
        <p:txBody>
          <a:bodyPr wrap="square" lIns="0" tIns="0" rIns="0" bIns="0" rtlCol="0" anchor="ctr"/>
          <a:lstStyle/>
          <a:p>
            <a:pPr indent="0" marL="0">
              <a:buNone/>
            </a:pPr>
            <a:r>
              <a:rPr lang="en-US" sz="1200" i="1" dirty="0">
                <a:solidFill>
                  <a:srgbClr val="5B6573"/>
                </a:solidFill>
                <a:latin typeface="Arial" pitchFamily="34" charset="0"/>
                <a:ea typeface="Arial" pitchFamily="34" charset="-122"/>
                <a:cs typeface="Arial" pitchFamily="34" charset="-120"/>
              </a:rPr>
              <a:t>A flagged line: tier C, a warning, no auto-play, the nearest verified sentence offered.</a:t>
            </a:r>
            <a:endParaRPr lang="en-US" sz="1200" dirty="0"/>
          </a:p>
        </p:txBody>
      </p:sp>
      <p:sp>
        <p:nvSpPr>
          <p:cNvPr id="7" name="Text 4"/>
          <p:cNvSpPr txBox="1"/>
          <p:nvPr/>
        </p:nvSpPr>
        <p:spPr>
          <a:xfrm>
            <a:off x="6766560" y="1463040"/>
            <a:ext cx="498348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A37"/>
                </a:solidFill>
                <a:latin typeface="Arial" pitchFamily="34" charset="0"/>
                <a:ea typeface="Arial" pitchFamily="34" charset="-122"/>
                <a:cs typeface="Arial" pitchFamily="34" charset="-120"/>
              </a:rPr>
              <a:t>Round-trip check: a caution, not a score</a:t>
            </a:r>
            <a:endParaRPr lang="en-US" sz="1600" dirty="0"/>
          </a:p>
          <a:p>
            <a:pPr marL="342900" indent="-342900">
              <a:spcAft>
                <a:spcPts val="800"/>
              </a:spcAft>
              <a:buSzPct val="100000"/>
              <a:buChar char="•"/>
            </a:pPr>
            <a:r>
              <a:rPr lang="en-US" sz="1600" dirty="0">
                <a:solidFill>
                  <a:srgbClr val="1F2A37"/>
                </a:solidFill>
                <a:latin typeface="Arial" pitchFamily="34" charset="0"/>
                <a:ea typeface="Arial" pitchFamily="34" charset="-122"/>
                <a:cs typeface="Arial" pitchFamily="34" charset="-120"/>
              </a:rPr>
              <a:t>Script guard: catches words in other scripts</a:t>
            </a:r>
            <a:endParaRPr lang="en-US" sz="1600" dirty="0"/>
          </a:p>
          <a:p>
            <a:pPr marL="342900" indent="-342900">
              <a:spcAft>
                <a:spcPts val="800"/>
              </a:spcAft>
              <a:buSzPct val="100000"/>
              <a:buChar char="•"/>
            </a:pPr>
            <a:r>
              <a:rPr lang="en-US" sz="1600" dirty="0">
                <a:solidFill>
                  <a:srgbClr val="1F2A37"/>
                </a:solidFill>
                <a:latin typeface="Arial" pitchFamily="34" charset="0"/>
                <a:ea typeface="Arial" pitchFamily="34" charset="-122"/>
                <a:cs typeface="Arial" pitchFamily="34" charset="-120"/>
              </a:rPr>
              <a:t>Every Santali line on a native-review list</a:t>
            </a:r>
            <a:endParaRPr lang="en-US" sz="1600" dirty="0"/>
          </a:p>
          <a:p>
            <a:pPr marL="342900" indent="-342900">
              <a:spcAft>
                <a:spcPts val="800"/>
              </a:spcAft>
              <a:buSzPct val="100000"/>
              <a:buChar char="•"/>
            </a:pPr>
            <a:r>
              <a:rPr lang="en-US" sz="1600" dirty="0">
                <a:solidFill>
                  <a:srgbClr val="1F2A37"/>
                </a:solidFill>
                <a:latin typeface="Arial" pitchFamily="34" charset="0"/>
                <a:ea typeface="Arial" pitchFamily="34" charset="-122"/>
                <a:cs typeface="Arial" pitchFamily="34" charset="-120"/>
              </a:rPr>
              <a:t>No cloud, no names; reading audio deleted</a:t>
            </a:r>
            <a:endParaRPr lang="en-US" sz="1600" dirty="0"/>
          </a:p>
        </p:txBody>
      </p:sp>
      <p:sp>
        <p:nvSpPr>
          <p:cNvPr id="8" name="Shape 5"/>
          <p:cNvSpPr/>
          <p:nvPr/>
        </p:nvSpPr>
        <p:spPr>
          <a:xfrm>
            <a:off x="457200" y="4846320"/>
            <a:ext cx="2926080" cy="1417320"/>
          </a:xfrm>
          <a:prstGeom prst="roundRect">
            <a:avLst>
              <a:gd name="adj" fmla="val 7742"/>
            </a:avLst>
          </a:prstGeom>
          <a:solidFill>
            <a:srgbClr val="B03A2E"/>
          </a:solidFill>
          <a:ln w="12700">
            <a:solidFill>
              <a:srgbClr val="B03A2E"/>
            </a:solidFill>
            <a:prstDash val="solid"/>
          </a:ln>
        </p:spPr>
      </p:sp>
      <p:sp>
        <p:nvSpPr>
          <p:cNvPr id="9" name="Text 6"/>
          <p:cNvSpPr txBox="1"/>
          <p:nvPr/>
        </p:nvSpPr>
        <p:spPr>
          <a:xfrm>
            <a:off x="594360" y="4956048"/>
            <a:ext cx="2651760" cy="7086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13 of 119</a:t>
            </a:r>
            <a:endParaRPr lang="en-US" sz="3000" dirty="0"/>
          </a:p>
        </p:txBody>
      </p:sp>
      <p:sp>
        <p:nvSpPr>
          <p:cNvPr id="10" name="Text 7"/>
          <p:cNvSpPr txBox="1"/>
          <p:nvPr/>
        </p:nvSpPr>
        <p:spPr>
          <a:xfrm>
            <a:off x="594360" y="5625846"/>
            <a:ext cx="2651760" cy="566928"/>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lesson lines with Urdu / Meetei letters: now tier C</a:t>
            </a:r>
            <a:endParaRPr lang="en-US" sz="1250" dirty="0"/>
          </a:p>
        </p:txBody>
      </p:sp>
      <p:sp>
        <p:nvSpPr>
          <p:cNvPr id="11" name="Shape 8"/>
          <p:cNvSpPr/>
          <p:nvPr/>
        </p:nvSpPr>
        <p:spPr>
          <a:xfrm>
            <a:off x="3566160" y="4846320"/>
            <a:ext cx="2926080" cy="1417320"/>
          </a:xfrm>
          <a:prstGeom prst="roundRect">
            <a:avLst>
              <a:gd name="adj" fmla="val 7742"/>
            </a:avLst>
          </a:prstGeom>
          <a:solidFill>
            <a:srgbClr val="14324D"/>
          </a:solidFill>
          <a:ln w="12700">
            <a:solidFill>
              <a:srgbClr val="14324D"/>
            </a:solidFill>
            <a:prstDash val="solid"/>
          </a:ln>
        </p:spPr>
      </p:sp>
      <p:sp>
        <p:nvSpPr>
          <p:cNvPr id="12" name="Text 9"/>
          <p:cNvSpPr txBox="1"/>
          <p:nvPr/>
        </p:nvSpPr>
        <p:spPr>
          <a:xfrm>
            <a:off x="3703320" y="4956048"/>
            <a:ext cx="2651760" cy="7086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0.46 / 0.45</a:t>
            </a:r>
            <a:endParaRPr lang="en-US" sz="3000" dirty="0"/>
          </a:p>
        </p:txBody>
      </p:sp>
      <p:sp>
        <p:nvSpPr>
          <p:cNvPr id="13" name="Text 10"/>
          <p:cNvSpPr txBox="1"/>
          <p:nvPr/>
        </p:nvSpPr>
        <p:spPr>
          <a:xfrm>
            <a:off x="3703320" y="5625846"/>
            <a:ext cx="2651760" cy="566928"/>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round-trip flag precision / recall</a:t>
            </a:r>
            <a:endParaRPr lang="en-US" sz="1250" dirty="0"/>
          </a:p>
        </p:txBody>
      </p:sp>
      <p:sp>
        <p:nvSpPr>
          <p:cNvPr id="14" name="Text 11"/>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eval/results/roundtrip_flag.md; docs/fln_translation_sample.md; docs/native_review.md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11</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Where we win: the classroom job, not the translation model</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377440"/>
                <a:gridCol w="2468880"/>
                <a:gridCol w="1600200"/>
                <a:gridCol w="1600200"/>
                <a:gridCol w="1600200"/>
                <a:gridCol w="1600200"/>
              </a:tblGrid>
              <a:tr h="566928">
                <a:tc>
                  <a:txBody>
                    <a:bodyPr/>
                    <a:lstStyle/>
                    <a:p>
                      <a:pPr indent="0" marL="0">
                        <a:buNone/>
                      </a:pP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Nijbhasha</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Translate wrapper</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Online-only app</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Text-only tool</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LLM chatbot</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r>
              <a:tr h="566928">
                <a:tc>
                  <a:txBody>
                    <a:bodyPr/>
                    <a:lstStyle/>
                    <a:p>
                      <a:pPr indent="0" marL="0">
                        <a:buNone/>
                      </a:pPr>
                      <a:r>
                        <a:rPr lang="en-US" sz="1200" dirty="0">
                          <a:solidFill>
                            <a:srgbClr val="1F2A37"/>
                          </a:solidFill>
                          <a:latin typeface="Arial" pitchFamily="34" charset="0"/>
                          <a:ea typeface="Arial" pitchFamily="34" charset="-122"/>
                          <a:cs typeface="Arial" pitchFamily="34" charset="-120"/>
                        </a:rPr>
                        <a:t>Works with no internet</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b="1" dirty="0">
                          <a:solidFill>
                            <a:srgbClr val="1E7A45"/>
                          </a:solidFill>
                          <a:latin typeface="Arial" pitchFamily="34" charset="0"/>
                          <a:ea typeface="Arial" pitchFamily="34" charset="-122"/>
                          <a:cs typeface="Arial" pitchFamily="34" charset="-120"/>
                        </a:rPr>
                        <a:t>Yes, tablet in airplane mode</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Sometimes</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566928">
                <a:tc>
                  <a:txBody>
                    <a:bodyPr/>
                    <a:lstStyle/>
                    <a:p>
                      <a:pPr indent="0" marL="0">
                        <a:buNone/>
                      </a:pPr>
                      <a:r>
                        <a:rPr lang="en-US" sz="1200" dirty="0">
                          <a:solidFill>
                            <a:srgbClr val="1F2A37"/>
                          </a:solidFill>
                          <a:latin typeface="Arial" pitchFamily="34" charset="0"/>
                          <a:ea typeface="Arial" pitchFamily="34" charset="-122"/>
                          <a:cs typeface="Arial" pitchFamily="34" charset="-120"/>
                        </a:rPr>
                        <a:t>Voice to voice</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b="1" dirty="0">
                          <a:solidFill>
                            <a:srgbClr val="1E7A45"/>
                          </a:solidFill>
                          <a:latin typeface="Arial" pitchFamily="34" charset="0"/>
                          <a:ea typeface="Arial" pitchFamily="34" charset="-122"/>
                          <a:cs typeface="Arial" pitchFamily="34" charset="-120"/>
                        </a:rPr>
                        <a:t>Both ways; 0.70 s on tablet</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Some apps</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Network-bound</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Slow, online</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566928">
                <a:tc>
                  <a:txBody>
                    <a:bodyPr/>
                    <a:lstStyle/>
                    <a:p>
                      <a:pPr indent="0" marL="0">
                        <a:buNone/>
                      </a:pPr>
                      <a:r>
                        <a:rPr lang="en-US" sz="1200" dirty="0">
                          <a:solidFill>
                            <a:srgbClr val="1F2A37"/>
                          </a:solidFill>
                          <a:latin typeface="Arial" pitchFamily="34" charset="0"/>
                          <a:ea typeface="Arial" pitchFamily="34" charset="-122"/>
                          <a:cs typeface="Arial" pitchFamily="34" charset="-120"/>
                        </a:rPr>
                        <a:t>Santali in Ol Chiki</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b="1" dirty="0">
                          <a:solidFill>
                            <a:srgbClr val="1E7A45"/>
                          </a:solidFill>
                          <a:latin typeface="Arial" pitchFamily="34" charset="0"/>
                          <a:ea typeface="Arial" pitchFamily="34" charset="-122"/>
                          <a:cs typeface="Arial" pitchFamily="34" charset="-120"/>
                        </a:rPr>
                        <a:t>Yes; Mundari preview</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Santali only</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Varies</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Varies</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Unreliable</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566928">
                <a:tc>
                  <a:txBody>
                    <a:bodyPr/>
                    <a:lstStyle/>
                    <a:p>
                      <a:pPr indent="0" marL="0">
                        <a:buNone/>
                      </a:pPr>
                      <a:r>
                        <a:rPr lang="en-US" sz="1200" dirty="0">
                          <a:solidFill>
                            <a:srgbClr val="1F2A37"/>
                          </a:solidFill>
                          <a:latin typeface="Arial" pitchFamily="34" charset="0"/>
                          <a:ea typeface="Arial" pitchFamily="34" charset="-122"/>
                          <a:cs typeface="Arial" pitchFamily="34" charset="-120"/>
                        </a:rPr>
                        <a:t>NIPUN lessons + worksheets</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b="1" dirty="0">
                          <a:solidFill>
                            <a:srgbClr val="1E7A45"/>
                          </a:solidFill>
                          <a:latin typeface="Arial" pitchFamily="34" charset="0"/>
                          <a:ea typeface="Arial" pitchFamily="34" charset="-122"/>
                          <a:cs typeface="Arial" pitchFamily="34" charset="-120"/>
                        </a:rPr>
                        <a:t>18 lessons, every Lakshya</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Rarely</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Sometimes</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Ad hoc</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566928">
                <a:tc>
                  <a:txBody>
                    <a:bodyPr/>
                    <a:lstStyle/>
                    <a:p>
                      <a:pPr indent="0" marL="0">
                        <a:buNone/>
                      </a:pPr>
                      <a:r>
                        <a:rPr lang="en-US" sz="1200" dirty="0">
                          <a:solidFill>
                            <a:srgbClr val="1F2A37"/>
                          </a:solidFill>
                          <a:latin typeface="Arial" pitchFamily="34" charset="0"/>
                          <a:ea typeface="Arial" pitchFamily="34" charset="-122"/>
                          <a:cs typeface="Arial" pitchFamily="34" charset="-120"/>
                        </a:rPr>
                        <a:t>Flags doubtful output</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b="1" dirty="0">
                          <a:solidFill>
                            <a:srgbClr val="1E7A45"/>
                          </a:solidFill>
                          <a:latin typeface="Arial" pitchFamily="34" charset="0"/>
                          <a:ea typeface="Arial" pitchFamily="34" charset="-122"/>
                          <a:cs typeface="Arial" pitchFamily="34" charset="-120"/>
                        </a:rPr>
                        <a:t>Tiers + 3 guards</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Rarely</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Rarely</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566928">
                <a:tc>
                  <a:txBody>
                    <a:bodyPr/>
                    <a:lstStyle/>
                    <a:p>
                      <a:pPr indent="0" marL="0">
                        <a:buNone/>
                      </a:pPr>
                      <a:r>
                        <a:rPr lang="en-US" sz="1200" dirty="0">
                          <a:solidFill>
                            <a:srgbClr val="1F2A37"/>
                          </a:solidFill>
                          <a:latin typeface="Arial" pitchFamily="34" charset="0"/>
                          <a:ea typeface="Arial" pitchFamily="34" charset="-122"/>
                          <a:cs typeface="Arial" pitchFamily="34" charset="-120"/>
                        </a:rPr>
                        <a:t>Child data stays local</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b="1" dirty="0">
                          <a:solidFill>
                            <a:srgbClr val="1E7A45"/>
                          </a:solidFill>
                          <a:latin typeface="Arial" pitchFamily="34" charset="0"/>
                          <a:ea typeface="Arial" pitchFamily="34" charset="-122"/>
                          <a:cs typeface="Arial" pitchFamily="34" charset="-120"/>
                        </a:rPr>
                        <a:t>Yes</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Cloud</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Cloud</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200" dirty="0">
                          <a:solidFill>
                            <a:srgbClr val="1F2A37"/>
                          </a:solidFill>
                          <a:latin typeface="Arial" pitchFamily="34" charset="0"/>
                          <a:ea typeface="Arial" pitchFamily="34" charset="-122"/>
                          <a:cs typeface="Arial" pitchFamily="34" charset="-120"/>
                        </a:rPr>
                        <a:t>Cloud</a:t>
                      </a:r>
                      <a:endParaRPr lang="en-US" sz="12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bl>
          </a:graphicData>
        </a:graphic>
      </p:graphicFrame>
      <p:sp>
        <p:nvSpPr>
          <p:cNvPr id="6" name="Text 3"/>
          <p:cNvSpPr txBox="1"/>
          <p:nvPr/>
        </p:nvSpPr>
        <p:spPr>
          <a:xfrm>
            <a:off x="457200" y="5715000"/>
            <a:ext cx="11247120" cy="365760"/>
          </a:xfrm>
          <a:prstGeom prst="rect">
            <a:avLst/>
          </a:prstGeom>
          <a:noFill/>
          <a:ln/>
        </p:spPr>
        <p:txBody>
          <a:bodyPr wrap="square" lIns="0" tIns="0" rIns="0" bIns="0" rtlCol="0" anchor="ctr"/>
          <a:lstStyle/>
          <a:p>
            <a:pPr indent="0" marL="0">
              <a:buNone/>
            </a:pPr>
            <a:r>
              <a:rPr lang="en-US" sz="1300" i="1" dirty="0">
                <a:solidFill>
                  <a:srgbClr val="5B6573"/>
                </a:solidFill>
                <a:latin typeface="Arial" pitchFamily="34" charset="0"/>
                <a:ea typeface="Arial" pitchFamily="34" charset="-122"/>
                <a:cs typeface="Arial" pitchFamily="34" charset="-120"/>
              </a:rPr>
              <a:t>We do not claim better translation quality than any of these.</a:t>
            </a:r>
            <a:endParaRPr lang="en-US" sz="1300" dirty="0"/>
          </a:p>
        </p:txBody>
      </p:sp>
      <p:sp>
        <p:nvSpPr>
          <p:cNvPr id="7" name="Text 4"/>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docs/audit_2026-09-28.md §5; Google Translate added Santali in 2024 (docs/sources.md)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12</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Built for PALASH scale: 1,041 schools today, 5,000+ in the brief</a:t>
            </a:r>
            <a:endParaRPr lang="en-US" sz="2800" dirty="0"/>
          </a:p>
        </p:txBody>
      </p:sp>
      <p:sp>
        <p:nvSpPr>
          <p:cNvPr id="5" name="Shape 3"/>
          <p:cNvSpPr/>
          <p:nvPr/>
        </p:nvSpPr>
        <p:spPr>
          <a:xfrm>
            <a:off x="457200" y="1463040"/>
            <a:ext cx="2651760" cy="1554480"/>
          </a:xfrm>
          <a:prstGeom prst="roundRect">
            <a:avLst>
              <a:gd name="adj" fmla="val 7059"/>
            </a:avLst>
          </a:prstGeom>
          <a:solidFill>
            <a:srgbClr val="14324D"/>
          </a:solidFill>
          <a:ln w="12700">
            <a:solidFill>
              <a:srgbClr val="14324D"/>
            </a:solidFill>
            <a:prstDash val="solid"/>
          </a:ln>
        </p:spPr>
      </p:sp>
      <p:sp>
        <p:nvSpPr>
          <p:cNvPr id="6" name="Text 4"/>
          <p:cNvSpPr txBox="1"/>
          <p:nvPr/>
        </p:nvSpPr>
        <p:spPr>
          <a:xfrm>
            <a:off x="594360" y="1572768"/>
            <a:ext cx="23774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1,041</a:t>
            </a:r>
            <a:endParaRPr lang="en-US" sz="3000" dirty="0"/>
          </a:p>
        </p:txBody>
      </p:sp>
      <p:sp>
        <p:nvSpPr>
          <p:cNvPr id="7" name="Text 5"/>
          <p:cNvSpPr txBox="1"/>
          <p:nvPr/>
        </p:nvSpPr>
        <p:spPr>
          <a:xfrm>
            <a:off x="594360" y="2318004"/>
            <a:ext cx="2377440" cy="621792"/>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PALASH schools, 8 of 24 districts</a:t>
            </a:r>
            <a:endParaRPr lang="en-US" sz="1250" dirty="0"/>
          </a:p>
        </p:txBody>
      </p:sp>
      <p:sp>
        <p:nvSpPr>
          <p:cNvPr id="8" name="Shape 6"/>
          <p:cNvSpPr/>
          <p:nvPr/>
        </p:nvSpPr>
        <p:spPr>
          <a:xfrm>
            <a:off x="3291840" y="1463040"/>
            <a:ext cx="2651760" cy="1554480"/>
          </a:xfrm>
          <a:prstGeom prst="roundRect">
            <a:avLst>
              <a:gd name="adj" fmla="val 7059"/>
            </a:avLst>
          </a:prstGeom>
          <a:solidFill>
            <a:srgbClr val="D9822B"/>
          </a:solidFill>
          <a:ln w="12700">
            <a:solidFill>
              <a:srgbClr val="D9822B"/>
            </a:solidFill>
            <a:prstDash val="solid"/>
          </a:ln>
        </p:spPr>
      </p:sp>
      <p:sp>
        <p:nvSpPr>
          <p:cNvPr id="9" name="Text 7"/>
          <p:cNvSpPr txBox="1"/>
          <p:nvPr/>
        </p:nvSpPr>
        <p:spPr>
          <a:xfrm>
            <a:off x="3429000" y="1572768"/>
            <a:ext cx="23774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5,000+</a:t>
            </a:r>
            <a:endParaRPr lang="en-US" sz="3000" dirty="0"/>
          </a:p>
        </p:txBody>
      </p:sp>
      <p:sp>
        <p:nvSpPr>
          <p:cNvPr id="10" name="Text 8"/>
          <p:cNvSpPr txBox="1"/>
          <p:nvPr/>
        </p:nvSpPr>
        <p:spPr>
          <a:xfrm>
            <a:off x="3429000" y="2318004"/>
            <a:ext cx="2377440" cy="621792"/>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tribal-area schools in the brief</a:t>
            </a:r>
            <a:endParaRPr lang="en-US" sz="1250" dirty="0"/>
          </a:p>
        </p:txBody>
      </p:sp>
      <p:sp>
        <p:nvSpPr>
          <p:cNvPr id="11" name="Shape 9"/>
          <p:cNvSpPr/>
          <p:nvPr/>
        </p:nvSpPr>
        <p:spPr>
          <a:xfrm>
            <a:off x="457200" y="3200400"/>
            <a:ext cx="2651760" cy="1554480"/>
          </a:xfrm>
          <a:prstGeom prst="roundRect">
            <a:avLst>
              <a:gd name="adj" fmla="val 7059"/>
            </a:avLst>
          </a:prstGeom>
          <a:solidFill>
            <a:srgbClr val="1E7A6E"/>
          </a:solidFill>
          <a:ln w="12700">
            <a:solidFill>
              <a:srgbClr val="1E7A6E"/>
            </a:solidFill>
            <a:prstDash val="solid"/>
          </a:ln>
        </p:spPr>
      </p:sp>
      <p:sp>
        <p:nvSpPr>
          <p:cNvPr id="12" name="Text 10"/>
          <p:cNvSpPr txBox="1"/>
          <p:nvPr/>
        </p:nvSpPr>
        <p:spPr>
          <a:xfrm>
            <a:off x="594360" y="3310128"/>
            <a:ext cx="23774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 tablet</a:t>
            </a:r>
            <a:endParaRPr lang="en-US" sz="3000" dirty="0"/>
          </a:p>
        </p:txBody>
      </p:sp>
      <p:sp>
        <p:nvSpPr>
          <p:cNvPr id="13" name="Text 11"/>
          <p:cNvSpPr txBox="1"/>
          <p:nvPr/>
        </p:nvSpPr>
        <p:spPr>
          <a:xfrm>
            <a:off x="594360" y="4055364"/>
            <a:ext cx="2377440" cy="621792"/>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per classroom; laptop optional</a:t>
            </a:r>
            <a:endParaRPr lang="en-US" sz="1250" dirty="0"/>
          </a:p>
        </p:txBody>
      </p:sp>
      <p:sp>
        <p:nvSpPr>
          <p:cNvPr id="14" name="Shape 12"/>
          <p:cNvSpPr/>
          <p:nvPr/>
        </p:nvSpPr>
        <p:spPr>
          <a:xfrm>
            <a:off x="3291840" y="3200400"/>
            <a:ext cx="2651760" cy="1554480"/>
          </a:xfrm>
          <a:prstGeom prst="roundRect">
            <a:avLst>
              <a:gd name="adj" fmla="val 7059"/>
            </a:avLst>
          </a:prstGeom>
          <a:solidFill>
            <a:srgbClr val="1E7A45"/>
          </a:solidFill>
          <a:ln w="12700">
            <a:solidFill>
              <a:srgbClr val="1E7A45"/>
            </a:solidFill>
            <a:prstDash val="solid"/>
          </a:ln>
        </p:spPr>
      </p:sp>
      <p:sp>
        <p:nvSpPr>
          <p:cNvPr id="15" name="Text 13"/>
          <p:cNvSpPr txBox="1"/>
          <p:nvPr/>
        </p:nvSpPr>
        <p:spPr>
          <a:xfrm>
            <a:off x="3429000" y="3310128"/>
            <a:ext cx="23774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₹0</a:t>
            </a:r>
            <a:endParaRPr lang="en-US" sz="3000" dirty="0"/>
          </a:p>
        </p:txBody>
      </p:sp>
      <p:sp>
        <p:nvSpPr>
          <p:cNvPr id="16" name="Text 14"/>
          <p:cNvSpPr txBox="1"/>
          <p:nvPr/>
        </p:nvSpPr>
        <p:spPr>
          <a:xfrm>
            <a:off x="3429000" y="4055364"/>
            <a:ext cx="2377440" cy="621792"/>
          </a:xfrm>
          <a:prstGeom prst="rect">
            <a:avLst/>
          </a:prstGeom>
          <a:noFill/>
          <a:ln/>
        </p:spPr>
        <p:txBody>
          <a:bodyPr wrap="square" lIns="0" tIns="0" rIns="0" bIns="0" rtlCol="0" anchor="t"/>
          <a:lstStyle/>
          <a:p>
            <a:pPr algn="ctr" indent="0" marL="0">
              <a:buNone/>
            </a:pPr>
            <a:r>
              <a:rPr lang="en-US" sz="1250" dirty="0">
                <a:solidFill>
                  <a:srgbClr val="FFFFFF"/>
                </a:solidFill>
                <a:latin typeface="Arial" pitchFamily="34" charset="0"/>
                <a:ea typeface="Arial" pitchFamily="34" charset="-122"/>
                <a:cs typeface="Arial" pitchFamily="34" charset="-120"/>
              </a:rPr>
              <a:t>licence or per-use fees</a:t>
            </a:r>
            <a:endParaRPr lang="en-US" sz="1250" dirty="0"/>
          </a:p>
        </p:txBody>
      </p:sp>
      <p:sp>
        <p:nvSpPr>
          <p:cNvPr id="17" name="Text 15"/>
          <p:cNvSpPr txBox="1"/>
          <p:nvPr/>
        </p:nvSpPr>
        <p:spPr>
          <a:xfrm>
            <a:off x="6400800" y="1463040"/>
            <a:ext cx="5303520" cy="411480"/>
          </a:xfrm>
          <a:prstGeom prst="rect">
            <a:avLst/>
          </a:prstGeom>
          <a:noFill/>
          <a:ln/>
        </p:spPr>
        <p:txBody>
          <a:bodyPr wrap="square" lIns="0" tIns="0" rIns="0" bIns="0" rtlCol="0" anchor="ctr"/>
          <a:lstStyle/>
          <a:p>
            <a:pPr indent="0" marL="0">
              <a:buNone/>
            </a:pPr>
            <a:r>
              <a:rPr lang="en-US" sz="1700" b="1" dirty="0">
                <a:solidFill>
                  <a:srgbClr val="14324D"/>
                </a:solidFill>
                <a:latin typeface="Arial" pitchFamily="34" charset="0"/>
                <a:ea typeface="Arial" pitchFamily="34" charset="-122"/>
                <a:cs typeface="Arial" pitchFamily="34" charset="-120"/>
              </a:rPr>
              <a:t>How it grows</a:t>
            </a:r>
            <a:endParaRPr lang="en-US" sz="1700" dirty="0"/>
          </a:p>
        </p:txBody>
      </p:sp>
      <p:sp>
        <p:nvSpPr>
          <p:cNvPr id="18" name="Text 16"/>
          <p:cNvSpPr txBox="1"/>
          <p:nvPr/>
        </p:nvSpPr>
        <p:spPr>
          <a:xfrm>
            <a:off x="6400800" y="1965960"/>
            <a:ext cx="53035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Santali now → Mundari (our LoRA, preview) → Ho once text exists</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Same pipeline for other Munda and low-resource languages</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Content = signed packs a district can build and send</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Proposed first step: a PALASH classroom pilot (not yet agreed)</a:t>
            </a:r>
            <a:endParaRPr lang="en-US" sz="1500" dirty="0"/>
          </a:p>
        </p:txBody>
      </p:sp>
      <p:sp>
        <p:nvSpPr>
          <p:cNvPr id="19" name="Text 17"/>
          <p:cNvSpPr txBox="1"/>
          <p:nvPr/>
        </p:nvSpPr>
        <p:spPr>
          <a:xfrm>
            <a:off x="457200" y="5120640"/>
            <a:ext cx="11247120" cy="548640"/>
          </a:xfrm>
          <a:prstGeom prst="rect">
            <a:avLst/>
          </a:prstGeom>
          <a:noFill/>
          <a:ln/>
        </p:spPr>
        <p:txBody>
          <a:bodyPr wrap="square" lIns="0" tIns="0" rIns="0" bIns="0" rtlCol="0" anchor="ctr"/>
          <a:lstStyle/>
          <a:p>
            <a:pPr indent="0" marL="0">
              <a:buNone/>
            </a:pPr>
            <a:r>
              <a:rPr lang="en-US" sz="1250" i="1" dirty="0">
                <a:solidFill>
                  <a:srgbClr val="5B6573"/>
                </a:solidFill>
                <a:latin typeface="Arial" pitchFamily="34" charset="0"/>
                <a:ea typeface="Arial" pitchFamily="34" charset="-122"/>
                <a:cs typeface="Arial" pitchFamily="34" charset="-120"/>
              </a:rPr>
              <a:t>Assumptions: hardware and training costs are not estimated; school counts are PALASH's and the brief's, not our reach.</a:t>
            </a:r>
            <a:endParaRPr lang="en-US" sz="1250" dirty="0"/>
          </a:p>
        </p:txBody>
      </p:sp>
      <p:sp>
        <p:nvSpPr>
          <p:cNvPr id="20" name="Text 18"/>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JEPC State Project Director to PTI (Jan 2026); SIH26042 brief; languages.json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13</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Roadmap: close the known gaps first, then grow with the community</a:t>
            </a:r>
            <a:endParaRPr lang="en-US" sz="2800" dirty="0"/>
          </a:p>
        </p:txBody>
      </p:sp>
      <p:sp>
        <p:nvSpPr>
          <p:cNvPr id="5" name="Shape 3"/>
          <p:cNvSpPr/>
          <p:nvPr/>
        </p:nvSpPr>
        <p:spPr>
          <a:xfrm>
            <a:off x="457200" y="1463040"/>
            <a:ext cx="3566160" cy="548640"/>
          </a:xfrm>
          <a:prstGeom prst="roundRect">
            <a:avLst>
              <a:gd name="adj" fmla="val 16667"/>
            </a:avLst>
          </a:prstGeom>
          <a:solidFill>
            <a:srgbClr val="14324D"/>
          </a:solidFill>
          <a:ln w="12700">
            <a:solidFill>
              <a:srgbClr val="14324D"/>
            </a:solidFill>
            <a:prstDash val="solid"/>
          </a:ln>
        </p:spPr>
      </p:sp>
      <p:sp>
        <p:nvSpPr>
          <p:cNvPr id="6" name="Text 4"/>
          <p:cNvSpPr txBox="1"/>
          <p:nvPr/>
        </p:nvSpPr>
        <p:spPr>
          <a:xfrm>
            <a:off x="457200" y="1463040"/>
            <a:ext cx="35661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30 days</a:t>
            </a:r>
            <a:endParaRPr lang="en-US" sz="1800" dirty="0"/>
          </a:p>
        </p:txBody>
      </p:sp>
      <p:sp>
        <p:nvSpPr>
          <p:cNvPr id="7" name="Shape 5"/>
          <p:cNvSpPr/>
          <p:nvPr/>
        </p:nvSpPr>
        <p:spPr>
          <a:xfrm>
            <a:off x="457200" y="2148840"/>
            <a:ext cx="3566160" cy="2468880"/>
          </a:xfrm>
          <a:prstGeom prst="roundRect">
            <a:avLst>
              <a:gd name="adj" fmla="val 3704"/>
            </a:avLst>
          </a:prstGeom>
          <a:solidFill>
            <a:srgbClr val="FBF8F3"/>
          </a:solidFill>
          <a:ln w="12700">
            <a:solidFill>
              <a:srgbClr val="D9D2C5"/>
            </a:solidFill>
            <a:prstDash val="solid"/>
          </a:ln>
        </p:spPr>
      </p:sp>
      <p:sp>
        <p:nvSpPr>
          <p:cNvPr id="8" name="Text 6"/>
          <p:cNvSpPr txBox="1"/>
          <p:nvPr/>
        </p:nvSpPr>
        <p:spPr>
          <a:xfrm>
            <a:off x="685800" y="2331720"/>
            <a:ext cx="315468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Native review of the 18 lessons</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32-bit ARM build; a real 2 GB tablet</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Demo video; APK release</a:t>
            </a:r>
            <a:endParaRPr lang="en-US" sz="1500" dirty="0"/>
          </a:p>
        </p:txBody>
      </p:sp>
      <p:sp>
        <p:nvSpPr>
          <p:cNvPr id="9" name="Shape 7"/>
          <p:cNvSpPr/>
          <p:nvPr/>
        </p:nvSpPr>
        <p:spPr>
          <a:xfrm>
            <a:off x="4297680" y="1463040"/>
            <a:ext cx="3566160" cy="548640"/>
          </a:xfrm>
          <a:prstGeom prst="roundRect">
            <a:avLst>
              <a:gd name="adj" fmla="val 16667"/>
            </a:avLst>
          </a:prstGeom>
          <a:solidFill>
            <a:srgbClr val="1E7A6E"/>
          </a:solidFill>
          <a:ln w="12700">
            <a:solidFill>
              <a:srgbClr val="1E7A6E"/>
            </a:solidFill>
            <a:prstDash val="solid"/>
          </a:ln>
        </p:spPr>
      </p:sp>
      <p:sp>
        <p:nvSpPr>
          <p:cNvPr id="10" name="Text 8"/>
          <p:cNvSpPr txBox="1"/>
          <p:nvPr/>
        </p:nvSpPr>
        <p:spPr>
          <a:xfrm>
            <a:off x="4297680" y="1463040"/>
            <a:ext cx="35661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90 days</a:t>
            </a:r>
            <a:endParaRPr lang="en-US" sz="1800" dirty="0"/>
          </a:p>
        </p:txBody>
      </p:sp>
      <p:sp>
        <p:nvSpPr>
          <p:cNvPr id="11" name="Shape 9"/>
          <p:cNvSpPr/>
          <p:nvPr/>
        </p:nvSpPr>
        <p:spPr>
          <a:xfrm>
            <a:off x="4297680" y="2148840"/>
            <a:ext cx="3566160" cy="2468880"/>
          </a:xfrm>
          <a:prstGeom prst="roundRect">
            <a:avLst>
              <a:gd name="adj" fmla="val 3704"/>
            </a:avLst>
          </a:prstGeom>
          <a:solidFill>
            <a:srgbClr val="FBF8F3"/>
          </a:solidFill>
          <a:ln w="12700">
            <a:solidFill>
              <a:srgbClr val="D9D2C5"/>
            </a:solidFill>
            <a:prstDash val="solid"/>
          </a:ln>
        </p:spPr>
      </p:sp>
      <p:sp>
        <p:nvSpPr>
          <p:cNvPr id="12" name="Text 10"/>
          <p:cNvSpPr txBox="1"/>
          <p:nvPr/>
        </p:nvSpPr>
        <p:spPr>
          <a:xfrm>
            <a:off x="4526280" y="2331720"/>
            <a:ext cx="315468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Proposed PALASH pilot, 5 classrooms</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Children's speech benchmark</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Mundari on the tablet</a:t>
            </a:r>
            <a:endParaRPr lang="en-US" sz="1500" dirty="0"/>
          </a:p>
        </p:txBody>
      </p:sp>
      <p:sp>
        <p:nvSpPr>
          <p:cNvPr id="13" name="Shape 11"/>
          <p:cNvSpPr/>
          <p:nvPr/>
        </p:nvSpPr>
        <p:spPr>
          <a:xfrm>
            <a:off x="8138160" y="1463040"/>
            <a:ext cx="3566160" cy="548640"/>
          </a:xfrm>
          <a:prstGeom prst="roundRect">
            <a:avLst>
              <a:gd name="adj" fmla="val 16667"/>
            </a:avLst>
          </a:prstGeom>
          <a:solidFill>
            <a:srgbClr val="D9822B"/>
          </a:solidFill>
          <a:ln w="12700">
            <a:solidFill>
              <a:srgbClr val="D9822B"/>
            </a:solidFill>
            <a:prstDash val="solid"/>
          </a:ln>
        </p:spPr>
      </p:sp>
      <p:sp>
        <p:nvSpPr>
          <p:cNvPr id="14" name="Text 12"/>
          <p:cNvSpPr txBox="1"/>
          <p:nvPr/>
        </p:nvSpPr>
        <p:spPr>
          <a:xfrm>
            <a:off x="8138160" y="1463040"/>
            <a:ext cx="356616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180 days</a:t>
            </a:r>
            <a:endParaRPr lang="en-US" sz="1800" dirty="0"/>
          </a:p>
        </p:txBody>
      </p:sp>
      <p:sp>
        <p:nvSpPr>
          <p:cNvPr id="15" name="Shape 13"/>
          <p:cNvSpPr/>
          <p:nvPr/>
        </p:nvSpPr>
        <p:spPr>
          <a:xfrm>
            <a:off x="8138160" y="2148840"/>
            <a:ext cx="3566160" cy="2468880"/>
          </a:xfrm>
          <a:prstGeom prst="roundRect">
            <a:avLst>
              <a:gd name="adj" fmla="val 3704"/>
            </a:avLst>
          </a:prstGeom>
          <a:solidFill>
            <a:srgbClr val="FBF8F3"/>
          </a:solidFill>
          <a:ln w="12700">
            <a:solidFill>
              <a:srgbClr val="D9D2C5"/>
            </a:solidFill>
            <a:prstDash val="solid"/>
          </a:ln>
        </p:spPr>
      </p:sp>
      <p:sp>
        <p:nvSpPr>
          <p:cNvPr id="16" name="Text 14"/>
          <p:cNvSpPr txBox="1"/>
          <p:nvPr/>
        </p:nvSpPr>
        <p:spPr>
          <a:xfrm>
            <a:off x="8366760" y="2331720"/>
            <a:ext cx="315468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Ho content with native writers</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Voice from the community corpus</a:t>
            </a:r>
            <a:endParaRPr lang="en-US" sz="1500" dirty="0"/>
          </a:p>
          <a:p>
            <a:pPr marL="342900" indent="-3429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Resumable pack download</a:t>
            </a:r>
            <a:endParaRPr lang="en-US" sz="1500" dirty="0"/>
          </a:p>
        </p:txBody>
      </p:sp>
      <p:sp>
        <p:nvSpPr>
          <p:cNvPr id="17" name="Text 15"/>
          <p:cNvSpPr txBox="1"/>
          <p:nvPr/>
        </p:nvSpPr>
        <p:spPr>
          <a:xfrm>
            <a:off x="457200" y="4937760"/>
            <a:ext cx="11247120" cy="640080"/>
          </a:xfrm>
          <a:prstGeom prst="rect">
            <a:avLst/>
          </a:prstGeom>
          <a:noFill/>
          <a:ln/>
        </p:spPr>
        <p:txBody>
          <a:bodyPr wrap="square" lIns="0" tIns="0" rIns="0" bIns="0" rtlCol="0" anchor="ctr"/>
          <a:lstStyle/>
          <a:p>
            <a:pPr indent="0" marL="0">
              <a:buNone/>
            </a:pPr>
            <a:r>
              <a:rPr lang="en-US" sz="1500" dirty="0">
                <a:solidFill>
                  <a:srgbClr val="1F2A37"/>
                </a:solidFill>
                <a:latin typeface="Arial" pitchFamily="34" charset="0"/>
                <a:ea typeface="Arial" pitchFamily="34" charset="-122"/>
                <a:cs typeface="Arial" pitchFamily="34" charset="-120"/>
              </a:rPr>
              <a:t>Sustained by: open models and MIT code; lessons as editable JSON; corrections and the voice corpus grow with use.</a:t>
            </a:r>
            <a:endParaRPr lang="en-US" sz="1500" dirty="0"/>
          </a:p>
        </p:txBody>
      </p:sp>
      <p:sp>
        <p:nvSpPr>
          <p:cNvPr id="18" name="Text 16"/>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docs/audit_2026-09-28.md §7 (checklist)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324D"/>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See it run: airplane mode, the timer on screen</a:t>
            </a:r>
            <a:endParaRPr lang="en-US" sz="3000" dirty="0"/>
          </a:p>
        </p:txBody>
      </p:sp>
      <p:sp>
        <p:nvSpPr>
          <p:cNvPr id="3" name="Shape 1"/>
          <p:cNvSpPr/>
          <p:nvPr/>
        </p:nvSpPr>
        <p:spPr>
          <a:xfrm>
            <a:off x="548640" y="1508760"/>
            <a:ext cx="502920" cy="502920"/>
          </a:xfrm>
          <a:prstGeom prst="ellipse">
            <a:avLst/>
          </a:prstGeom>
          <a:solidFill>
            <a:srgbClr val="D9822B"/>
          </a:solidFill>
          <a:ln w="12700">
            <a:solidFill>
              <a:srgbClr val="D9822B"/>
            </a:solidFill>
            <a:prstDash val="solid"/>
          </a:ln>
        </p:spPr>
      </p:sp>
      <p:sp>
        <p:nvSpPr>
          <p:cNvPr id="4" name="Text 2"/>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234440" y="1508760"/>
            <a:ext cx="6217920" cy="5029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Tablet in airplane mode: lessons load</a:t>
            </a:r>
            <a:endParaRPr lang="en-US" sz="1700" dirty="0"/>
          </a:p>
        </p:txBody>
      </p:sp>
      <p:sp>
        <p:nvSpPr>
          <p:cNvPr id="6" name="Shape 4"/>
          <p:cNvSpPr/>
          <p:nvPr/>
        </p:nvSpPr>
        <p:spPr>
          <a:xfrm>
            <a:off x="548640" y="2286000"/>
            <a:ext cx="502920" cy="502920"/>
          </a:xfrm>
          <a:prstGeom prst="ellipse">
            <a:avLst/>
          </a:prstGeom>
          <a:solidFill>
            <a:srgbClr val="D9822B"/>
          </a:solidFill>
          <a:ln w="12700">
            <a:solidFill>
              <a:srgbClr val="D9822B"/>
            </a:solidFill>
            <a:prstDash val="solid"/>
          </a:ln>
        </p:spPr>
      </p:sp>
      <p:sp>
        <p:nvSpPr>
          <p:cNvPr id="7" name="Text 5"/>
          <p:cNvSpPr txBox="1"/>
          <p:nvPr/>
        </p:nvSpPr>
        <p:spPr>
          <a:xfrm>
            <a:off x="548640" y="22860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txBox="1"/>
          <p:nvPr/>
        </p:nvSpPr>
        <p:spPr>
          <a:xfrm>
            <a:off x="1234440" y="2286000"/>
            <a:ext cx="6217920" cy="5029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Teacher says a lesson line → Santali in 0.7 s</a:t>
            </a:r>
            <a:endParaRPr lang="en-US" sz="1700" dirty="0"/>
          </a:p>
        </p:txBody>
      </p:sp>
      <p:sp>
        <p:nvSpPr>
          <p:cNvPr id="9" name="Shape 7"/>
          <p:cNvSpPr/>
          <p:nvPr/>
        </p:nvSpPr>
        <p:spPr>
          <a:xfrm>
            <a:off x="548640" y="3063240"/>
            <a:ext cx="502920" cy="502920"/>
          </a:xfrm>
          <a:prstGeom prst="ellipse">
            <a:avLst/>
          </a:prstGeom>
          <a:solidFill>
            <a:srgbClr val="D9822B"/>
          </a:solidFill>
          <a:ln w="12700">
            <a:solidFill>
              <a:srgbClr val="D9822B"/>
            </a:solidFill>
            <a:prstDash val="solid"/>
          </a:ln>
        </p:spPr>
      </p:sp>
      <p:sp>
        <p:nvSpPr>
          <p:cNvPr id="10" name="Text 8"/>
          <p:cNvSpPr txBox="1"/>
          <p:nvPr/>
        </p:nvSpPr>
        <p:spPr>
          <a:xfrm>
            <a:off x="548640" y="3063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txBox="1"/>
          <p:nvPr/>
        </p:nvSpPr>
        <p:spPr>
          <a:xfrm>
            <a:off x="1234440" y="3063240"/>
            <a:ext cx="6217920" cy="5029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Reading guide under the Santali</a:t>
            </a:r>
            <a:endParaRPr lang="en-US" sz="1700" dirty="0"/>
          </a:p>
        </p:txBody>
      </p:sp>
      <p:sp>
        <p:nvSpPr>
          <p:cNvPr id="12" name="Shape 10"/>
          <p:cNvSpPr/>
          <p:nvPr/>
        </p:nvSpPr>
        <p:spPr>
          <a:xfrm>
            <a:off x="548640" y="3840480"/>
            <a:ext cx="502920" cy="502920"/>
          </a:xfrm>
          <a:prstGeom prst="ellipse">
            <a:avLst/>
          </a:prstGeom>
          <a:solidFill>
            <a:srgbClr val="D9822B"/>
          </a:solidFill>
          <a:ln w="12700">
            <a:solidFill>
              <a:srgbClr val="D9822B"/>
            </a:solidFill>
            <a:prstDash val="solid"/>
          </a:ln>
        </p:spPr>
      </p:sp>
      <p:sp>
        <p:nvSpPr>
          <p:cNvPr id="13" name="Text 11"/>
          <p:cNvSpPr txBox="1"/>
          <p:nvPr/>
        </p:nvSpPr>
        <p:spPr>
          <a:xfrm>
            <a:off x="548640"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txBox="1"/>
          <p:nvPr/>
        </p:nvSpPr>
        <p:spPr>
          <a:xfrm>
            <a:off x="1234440" y="3840480"/>
            <a:ext cx="6217920" cy="5029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doubtful line: tier C, not played</a:t>
            </a:r>
            <a:endParaRPr lang="en-US" sz="1700" dirty="0"/>
          </a:p>
        </p:txBody>
      </p:sp>
      <p:sp>
        <p:nvSpPr>
          <p:cNvPr id="15" name="Shape 13"/>
          <p:cNvSpPr/>
          <p:nvPr/>
        </p:nvSpPr>
        <p:spPr>
          <a:xfrm>
            <a:off x="548640" y="4617720"/>
            <a:ext cx="502920" cy="502920"/>
          </a:xfrm>
          <a:prstGeom prst="ellipse">
            <a:avLst/>
          </a:prstGeom>
          <a:solidFill>
            <a:srgbClr val="D9822B"/>
          </a:solidFill>
          <a:ln w="12700">
            <a:solidFill>
              <a:srgbClr val="D9822B"/>
            </a:solidFill>
            <a:prstDash val="solid"/>
          </a:ln>
        </p:spPr>
      </p:sp>
      <p:sp>
        <p:nvSpPr>
          <p:cNvPr id="16" name="Text 14"/>
          <p:cNvSpPr txBox="1"/>
          <p:nvPr/>
        </p:nvSpPr>
        <p:spPr>
          <a:xfrm>
            <a:off x="548640" y="4617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txBox="1"/>
          <p:nvPr/>
        </p:nvSpPr>
        <p:spPr>
          <a:xfrm>
            <a:off x="1234440" y="4617720"/>
            <a:ext cx="6217920" cy="5029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Worksheet, flashcards, lesson plan print</a:t>
            </a:r>
            <a:endParaRPr lang="en-US" sz="1700" dirty="0"/>
          </a:p>
        </p:txBody>
      </p:sp>
      <p:pic>
        <p:nvPicPr>
          <p:cNvPr id="18" name="Image 0" descr="/tmp/claude-0/deckwork/assets/qr_repo.png">    </p:cNvPr>
          <p:cNvPicPr>
            <a:picLocks noChangeAspect="1"/>
          </p:cNvPicPr>
          <p:nvPr/>
        </p:nvPicPr>
        <p:blipFill>
          <a:blip r:embed="rId1"/>
          <a:stretch>
            <a:fillRect/>
          </a:stretch>
        </p:blipFill>
        <p:spPr>
          <a:xfrm>
            <a:off x="8595360" y="1417320"/>
            <a:ext cx="2377440" cy="2377440"/>
          </a:xfrm>
          <a:prstGeom prst="rect">
            <a:avLst/>
          </a:prstGeom>
        </p:spPr>
      </p:pic>
      <p:sp>
        <p:nvSpPr>
          <p:cNvPr id="19" name="Text 16">
            <a:hlinkClick r:id="rId2" tooltip=""/>
          </p:cNvPr>
          <p:cNvSpPr txBox="1"/>
          <p:nvPr/>
        </p:nvSpPr>
        <p:spPr>
          <a:xfrm>
            <a:off x="7680960" y="3886200"/>
            <a:ext cx="4206240" cy="365760"/>
          </a:xfrm>
          <a:prstGeom prst="rect">
            <a:avLst/>
          </a:prstGeom>
          <a:noFill/>
          <a:ln/>
        </p:spPr>
        <p:txBody>
          <a:bodyPr wrap="square" lIns="0" tIns="0" rIns="0" bIns="0" rtlCol="0" anchor="ctr"/>
          <a:lstStyle/>
          <a:p>
            <a:pPr algn="ctr" indent="0" marL="0">
              <a:buNone/>
            </a:pPr>
            <a:r>
              <a:rPr lang="en-US" sz="1300" u="sng" dirty="0">
                <a:solidFill>
                  <a:srgbClr val="C9D3DE"/>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github.com/barath0512s-rgb/nijbhasha</a:t>
            </a:r>
            <a:endParaRPr lang="en-US" sz="1300" dirty="0"/>
          </a:p>
        </p:txBody>
      </p:sp>
      <p:sp>
        <p:nvSpPr>
          <p:cNvPr id="20" name="Text 17"/>
          <p:cNvSpPr txBox="1"/>
          <p:nvPr/>
        </p:nvSpPr>
        <p:spPr>
          <a:xfrm>
            <a:off x="7680960" y="4297680"/>
            <a:ext cx="4206240" cy="365760"/>
          </a:xfrm>
          <a:prstGeom prst="rect">
            <a:avLst/>
          </a:prstGeom>
          <a:noFill/>
          <a:ln/>
        </p:spPr>
        <p:txBody>
          <a:bodyPr wrap="square" lIns="0" tIns="0" rIns="0" bIns="0" rtlCol="0" anchor="ctr"/>
          <a:lstStyle/>
          <a:p>
            <a:pPr algn="ctr" indent="0" marL="0">
              <a:buNone/>
            </a:pPr>
            <a:r>
              <a:rPr lang="en-US" sz="1300" dirty="0">
                <a:solidFill>
                  <a:srgbClr val="F2C27B"/>
                </a:solidFill>
                <a:latin typeface="Arial" pitchFamily="34" charset="0"/>
                <a:ea typeface="Arial" pitchFamily="34" charset="-122"/>
                <a:cs typeface="Arial" pitchFamily="34" charset="-120"/>
              </a:rPr>
              <a:t>Demo video: [add link after recording]</a:t>
            </a:r>
            <a:endParaRPr lang="en-US" sz="1300" dirty="0"/>
          </a:p>
        </p:txBody>
      </p:sp>
      <p:sp>
        <p:nvSpPr>
          <p:cNvPr id="21" name="Text 18"/>
          <p:cNvSpPr txBox="1"/>
          <p:nvPr/>
        </p:nvSpPr>
        <p:spPr>
          <a:xfrm>
            <a:off x="548640" y="5669280"/>
            <a:ext cx="10972800" cy="548640"/>
          </a:xfrm>
          <a:prstGeom prst="rect">
            <a:avLst/>
          </a:prstGeom>
          <a:noFill/>
          <a:ln/>
        </p:spPr>
        <p:txBody>
          <a:bodyPr wrap="square" lIns="0" tIns="0" rIns="0" bIns="0" rtlCol="0" anchor="ctr"/>
          <a:lstStyle/>
          <a:p>
            <a:pPr indent="0" marL="0">
              <a:buNone/>
            </a:pPr>
            <a:r>
              <a:rPr lang="en-US" sz="2200" b="1" dirty="0">
                <a:solidFill>
                  <a:srgbClr val="F2C27B"/>
                </a:solidFill>
                <a:latin typeface="Arial" pitchFamily="34" charset="0"/>
                <a:ea typeface="Arial" pitchFamily="34" charset="-122"/>
                <a:cs typeface="Arial" pitchFamily="34" charset="-120"/>
              </a:rPr>
              <a:t>Our ask: a native Santali reviewer and one PALASH classroom.</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15</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A1 · Data sources and licences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3931920"/>
                <a:gridCol w="4206240"/>
                <a:gridCol w="3108960"/>
              </a:tblGrid>
              <a:tr h="420624">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Used for</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Licence</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AI4Bharat IndicConformer 600M / 120M</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Speech recognition (hub / tablet)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MIT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AI4Bharat IndicTrans2 indic-indic 320M</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Translation, hub fp32 and tablet int8</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MIT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Piper hi_IN-pratham-medium</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Speech (Hindi, and Santali via transliteration)</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CC BY-NC-SA 4.0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sherpa-onnx 1.13.8 (with espeak-ng)</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On-device speech</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Apache-2.0 (espeak-ng GPL-3.0: APK under GPL-3.0)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Meta MMS voices mms-tts-unr / -hoc</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Mundari and Ho voices (preview)</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CC BY-NC 4.0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MMLoSo 2025 Hindi-Mundari data</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Mundari LoRA (18,978 training pairs)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CC BY-SA 4.0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IN22-Gen, IN22-Conv; FLORES-200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Evaluation only (leakage-guarded)</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CC BY 4.0; CC BY-SA 4.0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FLEURS (Hindi), IndicVoices (Santali valid.)</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Speech benchmarks, adult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CC BY 4.0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OpenMoji; Noto fonts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Pictures; Devanagari and Ol Chiki type</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CC BY-SA 4.0; OFL</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Our code</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Everything else</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MIT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bl>
          </a:graphicData>
        </a:graphic>
      </p:graphicFrame>
      <p:sp>
        <p:nvSpPr>
          <p:cNvPr id="6" name="Text 3"/>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THIRD_PARTY_LICENSES.md; docs/sources.md; languages.json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16</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A2 · Benchmarks (all offline)</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3657600"/>
                <a:gridCol w="3749040"/>
                <a:gridCol w="3840480"/>
              </a:tblGrid>
              <a:tr h="420624">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Measure</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Setting</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Result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Voice to voice, lesson lines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Realme Pad Mini, n = 50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p50 0.70 · p90 1.20 · p95 1.27 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Voice to voice, lesson lines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2 GB Android 9 emulator, n = 50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p50 0.50 · p90 0.82 · p95 0.93 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Hindi → Santali, free speech ≤ 17 words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Laptop hub, 3 runs × 32 (FLEURS)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p50 2.04 · p90 2.90 · p95 3.29 s; 8 of 96 &gt; 3 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Santali → Hindi, upload to reply</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Laptop hub, 80 answers per run</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p90 2.52–2.60 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Typed new sentence on the tablet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Realme / 2 GB emulator</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p50 1.50 s / 0.60 s</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Translation quality hi → sat</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IN22-Gen / IN22-Conv / FLORES-200</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chrF++ 31.3 / 32.2 / 27.4</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Mundari preview (our LoRA)</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Held-out 5 % of MMLoSo, n = 1,021</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chrF++ hi→unr 30.92 · unr→hi 35.97</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Speech recognition, WER (normalised)</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Hub 600M: Hindi / Santali</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12.5 % / 31.0 %</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400" dirty="0">
                          <a:solidFill>
                            <a:srgbClr val="1F2A37"/>
                          </a:solidFill>
                          <a:latin typeface="Arial" pitchFamily="34" charset="0"/>
                          <a:ea typeface="Arial" pitchFamily="34" charset="-122"/>
                          <a:cs typeface="Arial" pitchFamily="34" charset="-120"/>
                        </a:rPr>
                        <a:t>Peak memory</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Lessons / lesson-line voice / typing</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400" dirty="0">
                          <a:solidFill>
                            <a:srgbClr val="1F2A37"/>
                          </a:solidFill>
                          <a:latin typeface="Arial" pitchFamily="34" charset="0"/>
                          <a:ea typeface="Arial" pitchFamily="34" charset="-122"/>
                          <a:cs typeface="Arial" pitchFamily="34" charset="-120"/>
                        </a:rPr>
                        <a:t>0.30 / 0.75 / 1.30 GB</a:t>
                      </a:r>
                      <a:endParaRPr lang="en-US" sz="14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bl>
          </a:graphicData>
        </a:graphic>
      </p:graphicFrame>
      <p:sp>
        <p:nvSpPr>
          <p:cNvPr id="6" name="Text 3"/>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bench/results/latency_percentiles.md; eval/results/benchmarks.md; README §6; STATUS.md</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17</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A3 · How we keep the numbers honest</a:t>
            </a:r>
            <a:endParaRPr lang="en-US" sz="2800" dirty="0"/>
          </a:p>
        </p:txBody>
      </p:sp>
      <p:sp>
        <p:nvSpPr>
          <p:cNvPr id="5" name="Text 3"/>
          <p:cNvSpPr txBox="1"/>
          <p:nvPr/>
        </p:nvSpPr>
        <p:spPr>
          <a:xfrm>
            <a:off x="457200" y="1554480"/>
            <a:ext cx="11247120" cy="438912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332 automated tests pass without models; 38 more need the models; CI on every push</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A test fails if the README quotes a number with no evidence file</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Model choices by rules written before the results (voice, decoding, int8)</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Leakage guard: no benchmark sentence can reach training</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Same 24-case REST contract tested on the hub and the tablet</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Every figure printed by a script: tools/deck_numbers.py, tools/latency_percentiles.py</a:t>
            </a:r>
            <a:endParaRPr lang="en-US" sz="2000" dirty="0"/>
          </a:p>
        </p:txBody>
      </p:sp>
      <p:sp>
        <p:nvSpPr>
          <p:cNvPr id="6" name="Text 4"/>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tests/; .github/workflows/tests.yml; tests/test_claims.py; docs/voice_rule_finale.md; eval/leakage.py</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18</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A4 · Security and privacy</a:t>
            </a:r>
            <a:endParaRPr lang="en-US" sz="2800" dirty="0"/>
          </a:p>
        </p:txBody>
      </p:sp>
      <p:sp>
        <p:nvSpPr>
          <p:cNvPr id="5" name="Text 3"/>
          <p:cNvSpPr txBox="1"/>
          <p:nvPr/>
        </p:nvSpPr>
        <p:spPr>
          <a:xfrm>
            <a:off x="457200" y="1554480"/>
            <a:ext cx="11247120" cy="438912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No cloud at run time; network sockets blocked in the offline test</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Packs signed (Ed25519) and verified on the tablet; a changed pack is refused</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Progress reports: no names, no audio</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Reading check: consent box; the recording is deleted after scoring</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Voice corpus: adults only, consent, no names; export only from the laptop, only with consent to share</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Hub over HTTPS with its own local certificate for tablet microphones</a:t>
            </a:r>
            <a:endParaRPr lang="en-US" sz="2000" dirty="0"/>
          </a:p>
        </p:txBody>
      </p:sp>
      <p:sp>
        <p:nvSpPr>
          <p:cNvPr id="6" name="Text 4"/>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tests/test_offline.py; core/Pack.kt; progress.py; orf.py; corpus.py; tools/make_cert.py</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19</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A5 · Limitations we disclose</a:t>
            </a:r>
            <a:endParaRPr lang="en-US" sz="2800" dirty="0"/>
          </a:p>
        </p:txBody>
      </p:sp>
      <p:sp>
        <p:nvSpPr>
          <p:cNvPr id="5" name="Text 3"/>
          <p:cNvSpPr txBox="1"/>
          <p:nvPr/>
        </p:nvSpPr>
        <p:spPr>
          <a:xfrm>
            <a:off x="457200" y="1554480"/>
            <a:ext cx="11247120" cy="45720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No native-speaker review yet of Santali, Mundari or Ho output, or of the voice</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Santali voice is a Hindi voice reading a transliteration</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No real 2 GB tablet; no 32-bit ARM build</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Free-form speech on the laptop only; p95 3.29 s there</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Children's speech and classroom noise not measured</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Ho: voice only; Mundari: preview on the laptop</a:t>
            </a:r>
            <a:endParaRPr lang="en-US" sz="2000" dirty="0"/>
          </a:p>
          <a:p>
            <a:pPr marL="342900" indent="-342900">
              <a:spcAft>
                <a:spcPts val="800"/>
              </a:spcAft>
              <a:buSzPct val="100000"/>
              <a:buChar char="•"/>
            </a:pPr>
            <a:r>
              <a:rPr lang="en-US" sz="2000" dirty="0">
                <a:solidFill>
                  <a:srgbClr val="1F2A37"/>
                </a:solidFill>
                <a:latin typeface="Arial" pitchFamily="34" charset="0"/>
                <a:ea typeface="Arial" pitchFamily="34" charset="-122"/>
                <a:cs typeface="Arial" pitchFamily="34" charset="-120"/>
              </a:rPr>
              <a:t>NIPUN mapping not reviewed by a teacher</a:t>
            </a:r>
            <a:endParaRPr lang="en-US" sz="2000" dirty="0"/>
          </a:p>
        </p:txBody>
      </p:sp>
      <p:sp>
        <p:nvSpPr>
          <p:cNvPr id="6" name="Text 4"/>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docs/audit_2026-09-28.md; README §13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20</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A6 · Real lesson lines, as the app shows them</a:t>
            </a:r>
            <a:endParaRPr lang="en-US" sz="2800" dirty="0"/>
          </a:p>
        </p:txBody>
      </p:sp>
      <p:sp>
        <p:nvSpPr>
          <p:cNvPr id="5" name="Text 3"/>
          <p:cNvSpPr txBox="1"/>
          <p:nvPr/>
        </p:nvSpPr>
        <p:spPr>
          <a:xfrm>
            <a:off x="457200" y="1188720"/>
            <a:ext cx="11247120" cy="365760"/>
          </a:xfrm>
          <a:prstGeom prst="rect">
            <a:avLst/>
          </a:prstGeom>
          <a:noFill/>
          <a:ln/>
        </p:spPr>
        <p:txBody>
          <a:bodyPr wrap="square" lIns="0" tIns="0" rIns="0" bIns="0" rtlCol="0" anchor="ctr"/>
          <a:lstStyle/>
          <a:p>
            <a:pPr indent="0" marL="0">
              <a:buNone/>
            </a:pPr>
            <a:r>
              <a:rPr lang="en-US" sz="1500" dirty="0">
                <a:solidFill>
                  <a:srgbClr val="5B6573"/>
                </a:solidFill>
                <a:latin typeface="Arial" pitchFamily="34" charset="0"/>
                <a:ea typeface="Arial" pitchFamily="34" charset="-122"/>
                <a:cs typeface="Arial" pitchFamily="34" charset="-120"/>
              </a:rPr>
              <a:t>Hub output from the content pack (26 Sep); not reviewed by a native speaker.</a:t>
            </a:r>
            <a:endParaRPr lang="en-US" sz="1500" dirty="0"/>
          </a:p>
        </p:txBody>
      </p:sp>
      <p:pic>
        <p:nvPicPr>
          <p:cNvPr id="6" name="Image 0" descr="/tmp/claude-0/deckwork/assets/fln_table.png">    </p:cNvPr>
          <p:cNvPicPr>
            <a:picLocks noChangeAspect="1"/>
          </p:cNvPicPr>
          <p:nvPr/>
        </p:nvPicPr>
        <p:blipFill>
          <a:blip r:embed="rId1"/>
          <a:stretch>
            <a:fillRect/>
          </a:stretch>
        </p:blipFill>
        <p:spPr>
          <a:xfrm>
            <a:off x="457200" y="1691640"/>
            <a:ext cx="11247120" cy="3867912"/>
          </a:xfrm>
          <a:prstGeom prst="rect">
            <a:avLst/>
          </a:prstGeom>
        </p:spPr>
      </p:pic>
      <p:sp>
        <p:nvSpPr>
          <p:cNvPr id="7" name="Text 4"/>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docs/fln_translation_sample.md</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46520"/>
            <a:ext cx="4572000" cy="274320"/>
          </a:xfrm>
          <a:prstGeom prst="rect">
            <a:avLst/>
          </a:prstGeom>
          <a:noFill/>
          <a:ln/>
        </p:spPr>
        <p:txBody>
          <a:bodyPr wrap="square" lIns="0" tIns="0" rIns="0" bIns="0" rtlCol="0" anchor="ctr"/>
          <a:lstStyle/>
          <a:p>
            <a:pPr indent="0" marL="0">
              <a:buNone/>
            </a:pPr>
            <a:r>
              <a:rPr lang="en-US" sz="900" dirty="0">
                <a:solidFill>
                  <a:srgbClr val="5B6573"/>
                </a:solidFill>
                <a:latin typeface="Arial" pitchFamily="34" charset="0"/>
                <a:ea typeface="Arial" pitchFamily="34" charset="-122"/>
                <a:cs typeface="Arial" pitchFamily="34" charset="-120"/>
              </a:rPr>
              <a:t>Nijbhasha · SIH26042 · Team 8-bitPool</a:t>
            </a:r>
            <a:endParaRPr lang="en-US" sz="900" dirty="0"/>
          </a:p>
        </p:txBody>
      </p:sp>
      <p:sp>
        <p:nvSpPr>
          <p:cNvPr id="3" name="Text 1"/>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B6573"/>
                </a:solidFill>
                <a:latin typeface="Arial" pitchFamily="34" charset="0"/>
                <a:ea typeface="Arial" pitchFamily="34" charset="-122"/>
                <a:cs typeface="Arial" pitchFamily="34" charset="-120"/>
              </a:rPr>
              <a:t>21</a:t>
            </a:r>
            <a:endParaRPr lang="en-US" sz="900" dirty="0"/>
          </a:p>
        </p:txBody>
      </p:sp>
      <p:sp>
        <p:nvSpPr>
          <p:cNvPr id="4" name="Text 2"/>
          <p:cNvSpPr txBox="1"/>
          <p:nvPr/>
        </p:nvSpPr>
        <p:spPr>
          <a:xfrm>
            <a:off x="457200" y="320040"/>
            <a:ext cx="11247120" cy="868680"/>
          </a:xfrm>
          <a:prstGeom prst="rect">
            <a:avLst/>
          </a:prstGeom>
          <a:noFill/>
          <a:ln/>
        </p:spPr>
        <p:txBody>
          <a:bodyPr wrap="square" lIns="0" tIns="0" rIns="0" bIns="0" rtlCol="0" anchor="t"/>
          <a:lstStyle/>
          <a:p>
            <a:pPr indent="0" marL="0">
              <a:buNone/>
            </a:pPr>
            <a:r>
              <a:rPr lang="en-US" sz="2800" b="1" dirty="0">
                <a:solidFill>
                  <a:srgbClr val="14324D"/>
                </a:solidFill>
                <a:latin typeface="Arial" pitchFamily="34" charset="0"/>
                <a:ea typeface="Arial" pitchFamily="34" charset="-122"/>
                <a:cs typeface="Arial" pitchFamily="34" charset="-120"/>
              </a:rPr>
              <a:t>A7 · Questions we expect</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47120" cy="914400"/>
        </p:xfrm>
        <a:graphic>
          <a:graphicData uri="http://schemas.openxmlformats.org/drawingml/2006/table">
            <a:tbl>
              <a:tblPr/>
              <a:tblGrid>
                <a:gridCol w="2926080"/>
                <a:gridCol w="8321040"/>
              </a:tblGrid>
              <a:tr h="420624">
                <a:tc>
                  <a:txBody>
                    <a:bodyPr/>
                    <a:lstStyle/>
                    <a:p>
                      <a:pPr indent="0" marL="0">
                        <a:buNone/>
                      </a:pPr>
                      <a:r>
                        <a:rPr lang="en-US" sz="1500" b="1" dirty="0">
                          <a:solidFill>
                            <a:srgbClr val="FFFFFF"/>
                          </a:solidFill>
                          <a:latin typeface="Arial" pitchFamily="34" charset="0"/>
                          <a:ea typeface="Arial" pitchFamily="34" charset="-122"/>
                          <a:cs typeface="Arial" pitchFamily="34" charset="-120"/>
                        </a:rPr>
                        <a:t>Question</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Short answer</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solidFill>
                      <a:srgbClr val="14324D"/>
                    </a:solidFill>
                  </a:tcPr>
                </a:tc>
              </a:tr>
              <a:tr h="420624">
                <a:tc>
                  <a:txBody>
                    <a:bodyPr/>
                    <a:lstStyle/>
                    <a:p>
                      <a:pPr indent="0" marL="0">
                        <a:buNone/>
                      </a:pPr>
                      <a:r>
                        <a:rPr lang="en-US" sz="1500" dirty="0">
                          <a:solidFill>
                            <a:srgbClr val="1F2A37"/>
                          </a:solidFill>
                          <a:latin typeface="Arial" pitchFamily="34" charset="0"/>
                          <a:ea typeface="Arial" pitchFamily="34" charset="-122"/>
                          <a:cs typeface="Arial" pitchFamily="34" charset="-120"/>
                        </a:rPr>
                        <a:t>Is the Santali correct?</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500" dirty="0">
                          <a:solidFill>
                            <a:srgbClr val="1F2A37"/>
                          </a:solidFill>
                          <a:latin typeface="Arial" pitchFamily="34" charset="0"/>
                          <a:ea typeface="Arial" pitchFamily="34" charset="-122"/>
                          <a:cs typeface="Arial" pitchFamily="34" charset="-120"/>
                        </a:rPr>
                        <a:t>Not measured without native speakers; human-written first, doubtful lines flagged, review list ready</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500" dirty="0">
                          <a:solidFill>
                            <a:srgbClr val="1F2A37"/>
                          </a:solidFill>
                          <a:latin typeface="Arial" pitchFamily="34" charset="0"/>
                          <a:ea typeface="Arial" pitchFamily="34" charset="-122"/>
                          <a:cs typeface="Arial" pitchFamily="34" charset="-120"/>
                        </a:rPr>
                        <a:t>Does it run on 2 GB?</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500" dirty="0">
                          <a:solidFill>
                            <a:srgbClr val="1F2A37"/>
                          </a:solidFill>
                          <a:latin typeface="Arial" pitchFamily="34" charset="0"/>
                          <a:ea typeface="Arial" pitchFamily="34" charset="-122"/>
                          <a:cs typeface="Arial" pitchFamily="34" charset="-120"/>
                        </a:rPr>
                        <a:t>2 GB Android 9 emulator yes; real 2 GB tablet not yet; typing needs 1.3 GB, loaded on demand</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500" dirty="0">
                          <a:solidFill>
                            <a:srgbClr val="1F2A37"/>
                          </a:solidFill>
                          <a:latin typeface="Arial" pitchFamily="34" charset="0"/>
                          <a:ea typeface="Arial" pitchFamily="34" charset="-122"/>
                          <a:cs typeface="Arial" pitchFamily="34" charset="-120"/>
                        </a:rPr>
                        <a:t>Under 3 s?</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500" dirty="0">
                          <a:solidFill>
                            <a:srgbClr val="1F2A37"/>
                          </a:solidFill>
                          <a:latin typeface="Arial" pitchFamily="34" charset="0"/>
                          <a:ea typeface="Arial" pitchFamily="34" charset="-122"/>
                          <a:cs typeface="Arial" pitchFamily="34" charset="-120"/>
                        </a:rPr>
                        <a:t>Tablet lesson lines p95 1.27 s; laptop free speech p95 3.29 s (8 of 96 over)</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500" dirty="0">
                          <a:solidFill>
                            <a:srgbClr val="1F2A37"/>
                          </a:solidFill>
                          <a:latin typeface="Arial" pitchFamily="34" charset="0"/>
                          <a:ea typeface="Arial" pitchFamily="34" charset="-122"/>
                          <a:cs typeface="Arial" pitchFamily="34" charset="-120"/>
                        </a:rPr>
                        <a:t>Children's voices?</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500" dirty="0">
                          <a:solidFill>
                            <a:srgbClr val="1F2A37"/>
                          </a:solidFill>
                          <a:latin typeface="Arial" pitchFamily="34" charset="0"/>
                          <a:ea typeface="Arial" pitchFamily="34" charset="-122"/>
                          <a:cs typeface="Arial" pitchFamily="34" charset="-120"/>
                        </a:rPr>
                        <a:t>Not measured; first pilot benchmark</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500" dirty="0">
                          <a:solidFill>
                            <a:srgbClr val="1F2A37"/>
                          </a:solidFill>
                          <a:latin typeface="Arial" pitchFamily="34" charset="0"/>
                          <a:ea typeface="Arial" pitchFamily="34" charset="-122"/>
                          <a:cs typeface="Arial" pitchFamily="34" charset="-120"/>
                        </a:rPr>
                        <a:t>Ho and Mundari?</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500" dirty="0">
                          <a:solidFill>
                            <a:srgbClr val="1F2A37"/>
                          </a:solidFill>
                          <a:latin typeface="Arial" pitchFamily="34" charset="0"/>
                          <a:ea typeface="Arial" pitchFamily="34" charset="-122"/>
                          <a:cs typeface="Arial" pitchFamily="34" charset="-120"/>
                        </a:rPr>
                        <a:t>Mundari translation preview (our LoRA); Ho voice only, no licensed text</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500" dirty="0">
                          <a:solidFill>
                            <a:srgbClr val="1F2A37"/>
                          </a:solidFill>
                          <a:latin typeface="Arial" pitchFamily="34" charset="0"/>
                          <a:ea typeface="Arial" pitchFamily="34" charset="-122"/>
                          <a:cs typeface="Arial" pitchFamily="34" charset="-120"/>
                        </a:rPr>
                        <a:t>Why not an LLM?</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500" dirty="0">
                          <a:solidFill>
                            <a:srgbClr val="1F2A37"/>
                          </a:solidFill>
                          <a:latin typeface="Arial" pitchFamily="34" charset="0"/>
                          <a:ea typeface="Arial" pitchFamily="34" charset="-122"/>
                          <a:cs typeface="Arial" pitchFamily="34" charset="-120"/>
                        </a:rPr>
                        <a:t>Needs internet or far more memory; can invent</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500" dirty="0">
                          <a:solidFill>
                            <a:srgbClr val="1F2A37"/>
                          </a:solidFill>
                          <a:latin typeface="Arial" pitchFamily="34" charset="0"/>
                          <a:ea typeface="Arial" pitchFamily="34" charset="-122"/>
                          <a:cs typeface="Arial" pitchFamily="34" charset="-120"/>
                        </a:rPr>
                        <a:t>Cost?</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500" dirty="0">
                          <a:solidFill>
                            <a:srgbClr val="1F2A37"/>
                          </a:solidFill>
                          <a:latin typeface="Arial" pitchFamily="34" charset="0"/>
                          <a:ea typeface="Arial" pitchFamily="34" charset="-122"/>
                          <a:cs typeface="Arial" pitchFamily="34" charset="-120"/>
                        </a:rPr>
                        <a:t>No licence or per-use fees; hardware not estimated</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r h="420624">
                <a:tc>
                  <a:txBody>
                    <a:bodyPr/>
                    <a:lstStyle/>
                    <a:p>
                      <a:pPr indent="0" marL="0">
                        <a:buNone/>
                      </a:pPr>
                      <a:r>
                        <a:rPr lang="en-US" sz="1500" dirty="0">
                          <a:solidFill>
                            <a:srgbClr val="1F2A37"/>
                          </a:solidFill>
                          <a:latin typeface="Arial" pitchFamily="34" charset="0"/>
                          <a:ea typeface="Arial" pitchFamily="34" charset="-122"/>
                          <a:cs typeface="Arial" pitchFamily="34" charset="-120"/>
                        </a:rPr>
                        <a:t>Privacy?</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c>
                  <a:txBody>
                    <a:bodyPr/>
                    <a:lstStyle/>
                    <a:p>
                      <a:pPr indent="0" marL="0">
                        <a:buNone/>
                      </a:pPr>
                      <a:r>
                        <a:rPr lang="en-US" sz="1500" dirty="0">
                          <a:solidFill>
                            <a:srgbClr val="1F2A37"/>
                          </a:solidFill>
                          <a:latin typeface="Arial" pitchFamily="34" charset="0"/>
                          <a:ea typeface="Arial" pitchFamily="34" charset="-122"/>
                          <a:cs typeface="Arial" pitchFamily="34" charset="-120"/>
                        </a:rPr>
                        <a:t>No cloud; no names; reading audio deleted; corpus adults-only with consent</a:t>
                      </a:r>
                      <a:endParaRPr lang="en-US" sz="1500" dirty="0">
                        <a:latin typeface="Arial" charset="0"/>
                        <a:ea typeface="Arial" charset="0"/>
                        <a:cs typeface="Arial" charset="0"/>
                      </a:endParaRPr>
                    </a:p>
                  </a:txBody>
                  <a:tcPr marL="91440" marR="91440" marT="45720" marB="45720" anchor="ctr">
                    <a:lnL w="6350" cap="flat" cmpd="sng" algn="ctr">
                      <a:solidFill>
                        <a:srgbClr val="D9D2C5"/>
                      </a:solidFill>
                      <a:prstDash val="solid"/>
                      <a:round/>
                      <a:headEnd type="none" w="med" len="med"/>
                      <a:tailEnd type="none" w="med" len="med"/>
                    </a:lnL>
                    <a:lnR w="6350" cap="flat" cmpd="sng" algn="ctr">
                      <a:solidFill>
                        <a:srgbClr val="D9D2C5"/>
                      </a:solidFill>
                      <a:prstDash val="solid"/>
                      <a:round/>
                      <a:headEnd type="none" w="med" len="med"/>
                      <a:tailEnd type="none" w="med" len="med"/>
                    </a:lnR>
                    <a:lnT w="6350" cap="flat" cmpd="sng" algn="ctr">
                      <a:solidFill>
                        <a:srgbClr val="D9D2C5"/>
                      </a:solidFill>
                      <a:prstDash val="solid"/>
                      <a:round/>
                      <a:headEnd type="none" w="med" len="med"/>
                      <a:tailEnd type="none" w="med" len="med"/>
                    </a:lnT>
                    <a:lnB w="6350" cap="flat" cmpd="sng" algn="ctr">
                      <a:solidFill>
                        <a:srgbClr val="D9D2C5"/>
                      </a:solidFill>
                      <a:prstDash val="solid"/>
                      <a:round/>
                      <a:headEnd type="none" w="med" len="med"/>
                      <a:tailEnd type="none" w="med" len="med"/>
                    </a:lnB>
                  </a:tcPr>
                </a:tc>
              </a:tr>
            </a:tbl>
          </a:graphicData>
        </a:graphic>
      </p:graphicFrame>
      <p:sp>
        <p:nvSpPr>
          <p:cNvPr id="6" name="Text 3"/>
          <p:cNvSpPr txBox="1"/>
          <p:nvPr/>
        </p:nvSpPr>
        <p:spPr>
          <a:xfrm>
            <a:off x="5120640" y="6446520"/>
            <a:ext cx="6035040" cy="274320"/>
          </a:xfrm>
          <a:prstGeom prst="rect">
            <a:avLst/>
          </a:prstGeom>
          <a:noFill/>
          <a:ln/>
        </p:spPr>
        <p:txBody>
          <a:bodyPr wrap="square" lIns="0" tIns="0" rIns="0" bIns="0" rtlCol="0" anchor="ctr"/>
          <a:lstStyle/>
          <a:p>
            <a:pPr algn="r" indent="0" marL="0">
              <a:buNone/>
            </a:pPr>
            <a:r>
              <a:rPr lang="en-US" sz="850" i="1" dirty="0">
                <a:solidFill>
                  <a:srgbClr val="5B6573"/>
                </a:solidFill>
                <a:latin typeface="Arial" pitchFamily="34" charset="0"/>
                <a:ea typeface="Arial" pitchFamily="34" charset="-122"/>
                <a:cs typeface="Arial" pitchFamily="34" charset="-120"/>
              </a:rPr>
              <a:t>Source: docs/winning_narrative.md (15 questions in full)</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Nijbhasha — SIH26042 finale deck</dc:title>
  <dc:subject>PptxGenJS Presentation</dc:subject>
  <dc:creator>Team 8-bitPool</dc:creator>
  <cp:lastModifiedBy>Team 8-bitPool</cp:lastModifiedBy>
  <cp:revision>1</cp:revision>
  <dcterms:created xsi:type="dcterms:W3CDTF">2026-09-28T15:41:29Z</dcterms:created>
  <dcterms:modified xsi:type="dcterms:W3CDTF">2026-09-28T15:41:29Z</dcterms:modified>
</cp:coreProperties>
</file>