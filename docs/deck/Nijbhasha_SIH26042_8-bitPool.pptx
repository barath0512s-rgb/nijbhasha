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</p:sldIdLst>
  <p:sldSz cx="18288000" cy="10287000"/>
  <p:notesSz cx="6858000" cy="9144000"/>
  <p:embeddedFontLst>
    <p:embeddedFont>
      <p:font typeface="Garamond Bold" charset="1" panose="02020804030307010803"/>
      <p:regular r:id="rId12"/>
    </p:embeddedFont>
    <p:embeddedFont>
      <p:font typeface="Arial Bold" charset="1" panose="020B0704020202020204"/>
      <p:regular r:id="rId13"/>
    </p:embeddedFont>
    <p:embeddedFont>
      <p:font typeface="Times New Roman Bold" charset="1" panose="02020803070505020304"/>
      <p:regular r:id="rId14"/>
    </p:embeddedFont>
    <p:embeddedFont>
      <p:font typeface="Trade Gothic Condensed Bold" charset="1" panose="020B0806040303020004"/>
      <p:regular r:id="rId15"/>
    </p:embeddedFont>
    <p:embeddedFont>
      <p:font typeface="Trade Gothic Condensed" charset="1" panose="020B0506040303020004"/>
      <p:regular r:id="rId16"/>
    </p:embeddedFont>
    <p:embeddedFont>
      <p:font typeface="Calibri (MS)" charset="1" panose="020F0502020204030204"/>
      <p:regular r:id="rId17"/>
    </p:embeddedFont>
    <p:embeddedFont>
      <p:font typeface="Arial" charset="1" panose="020B0604020202020204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fonts/font12.fntdata" Type="http://schemas.openxmlformats.org/officeDocument/2006/relationships/font"/><Relationship Id="rId13" Target="fonts/font13.fntdata" Type="http://schemas.openxmlformats.org/officeDocument/2006/relationships/font"/><Relationship Id="rId14" Target="fonts/font14.fntdata" Type="http://schemas.openxmlformats.org/officeDocument/2006/relationships/font"/><Relationship Id="rId15" Target="fonts/font15.fntdata" Type="http://schemas.openxmlformats.org/officeDocument/2006/relationships/font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jpeg" Type="http://schemas.openxmlformats.org/officeDocument/2006/relationships/image"/><Relationship Id="rId6" Target="../media/image5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jpeg" Type="http://schemas.openxmlformats.org/officeDocument/2006/relationships/image"/><Relationship Id="rId3" Target="../media/image5.png" Type="http://schemas.openxmlformats.org/officeDocument/2006/relationships/image"/><Relationship Id="rId4" Target="../media/image6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jpeg" Type="http://schemas.openxmlformats.org/officeDocument/2006/relationships/image"/><Relationship Id="rId3" Target="../media/image5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jpeg" Type="http://schemas.openxmlformats.org/officeDocument/2006/relationships/image"/><Relationship Id="rId3" Target="../media/image5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jpeg" Type="http://schemas.openxmlformats.org/officeDocument/2006/relationships/image"/><Relationship Id="rId3" Target="../media/image5.png" Type="http://schemas.openxmlformats.org/officeDocument/2006/relationships/image"/><Relationship Id="rId4" Target="../media/image7.jpe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https://jepc.jharkhand.gov.in" TargetMode="External" Type="http://schemas.openxmlformats.org/officeDocument/2006/relationships/hyperlink"/><Relationship Id="rId11" Target="../media/image8.jpeg" Type="http://schemas.openxmlformats.org/officeDocument/2006/relationships/image"/><Relationship Id="rId12" Target="../media/image9.jpeg" Type="http://schemas.openxmlformats.org/officeDocument/2006/relationships/image"/><Relationship Id="rId2" Target="../media/image4.jpeg" Type="http://schemas.openxmlformats.org/officeDocument/2006/relationships/image"/><Relationship Id="rId3" Target="../media/image5.png" Type="http://schemas.openxmlformats.org/officeDocument/2006/relationships/image"/><Relationship Id="rId4" Target="https://aclanthology.org/2025.mmloso-1.9/" TargetMode="External" Type="http://schemas.openxmlformats.org/officeDocument/2006/relationships/hyperlink"/><Relationship Id="rId5" Target="https://huggingface.co/datasets/ai4bharat/BPCC" TargetMode="External" Type="http://schemas.openxmlformats.org/officeDocument/2006/relationships/hyperlink"/><Relationship Id="rId6" Target="https://github.com/ai4bharat/IndicTrans2" TargetMode="External" Type="http://schemas.openxmlformats.org/officeDocument/2006/relationships/hyperlink"/><Relationship Id="rId7" Target="https://huggingface.co/ai4bharat/indic-conformer-600m-multilingual" TargetMode="External" Type="http://schemas.openxmlformats.org/officeDocument/2006/relationships/hyperlink"/><Relationship Id="rId8" Target="https://static.pib.gov.in/WriteReadData/specificdocs/documents/2021/jul/doc20217531.pdf" TargetMode="External" Type="http://schemas.openxmlformats.org/officeDocument/2006/relationships/hyperlink"/><Relationship Id="rId9" Target="https://www.pib.gov.in/PressReleasePage.aspx?PRID=2162846&amp;reg=48&amp;lang=2" TargetMode="External" Type="http://schemas.openxmlformats.org/officeDocument/2006/relationships/hyperlink"/><Relationship Id="rIdGitHub" Type="http://schemas.openxmlformats.org/officeDocument/2006/relationships/hyperlink" Target="https://github.com/barath0512s-rgb/nijbhasha" TargetMode="Externa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8485165" y="1277283"/>
            <a:ext cx="6957908" cy="7732452"/>
          </a:xfrm>
          <a:custGeom>
            <a:avLst/>
            <a:gdLst/>
            <a:ahLst/>
            <a:cxnLst/>
            <a:rect r="r" b="b" t="t" l="l"/>
            <a:pathLst>
              <a:path h="7732452" w="6957908">
                <a:moveTo>
                  <a:pt x="0" y="0"/>
                </a:moveTo>
                <a:lnTo>
                  <a:pt x="6957908" y="0"/>
                </a:lnTo>
                <a:lnTo>
                  <a:pt x="6957908" y="7732453"/>
                </a:lnTo>
                <a:lnTo>
                  <a:pt x="0" y="77324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0282333" y="2573817"/>
            <a:ext cx="4805267" cy="5139357"/>
            <a:chOff x="0" y="0"/>
            <a:chExt cx="6407023" cy="685247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407023" cy="6852412"/>
            </a:xfrm>
            <a:custGeom>
              <a:avLst/>
              <a:gdLst/>
              <a:ahLst/>
              <a:cxnLst/>
              <a:rect r="r" b="b" t="t" l="l"/>
              <a:pathLst>
                <a:path h="6852412" w="6407023">
                  <a:moveTo>
                    <a:pt x="0" y="0"/>
                  </a:moveTo>
                  <a:lnTo>
                    <a:pt x="6407023" y="0"/>
                  </a:lnTo>
                  <a:lnTo>
                    <a:pt x="6407023" y="6852412"/>
                  </a:lnTo>
                  <a:lnTo>
                    <a:pt x="0" y="68524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149475" b="-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496929" y="-790137"/>
            <a:ext cx="15544800" cy="3114675"/>
            <a:chOff x="0" y="0"/>
            <a:chExt cx="20726400" cy="41529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0726400" cy="4152900"/>
            </a:xfrm>
            <a:custGeom>
              <a:avLst/>
              <a:gdLst/>
              <a:ahLst/>
              <a:cxnLst/>
              <a:rect r="r" b="b" t="t" l="l"/>
              <a:pathLst>
                <a:path h="4152900" w="20726400">
                  <a:moveTo>
                    <a:pt x="0" y="0"/>
                  </a:moveTo>
                  <a:lnTo>
                    <a:pt x="20726400" y="0"/>
                  </a:lnTo>
                  <a:lnTo>
                    <a:pt x="20726400" y="4152900"/>
                  </a:lnTo>
                  <a:lnTo>
                    <a:pt x="0" y="415290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47246" r="0" b="-47246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20726400" cy="41719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7200"/>
                </a:lnSpc>
              </a:pPr>
              <a:r>
                <a:rPr lang="en-US" sz="6000" b="true">
                  <a:solidFill>
                    <a:srgbClr val="1F497D"/>
                  </a:solidFill>
                  <a:latin typeface="Garamond Bold"/>
                  <a:ea typeface="Garamond Bold"/>
                  <a:cs typeface="Garamond Bold"/>
                  <a:sym typeface="Garamond Bold"/>
                </a:rPr>
                <a:t>SMART INDIA HACKATHON 2026</a:t>
              </a: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588369" y="3141345"/>
            <a:ext cx="8703945" cy="5676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</a:p>
          <a:p>
            <a:pPr algn="just" marL="407194" indent="-203597" lvl="1">
              <a:lnSpc>
                <a:spcPts val="5400"/>
              </a:lnSpc>
              <a:buFont typeface="Arial"/>
              <a:buChar char="•"/>
            </a:pPr>
            <a:r>
              <a:rPr lang="en-US" b="true" sz="225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Problem Statement ID – SIH26042</a:t>
            </a:r>
          </a:p>
          <a:p>
            <a:pPr algn="just" marL="407194" indent="-203597" lvl="1">
              <a:lnSpc>
                <a:spcPts val="5400"/>
              </a:lnSpc>
              <a:buFont typeface="Arial"/>
              <a:buChar char="•"/>
            </a:pPr>
            <a:r>
              <a:rPr lang="en-US" b="true" sz="225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Problem Statement Title- AI-Powered Vernacular Pedagogy and Real-Time Translation Tool for Mother Tongue-Based Primary Education</a:t>
            </a:r>
          </a:p>
          <a:p>
            <a:pPr algn="just" marL="407194" indent="-203597" lvl="1">
              <a:lnSpc>
                <a:spcPts val="5400"/>
              </a:lnSpc>
              <a:buFont typeface="Arial"/>
              <a:buChar char="•"/>
            </a:pPr>
            <a:r>
              <a:rPr lang="en-US" b="true" sz="225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Theme- Smart Education</a:t>
            </a:r>
          </a:p>
          <a:p>
            <a:pPr algn="just" marL="407194" indent="-203597" lvl="1">
              <a:lnSpc>
                <a:spcPts val="5400"/>
              </a:lnSpc>
              <a:buFont typeface="Arial"/>
              <a:buChar char="•"/>
            </a:pPr>
            <a:r>
              <a:rPr lang="en-US" b="true" sz="225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PS Category- Software</a:t>
            </a:r>
          </a:p>
          <a:p>
            <a:pPr algn="just" marL="407194" indent="-203597" lvl="1">
              <a:lnSpc>
                <a:spcPts val="5400"/>
              </a:lnSpc>
              <a:buFont typeface="Arial"/>
              <a:buChar char="•"/>
            </a:pPr>
            <a:r>
              <a:rPr lang="en-US" b="true" sz="225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Team ID- 168531</a:t>
            </a:r>
          </a:p>
          <a:p>
            <a:pPr algn="just" marL="407194" indent="-203597" lvl="1">
              <a:lnSpc>
                <a:spcPts val="5400"/>
              </a:lnSpc>
              <a:buFont typeface="Arial"/>
              <a:buChar char="•"/>
            </a:pPr>
            <a:r>
              <a:rPr lang="en-US" b="true" sz="225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Team Name (Registered on portal) – VITV 8-bitPool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1"/>
              </a:stretch>
            </a:blipFill>
          </p:spPr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04606" y="-463153"/>
            <a:ext cx="16459200" cy="1901168"/>
            <a:chOff x="0" y="0"/>
            <a:chExt cx="21945600" cy="253489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2534890"/>
            </a:xfrm>
            <a:custGeom>
              <a:avLst/>
              <a:gdLst/>
              <a:ahLst/>
              <a:cxnLst/>
              <a:rect r="r" b="b" t="t" l="l"/>
              <a:pathLst>
                <a:path h="25348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534890"/>
                  </a:lnTo>
                  <a:lnTo>
                    <a:pt x="0" y="253489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23599" r="0" b="-113780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28575"/>
              <a:ext cx="21945600" cy="25634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</a:p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Nijbhasha — Proposed Solution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5689600" cy="7683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Trade Gothic Condensed Bold"/>
                  <a:ea typeface="Trade Gothic Condensed Bold"/>
                  <a:cs typeface="Trade Gothic Condensed Bold"/>
                  <a:sym typeface="Trade Gothic Condensed Bold"/>
                </a:rPr>
                <a:t>2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6240021" y="9353910"/>
            <a:ext cx="4126226" cy="470221"/>
            <a:chOff x="0" y="0"/>
            <a:chExt cx="6408001" cy="73025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408000" cy="730250"/>
            </a:xfrm>
            <a:custGeom>
              <a:avLst/>
              <a:gdLst/>
              <a:ahLst/>
              <a:cxnLst/>
              <a:rect r="r" b="b" t="t" l="l"/>
              <a:pathLst>
                <a:path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20982" r="0" b="-120982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6408001" cy="7683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Trade Gothic Condensed"/>
                  <a:ea typeface="Trade Gothic Condensed"/>
                  <a:cs typeface="Trade Gothic Condensed"/>
                  <a:sym typeface="Trade Gothic Condensed"/>
                </a:rPr>
                <a:t>@SIH Idea submission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420848" y="2248"/>
            <a:ext cx="1915887" cy="1249099"/>
            <a:chOff x="0" y="0"/>
            <a:chExt cx="2554516" cy="1665465"/>
          </a:xfrm>
        </p:grpSpPr>
        <p:sp>
          <p:nvSpPr>
            <p:cNvPr name="Freeform 12" id="12" descr="Your startup LOGO"/>
            <p:cNvSpPr/>
            <p:nvPr/>
          </p:nvSpPr>
          <p:spPr>
            <a:xfrm flipH="false" flipV="false" rot="0">
              <a:off x="0" y="0"/>
              <a:ext cx="2554478" cy="1665478"/>
            </a:xfrm>
            <a:custGeom>
              <a:avLst/>
              <a:gdLst/>
              <a:ahLst/>
              <a:cxnLst/>
              <a:rect r="r" b="b" t="t" l="l"/>
              <a:pathLst>
                <a:path h="1665478" w="2554478">
                  <a:moveTo>
                    <a:pt x="0" y="832739"/>
                  </a:moveTo>
                  <a:cubicBezTo>
                    <a:pt x="0" y="372872"/>
                    <a:pt x="571881" y="0"/>
                    <a:pt x="1277239" y="0"/>
                  </a:cubicBezTo>
                  <a:cubicBezTo>
                    <a:pt x="1982597" y="0"/>
                    <a:pt x="2554478" y="372872"/>
                    <a:pt x="2554478" y="832739"/>
                  </a:cubicBezTo>
                  <a:cubicBezTo>
                    <a:pt x="2554478" y="1292606"/>
                    <a:pt x="1982597" y="1665478"/>
                    <a:pt x="1277239" y="1665478"/>
                  </a:cubicBezTo>
                  <a:cubicBezTo>
                    <a:pt x="571881" y="1665478"/>
                    <a:pt x="0" y="1292606"/>
                    <a:pt x="0" y="832739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8064A2"/>
              </a:solidFill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57150"/>
              <a:ext cx="2554516" cy="17226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8-bitPool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1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11068479" y="2039112"/>
            <a:ext cx="6756504" cy="914400"/>
            <a:chOff x="0" y="0"/>
            <a:chExt cx="7964888" cy="1636594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7964878" cy="1636542"/>
            </a:xfrm>
            <a:custGeom>
              <a:avLst/>
              <a:gdLst/>
              <a:ahLst/>
              <a:cxnLst/>
              <a:rect r="r" b="b" t="t" l="l"/>
              <a:pathLst>
                <a:path h="1636542" w="7964878">
                  <a:moveTo>
                    <a:pt x="0" y="272800"/>
                  </a:moveTo>
                  <a:cubicBezTo>
                    <a:pt x="0" y="122111"/>
                    <a:pt x="50045" y="0"/>
                    <a:pt x="111802" y="0"/>
                  </a:cubicBezTo>
                  <a:lnTo>
                    <a:pt x="7853076" y="0"/>
                  </a:lnTo>
                  <a:cubicBezTo>
                    <a:pt x="7914833" y="0"/>
                    <a:pt x="7964878" y="122111"/>
                    <a:pt x="7964878" y="272800"/>
                  </a:cubicBezTo>
                  <a:lnTo>
                    <a:pt x="7964878" y="1363742"/>
                  </a:lnTo>
                  <a:cubicBezTo>
                    <a:pt x="7964878" y="1514432"/>
                    <a:pt x="7914833" y="1636542"/>
                    <a:pt x="7853076" y="1636542"/>
                  </a:cubicBezTo>
                  <a:lnTo>
                    <a:pt x="111802" y="1636542"/>
                  </a:lnTo>
                  <a:cubicBezTo>
                    <a:pt x="50045" y="1636542"/>
                    <a:pt x="0" y="1514432"/>
                    <a:pt x="0" y="1363742"/>
                  </a:cubicBezTo>
                  <a:close/>
                </a:path>
              </a:pathLst>
            </a:custGeom>
            <a:solidFill>
              <a:srgbClr val="14324D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9525"/>
              <a:ext cx="7964888" cy="164611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59"/>
                </a:lnSpc>
              </a:pPr>
              <a:r>
                <a:rPr lang="en-US" sz="2549" b="tru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Teacher speaks or types Hindi (no Santali training needed)</a:t>
              </a:r>
            </a:p>
          </p:txBody>
        </p:sp>
      </p:grpSp>
      <p:sp>
        <p:nvSpPr>
          <p:cNvPr name="AutoShape 19" id="19"/>
          <p:cNvSpPr/>
          <p:nvPr/>
        </p:nvSpPr>
        <p:spPr>
          <a:xfrm>
            <a:off x="14428671" y="2953512"/>
            <a:ext cx="36130" cy="274320"/>
          </a:xfrm>
          <a:prstGeom prst="line">
            <a:avLst/>
          </a:prstGeom>
          <a:ln cap="rnd" w="19050">
            <a:solidFill>
              <a:srgbClr val="14324D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20" id="20"/>
          <p:cNvGrpSpPr/>
          <p:nvPr/>
        </p:nvGrpSpPr>
        <p:grpSpPr>
          <a:xfrm rot="0">
            <a:off x="11068479" y="3227832"/>
            <a:ext cx="6756504" cy="914400"/>
            <a:chOff x="0" y="0"/>
            <a:chExt cx="7964888" cy="1636594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7964878" cy="1636542"/>
            </a:xfrm>
            <a:custGeom>
              <a:avLst/>
              <a:gdLst/>
              <a:ahLst/>
              <a:cxnLst/>
              <a:rect r="r" b="b" t="t" l="l"/>
              <a:pathLst>
                <a:path h="1636542" w="7964878">
                  <a:moveTo>
                    <a:pt x="0" y="272800"/>
                  </a:moveTo>
                  <a:cubicBezTo>
                    <a:pt x="0" y="122111"/>
                    <a:pt x="50045" y="0"/>
                    <a:pt x="111802" y="0"/>
                  </a:cubicBezTo>
                  <a:lnTo>
                    <a:pt x="7853076" y="0"/>
                  </a:lnTo>
                  <a:cubicBezTo>
                    <a:pt x="7914833" y="0"/>
                    <a:pt x="7964878" y="122111"/>
                    <a:pt x="7964878" y="272800"/>
                  </a:cubicBezTo>
                  <a:lnTo>
                    <a:pt x="7964878" y="1363742"/>
                  </a:lnTo>
                  <a:cubicBezTo>
                    <a:pt x="7964878" y="1514432"/>
                    <a:pt x="7914833" y="1636542"/>
                    <a:pt x="7853076" y="1636542"/>
                  </a:cubicBezTo>
                  <a:lnTo>
                    <a:pt x="111802" y="1636542"/>
                  </a:lnTo>
                  <a:cubicBezTo>
                    <a:pt x="50045" y="1636542"/>
                    <a:pt x="0" y="1514432"/>
                    <a:pt x="0" y="1363742"/>
                  </a:cubicBezTo>
                  <a:close/>
                </a:path>
              </a:pathLst>
            </a:custGeom>
            <a:solidFill>
              <a:srgbClr val="1F6FB2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9525"/>
              <a:ext cx="7964888" cy="164611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60"/>
                </a:lnSpc>
              </a:pPr>
              <a:r>
                <a:rPr lang="en-US" sz="2550" b="tru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Nijbhasha — offline AI on an Android tablet or a school laptop</a:t>
              </a:r>
            </a:p>
          </p:txBody>
        </p:sp>
      </p:grpSp>
      <p:sp>
        <p:nvSpPr>
          <p:cNvPr name="AutoShape 23" id="23"/>
          <p:cNvSpPr/>
          <p:nvPr/>
        </p:nvSpPr>
        <p:spPr>
          <a:xfrm>
            <a:off x="14428671" y="4142232"/>
            <a:ext cx="36130" cy="274320"/>
          </a:xfrm>
          <a:prstGeom prst="line">
            <a:avLst/>
          </a:prstGeom>
          <a:ln cap="rnd" w="19050">
            <a:solidFill>
              <a:srgbClr val="14324D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24" id="24"/>
          <p:cNvGrpSpPr/>
          <p:nvPr/>
        </p:nvGrpSpPr>
        <p:grpSpPr>
          <a:xfrm rot="0">
            <a:off x="11068479" y="4416552"/>
            <a:ext cx="3271575" cy="914400"/>
            <a:chOff x="0" y="0"/>
            <a:chExt cx="3856688" cy="1636594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3856751" cy="1636542"/>
            </a:xfrm>
            <a:custGeom>
              <a:avLst/>
              <a:gdLst/>
              <a:ahLst/>
              <a:cxnLst/>
              <a:rect r="r" b="b" t="t" l="l"/>
              <a:pathLst>
                <a:path h="1636542" w="3856751">
                  <a:moveTo>
                    <a:pt x="0" y="272800"/>
                  </a:moveTo>
                  <a:cubicBezTo>
                    <a:pt x="0" y="122111"/>
                    <a:pt x="50045" y="0"/>
                    <a:pt x="111802" y="0"/>
                  </a:cubicBezTo>
                  <a:lnTo>
                    <a:pt x="3744939" y="0"/>
                  </a:lnTo>
                  <a:cubicBezTo>
                    <a:pt x="3806696" y="0"/>
                    <a:pt x="3856751" y="122111"/>
                    <a:pt x="3856751" y="272800"/>
                  </a:cubicBezTo>
                  <a:lnTo>
                    <a:pt x="3856751" y="1363742"/>
                  </a:lnTo>
                  <a:cubicBezTo>
                    <a:pt x="3856751" y="1514432"/>
                    <a:pt x="3806696" y="1636542"/>
                    <a:pt x="3744939" y="1636542"/>
                  </a:cubicBezTo>
                  <a:lnTo>
                    <a:pt x="111802" y="1636542"/>
                  </a:lnTo>
                  <a:cubicBezTo>
                    <a:pt x="50045" y="1636542"/>
                    <a:pt x="0" y="1514432"/>
                    <a:pt x="0" y="1363742"/>
                  </a:cubicBezTo>
                  <a:close/>
                </a:path>
              </a:pathLst>
            </a:custGeom>
            <a:solidFill>
              <a:srgbClr val="1E7145"/>
            </a:solid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9525"/>
              <a:ext cx="3856688" cy="164611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429"/>
                </a:lnSpc>
              </a:pPr>
              <a:r>
                <a:rPr lang="en-US" sz="2024" b="tru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Student hears Santali (mother tongue)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14553418" y="4416552"/>
            <a:ext cx="3271575" cy="914400"/>
            <a:chOff x="0" y="0"/>
            <a:chExt cx="3856688" cy="1636594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3856751" cy="1636542"/>
            </a:xfrm>
            <a:custGeom>
              <a:avLst/>
              <a:gdLst/>
              <a:ahLst/>
              <a:cxnLst/>
              <a:rect r="r" b="b" t="t" l="l"/>
              <a:pathLst>
                <a:path h="1636542" w="3856751">
                  <a:moveTo>
                    <a:pt x="0" y="272800"/>
                  </a:moveTo>
                  <a:cubicBezTo>
                    <a:pt x="0" y="122111"/>
                    <a:pt x="50045" y="0"/>
                    <a:pt x="111802" y="0"/>
                  </a:cubicBezTo>
                  <a:lnTo>
                    <a:pt x="3744939" y="0"/>
                  </a:lnTo>
                  <a:cubicBezTo>
                    <a:pt x="3806696" y="0"/>
                    <a:pt x="3856751" y="122111"/>
                    <a:pt x="3856751" y="272800"/>
                  </a:cubicBezTo>
                  <a:lnTo>
                    <a:pt x="3856751" y="1363742"/>
                  </a:lnTo>
                  <a:cubicBezTo>
                    <a:pt x="3856751" y="1514432"/>
                    <a:pt x="3806696" y="1636542"/>
                    <a:pt x="3744939" y="1636542"/>
                  </a:cubicBezTo>
                  <a:lnTo>
                    <a:pt x="111802" y="1636542"/>
                  </a:lnTo>
                  <a:cubicBezTo>
                    <a:pt x="50045" y="1636542"/>
                    <a:pt x="0" y="1514432"/>
                    <a:pt x="0" y="1363742"/>
                  </a:cubicBezTo>
                  <a:close/>
                </a:path>
              </a:pathLst>
            </a:custGeom>
            <a:solidFill>
              <a:srgbClr val="1E7145"/>
            </a:solid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9525"/>
              <a:ext cx="3856688" cy="164611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49"/>
                </a:lnSpc>
              </a:pPr>
              <a:r>
                <a:rPr lang="en-US" sz="2124" b="tru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Teacher hears Hindi (reply)</a:t>
              </a:r>
            </a:p>
          </p:txBody>
        </p:sp>
      </p:grpSp>
      <p:sp>
        <p:nvSpPr>
          <p:cNvPr name="AutoShape 30" id="30"/>
          <p:cNvSpPr/>
          <p:nvPr/>
        </p:nvSpPr>
        <p:spPr>
          <a:xfrm>
            <a:off x="14428671" y="5330952"/>
            <a:ext cx="36130" cy="274320"/>
          </a:xfrm>
          <a:prstGeom prst="line">
            <a:avLst/>
          </a:prstGeom>
          <a:ln cap="rnd" w="19050">
            <a:solidFill>
              <a:srgbClr val="14324D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31" id="31"/>
          <p:cNvGrpSpPr/>
          <p:nvPr/>
        </p:nvGrpSpPr>
        <p:grpSpPr>
          <a:xfrm rot="0">
            <a:off x="11068479" y="5605272"/>
            <a:ext cx="6756504" cy="914400"/>
            <a:chOff x="0" y="0"/>
            <a:chExt cx="7964888" cy="1636594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7964878" cy="1636542"/>
            </a:xfrm>
            <a:custGeom>
              <a:avLst/>
              <a:gdLst/>
              <a:ahLst/>
              <a:cxnLst/>
              <a:rect r="r" b="b" t="t" l="l"/>
              <a:pathLst>
                <a:path h="1636542" w="7964878">
                  <a:moveTo>
                    <a:pt x="0" y="272800"/>
                  </a:moveTo>
                  <a:cubicBezTo>
                    <a:pt x="0" y="122111"/>
                    <a:pt x="50045" y="0"/>
                    <a:pt x="111802" y="0"/>
                  </a:cubicBezTo>
                  <a:lnTo>
                    <a:pt x="7853076" y="0"/>
                  </a:lnTo>
                  <a:cubicBezTo>
                    <a:pt x="7914833" y="0"/>
                    <a:pt x="7964878" y="122111"/>
                    <a:pt x="7964878" y="272800"/>
                  </a:cubicBezTo>
                  <a:lnTo>
                    <a:pt x="7964878" y="1363742"/>
                  </a:lnTo>
                  <a:cubicBezTo>
                    <a:pt x="7964878" y="1514432"/>
                    <a:pt x="7914833" y="1636542"/>
                    <a:pt x="7853076" y="1636542"/>
                  </a:cubicBezTo>
                  <a:lnTo>
                    <a:pt x="111802" y="1636542"/>
                  </a:lnTo>
                  <a:cubicBezTo>
                    <a:pt x="50045" y="1636542"/>
                    <a:pt x="0" y="1514432"/>
                    <a:pt x="0" y="1363742"/>
                  </a:cubicBezTo>
                  <a:close/>
                </a:path>
              </a:pathLst>
            </a:custGeom>
            <a:solidFill>
              <a:srgbClr val="E06B0A"/>
            </a:solid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9525"/>
              <a:ext cx="7964888" cy="164611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99"/>
                </a:lnSpc>
              </a:pPr>
              <a:r>
                <a:rPr lang="en-US" sz="2499" b="tru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Auto-generated bilingual worksheet + visual flashcard set</a:t>
              </a:r>
            </a:p>
          </p:txBody>
        </p:sp>
      </p:grpSp>
      <p:sp>
        <p:nvSpPr>
          <p:cNvPr name="Freeform 34" id="34"/>
          <p:cNvSpPr/>
          <p:nvPr/>
        </p:nvSpPr>
        <p:spPr>
          <a:xfrm flipH="false" flipV="false" rot="0">
            <a:off x="2045278" y="1406691"/>
            <a:ext cx="7898203" cy="1975513"/>
          </a:xfrm>
          <a:custGeom>
            <a:avLst/>
            <a:gdLst/>
            <a:ahLst/>
            <a:cxnLst/>
            <a:rect r="r" b="b" t="t" l="l"/>
            <a:pathLst>
              <a:path h="1975513" w="7898203">
                <a:moveTo>
                  <a:pt x="0" y="0"/>
                </a:moveTo>
                <a:lnTo>
                  <a:pt x="7898203" y="0"/>
                </a:lnTo>
                <a:lnTo>
                  <a:pt x="7898203" y="1975514"/>
                </a:lnTo>
                <a:lnTo>
                  <a:pt x="0" y="197551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92301" t="-125248" r="0" b="0"/>
            </a:stretch>
          </a:blipFill>
        </p:spPr>
      </p:sp>
      <p:sp>
        <p:nvSpPr>
          <p:cNvPr name="Freeform 35" id="35"/>
          <p:cNvSpPr/>
          <p:nvPr/>
        </p:nvSpPr>
        <p:spPr>
          <a:xfrm flipH="false" flipV="false" rot="0">
            <a:off x="2206146" y="8199437"/>
            <a:ext cx="7220485" cy="1986679"/>
          </a:xfrm>
          <a:custGeom>
            <a:avLst/>
            <a:gdLst/>
            <a:ahLst/>
            <a:cxnLst/>
            <a:rect r="r" b="b" t="t" l="l"/>
            <a:pathLst>
              <a:path h="1986679" w="7220485">
                <a:moveTo>
                  <a:pt x="0" y="0"/>
                </a:moveTo>
                <a:lnTo>
                  <a:pt x="7220486" y="0"/>
                </a:lnTo>
                <a:lnTo>
                  <a:pt x="7220486" y="1986679"/>
                </a:lnTo>
                <a:lnTo>
                  <a:pt x="0" y="198667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87" t="-123982" r="-110163" b="0"/>
            </a:stretch>
          </a:blipFill>
        </p:spPr>
      </p:sp>
      <p:sp>
        <p:nvSpPr>
          <p:cNvPr name="Freeform 36" id="36"/>
          <p:cNvSpPr/>
          <p:nvPr/>
        </p:nvSpPr>
        <p:spPr>
          <a:xfrm flipH="false" flipV="false" rot="0">
            <a:off x="5816389" y="3326050"/>
            <a:ext cx="4556140" cy="2492696"/>
          </a:xfrm>
          <a:custGeom>
            <a:avLst/>
            <a:gdLst/>
            <a:ahLst/>
            <a:cxnLst/>
            <a:rect r="r" b="b" t="t" l="l"/>
            <a:pathLst>
              <a:path h="2492696" w="4556140">
                <a:moveTo>
                  <a:pt x="0" y="0"/>
                </a:moveTo>
                <a:lnTo>
                  <a:pt x="4556140" y="0"/>
                </a:lnTo>
                <a:lnTo>
                  <a:pt x="4556140" y="2492695"/>
                </a:lnTo>
                <a:lnTo>
                  <a:pt x="0" y="24926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33360" t="0" r="0" b="-78514"/>
            </a:stretch>
          </a:blipFill>
        </p:spPr>
      </p:sp>
      <p:sp>
        <p:nvSpPr>
          <p:cNvPr name="Freeform 37" id="37"/>
          <p:cNvSpPr/>
          <p:nvPr/>
        </p:nvSpPr>
        <p:spPr>
          <a:xfrm flipH="false" flipV="false" rot="0">
            <a:off x="1028700" y="3326050"/>
            <a:ext cx="4787689" cy="2436541"/>
          </a:xfrm>
          <a:custGeom>
            <a:avLst/>
            <a:gdLst/>
            <a:ahLst/>
            <a:cxnLst/>
            <a:rect r="r" b="b" t="t" l="l"/>
            <a:pathLst>
              <a:path h="2436541" w="4787689">
                <a:moveTo>
                  <a:pt x="0" y="0"/>
                </a:moveTo>
                <a:lnTo>
                  <a:pt x="4787689" y="0"/>
                </a:lnTo>
                <a:lnTo>
                  <a:pt x="4787689" y="2436541"/>
                </a:lnTo>
                <a:lnTo>
                  <a:pt x="0" y="243654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-217238" b="-82628"/>
            </a:stretch>
          </a:blipFill>
        </p:spPr>
      </p:sp>
      <p:sp>
        <p:nvSpPr>
          <p:cNvPr name="Freeform 38" id="38"/>
          <p:cNvSpPr/>
          <p:nvPr/>
        </p:nvSpPr>
        <p:spPr>
          <a:xfrm flipH="false" flipV="false" rot="0">
            <a:off x="2898572" y="5762591"/>
            <a:ext cx="5835634" cy="2436846"/>
          </a:xfrm>
          <a:custGeom>
            <a:avLst/>
            <a:gdLst/>
            <a:ahLst/>
            <a:cxnLst/>
            <a:rect r="r" b="b" t="t" l="l"/>
            <a:pathLst>
              <a:path h="2436846" w="5835634">
                <a:moveTo>
                  <a:pt x="0" y="0"/>
                </a:moveTo>
                <a:lnTo>
                  <a:pt x="5835634" y="0"/>
                </a:lnTo>
                <a:lnTo>
                  <a:pt x="5835634" y="2436846"/>
                </a:lnTo>
                <a:lnTo>
                  <a:pt x="0" y="24368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82510" t="0" r="-77759" b="-82605"/>
            </a:stretch>
          </a:blipFill>
        </p:spPr>
      </p:sp>
      <p:sp>
        <p:nvSpPr>
          <p:cNvPr id="95" name="Differentiation card"/>
          <p:cNvSpPr/>
          <p:nvPr/>
        </p:nvSpPr>
        <p:spPr>
          <a:xfrm>
            <a:off x="11064240" y="6793992"/>
            <a:ext cx="6757416" cy="2459736"/>
          </a:xfrm>
          <a:prstGeom prst="roundRect">
            <a:avLst>
              <a:gd name="adj" fmla="val 8000"/>
            </a:avLst>
          </a:prstGeom>
          <a:solidFill>
            <a:srgbClr val="F4F0FA"/>
          </a:solidFill>
          <a:ln w="15875">
            <a:solidFill>
              <a:srgbClr val="8E6CC6"/>
            </a:solidFill>
          </a:ln>
        </p:spPr>
        <p:txBody>
          <a:bodyPr wrap="square" lIns="164592" tIns="109728" rIns="137160" bIns="73152" anchor="t">
            <a:normAutofit/>
          </a:bodyPr>
          <a:lstStyle/>
          <a:p>
            <a:pPr algn="l">
              <a:buNone/>
            </a:pPr>
            <a:r>
              <a:rPr lang="en-US" sz="2000" b="1">
                <a:solidFill>
                  <a:srgbClr val="14324D"/>
                </a:solidFill>
                <a:latin typeface="Arial"/>
                <a:cs typeface="Arial"/>
              </a:rPr>
              <a:t>What Nijbhasha adds over translation apps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1500">
                <a:solidFill>
                  <a:srgbClr val="222222"/>
                </a:solidFill>
                <a:latin typeface="Arial"/>
                <a:cs typeface="Arial"/>
              </a:rPr>
              <a:t>Adi Vaani (MoTA), Bhashini and Google Translate translate text. Nijbhasha runs the whole lesson:</a:t>
            </a:r>
          </a:p>
          <a:p>
            <a:pPr algn="l" marL="285750" indent="-285750">
              <a:spcBef>
                <a:spcPts val="500"/>
              </a:spcBef>
              <a:buClr>
                <a:srgbClr val="1E7A45"/>
              </a:buClr>
              <a:buFont typeface="Wingdings" pitchFamily="2" charset="2"/>
              <a:buChar char="ü"/>
            </a:pPr>
            <a:r>
              <a:rPr lang="en-US" sz="1600">
                <a:solidFill>
                  <a:srgbClr val="222222"/>
                </a:solidFill>
                <a:latin typeface="Arial"/>
                <a:cs typeface="Arial"/>
              </a:rPr>
              <a:t>Lesson script → speech → comprehension check</a:t>
            </a:r>
          </a:p>
          <a:p>
            <a:pPr algn="l" marL="285750" indent="-285750">
              <a:spcBef>
                <a:spcPts val="200"/>
              </a:spcBef>
              <a:buClr>
                <a:srgbClr val="1E7A45"/>
              </a:buClr>
              <a:buFont typeface="Wingdings" pitchFamily="2" charset="2"/>
              <a:buChar char="ü"/>
            </a:pPr>
            <a:r>
              <a:rPr lang="en-US" sz="1600">
                <a:solidFill>
                  <a:srgbClr val="222222"/>
                </a:solidFill>
                <a:latin typeface="Arial"/>
                <a:cs typeface="Arial"/>
              </a:rPr>
              <a:t>Bilingual NIPUN worksheet + flashcards from that lesson</a:t>
            </a:r>
          </a:p>
          <a:p>
            <a:pPr algn="l" marL="285750" indent="-285750">
              <a:spcBef>
                <a:spcPts val="200"/>
              </a:spcBef>
              <a:buClr>
                <a:srgbClr val="1E7A45"/>
              </a:buClr>
              <a:buFont typeface="Wingdings" pitchFamily="2" charset="2"/>
              <a:buChar char="ü"/>
            </a:pPr>
            <a:r>
              <a:rPr lang="en-US" sz="1600">
                <a:solidFill>
                  <a:srgbClr val="222222"/>
                </a:solidFill>
                <a:latin typeface="Arial"/>
                <a:cs typeface="Arial"/>
              </a:rPr>
              <a:t>Never guesses: unknown lines refused, doubtful output flagged</a:t>
            </a:r>
          </a:p>
          <a:p>
            <a:pPr algn="l" marL="285750" indent="-285750">
              <a:spcBef>
                <a:spcPts val="200"/>
              </a:spcBef>
              <a:buClr>
                <a:srgbClr val="1E7A45"/>
              </a:buClr>
              <a:buFont typeface="Wingdings" pitchFamily="2" charset="2"/>
              <a:buChar char="ü"/>
            </a:pPr>
            <a:r>
              <a:rPr lang="en-US" sz="1600">
                <a:solidFill>
                  <a:srgbClr val="222222"/>
                </a:solidFill>
                <a:latin typeface="Arial"/>
                <a:cs typeface="Arial"/>
              </a:rPr>
              <a:t>Offline on an Android tablet in airplane mode</a:t>
            </a:r>
          </a:p>
          <a:p>
            <a:pPr algn="l" marL="285750" indent="-285750">
              <a:spcBef>
                <a:spcPts val="200"/>
              </a:spcBef>
              <a:buClr>
                <a:srgbClr val="1E7A45"/>
              </a:buClr>
              <a:buFont typeface="Wingdings" pitchFamily="2" charset="2"/>
              <a:buChar char="ü"/>
            </a:pPr>
            <a:r>
              <a:rPr lang="en-US" sz="1600">
                <a:solidFill>
                  <a:srgbClr val="222222"/>
                </a:solidFill>
                <a:latin typeface="Arial"/>
                <a:cs typeface="Arial"/>
              </a:rPr>
              <a:t>Reading-fluency check against NIPUN words-per-minute goals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TECHNICAL APPROACH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5689600" cy="7683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Trade Gothic Condensed Bold"/>
                  <a:ea typeface="Trade Gothic Condensed Bold"/>
                  <a:cs typeface="Trade Gothic Condensed Bold"/>
                  <a:sym typeface="Trade Gothic Condensed Bold"/>
                </a:rPr>
                <a:t>3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972300" y="9534525"/>
            <a:ext cx="4806001" cy="547688"/>
            <a:chOff x="0" y="0"/>
            <a:chExt cx="6408001" cy="73025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408000" cy="730250"/>
            </a:xfrm>
            <a:custGeom>
              <a:avLst/>
              <a:gdLst/>
              <a:ahLst/>
              <a:cxnLst/>
              <a:rect r="r" b="b" t="t" l="l"/>
              <a:pathLst>
                <a:path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20982" r="0" b="-120982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6408001" cy="7683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Trade Gothic Condensed"/>
                  <a:ea typeface="Trade Gothic Condensed"/>
                  <a:cs typeface="Trade Gothic Condensed"/>
                  <a:sym typeface="Trade Gothic Condensed"/>
                </a:rPr>
                <a:t>@SIH Idea submission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475612" y="359321"/>
            <a:ext cx="1915887" cy="1249099"/>
            <a:chOff x="0" y="0"/>
            <a:chExt cx="2554516" cy="1665465"/>
          </a:xfrm>
        </p:grpSpPr>
        <p:sp>
          <p:nvSpPr>
            <p:cNvPr name="Freeform 14" id="14" descr="Your startup LOGO"/>
            <p:cNvSpPr/>
            <p:nvPr/>
          </p:nvSpPr>
          <p:spPr>
            <a:xfrm flipH="false" flipV="false" rot="0">
              <a:off x="0" y="0"/>
              <a:ext cx="2554478" cy="1665478"/>
            </a:xfrm>
            <a:custGeom>
              <a:avLst/>
              <a:gdLst/>
              <a:ahLst/>
              <a:cxnLst/>
              <a:rect r="r" b="b" t="t" l="l"/>
              <a:pathLst>
                <a:path h="1665478" w="2554478">
                  <a:moveTo>
                    <a:pt x="0" y="832739"/>
                  </a:moveTo>
                  <a:cubicBezTo>
                    <a:pt x="0" y="372872"/>
                    <a:pt x="571881" y="0"/>
                    <a:pt x="1277239" y="0"/>
                  </a:cubicBezTo>
                  <a:cubicBezTo>
                    <a:pt x="1982597" y="0"/>
                    <a:pt x="2554478" y="372872"/>
                    <a:pt x="2554478" y="832739"/>
                  </a:cubicBezTo>
                  <a:cubicBezTo>
                    <a:pt x="2554478" y="1292606"/>
                    <a:pt x="1982597" y="1665478"/>
                    <a:pt x="1277239" y="1665478"/>
                  </a:cubicBezTo>
                  <a:cubicBezTo>
                    <a:pt x="571881" y="1665478"/>
                    <a:pt x="0" y="1292606"/>
                    <a:pt x="0" y="832739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8064A2"/>
              </a:solidFill>
              <a:prstDash val="solid"/>
              <a:miter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57150"/>
              <a:ext cx="2554516" cy="17226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8-bitPool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1"/>
              </a:stretch>
            </a:blip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475612" y="1942358"/>
            <a:ext cx="8501177" cy="3103575"/>
            <a:chOff x="0" y="0"/>
            <a:chExt cx="11334902" cy="41381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1334890" cy="4138163"/>
            </a:xfrm>
            <a:custGeom>
              <a:avLst/>
              <a:gdLst/>
              <a:ahLst/>
              <a:cxnLst/>
              <a:rect r="r" b="b" t="t" l="l"/>
              <a:pathLst>
                <a:path h="4138163" w="11334890">
                  <a:moveTo>
                    <a:pt x="0" y="689736"/>
                  </a:moveTo>
                  <a:cubicBezTo>
                    <a:pt x="0" y="308737"/>
                    <a:pt x="307295" y="0"/>
                    <a:pt x="686515" y="0"/>
                  </a:cubicBezTo>
                  <a:lnTo>
                    <a:pt x="10648375" y="0"/>
                  </a:lnTo>
                  <a:cubicBezTo>
                    <a:pt x="11027469" y="0"/>
                    <a:pt x="11334890" y="308737"/>
                    <a:pt x="11334890" y="689736"/>
                  </a:cubicBezTo>
                  <a:lnTo>
                    <a:pt x="11334890" y="3448427"/>
                  </a:lnTo>
                  <a:cubicBezTo>
                    <a:pt x="11334890" y="3829300"/>
                    <a:pt x="11027595" y="4138163"/>
                    <a:pt x="10648375" y="4138163"/>
                  </a:cubicBezTo>
                  <a:lnTo>
                    <a:pt x="686515" y="4138163"/>
                  </a:lnTo>
                  <a:cubicBezTo>
                    <a:pt x="307295" y="4138036"/>
                    <a:pt x="0" y="3829300"/>
                    <a:pt x="0" y="3448427"/>
                  </a:cubicBezTo>
                  <a:close/>
                </a:path>
              </a:pathLst>
            </a:custGeom>
            <a:solidFill>
              <a:srgbClr val="F2F3F5"/>
            </a:solidFill>
            <a:ln w="28575" cap="sq">
              <a:solidFill>
                <a:srgbClr val="1E7145"/>
              </a:solidFill>
              <a:prstDash val="solid"/>
              <a:miter/>
            </a:ln>
          </p:spPr>
        </p:sp>
        <p:sp>
          <p:nvSpPr>
            <p:cNvPr name="TextBox 20" id="20"/>
            <p:cNvSpPr txBox="true"/>
            <p:nvPr/>
          </p:nvSpPr>
          <p:spPr>
            <a:xfrm>
              <a:off x="0" y="-9525"/>
              <a:ext cx="11334902" cy="4147625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2999"/>
                </a:lnSpc>
              </a:pPr>
              <a:r>
                <a:rPr lang="en-US" sz="2499" b="true">
                  <a:solidFill>
                    <a:srgbClr val="1E714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• WHAT'S BUILT &amp; RUNNING TODAY</a:t>
              </a:r>
            </a:p>
            <a:p>
              <a:pPr algn="l">
                <a:lnSpc>
                  <a:spcPts val="2999"/>
                </a:lnSpc>
              </a:pPr>
            </a:p>
            <a:p>
              <a:pPr algn="l">
                <a:lnSpc>
                  <a:spcPts val="2399"/>
                </a:lnSpc>
              </a:pPr>
              <a:r>
                <a:rPr lang="en-US" sz="1999">
                  <a:solidFill>
                    <a:srgbClr val="222222"/>
                  </a:solidFill>
                  <a:latin typeface="Arial"/>
                  <a:ea typeface="Arial"/>
                  <a:cs typeface="Arial"/>
                  <a:sym typeface="Arial"/>
                </a:rPr>
                <a:t>• Android app: lessons, worksheets, spoken lesson lines, typed translation; tested offline on a 4 GB tablet and a 2 GB Android 9 emulator</a:t>
              </a:r>
            </a:p>
            <a:p>
              <a:pPr algn="l">
                <a:lnSpc>
                  <a:spcPts val="2399"/>
                </a:lnSpc>
              </a:pPr>
              <a:r>
                <a:rPr lang="en-US" sz="1999">
                  <a:solidFill>
                    <a:srgbClr val="222222"/>
                  </a:solidFill>
                  <a:latin typeface="Arial"/>
                  <a:ea typeface="Arial"/>
                  <a:cs typeface="Arial"/>
                  <a:sym typeface="Arial"/>
                </a:rPr>
                <a:t>• Laptop hub: Flask API + one HTML page; tablets join over Wi-Fi</a:t>
              </a:r>
            </a:p>
            <a:p>
              <a:pPr algn="l">
                <a:lnSpc>
                  <a:spcPts val="2399"/>
                </a:lnSpc>
              </a:pPr>
              <a:r>
                <a:rPr lang="en-US" sz="1999">
                  <a:solidFill>
                    <a:srgbClr val="222222"/>
                  </a:solidFill>
                  <a:latin typeface="Arial"/>
                  <a:ea typeface="Arial"/>
                  <a:cs typeface="Arial"/>
                  <a:sym typeface="Arial"/>
                </a:rPr>
                <a:t>• Real models live: speech recognition, translation, synthesis</a:t>
              </a:r>
            </a:p>
            <a:p>
              <a:pPr algn="l">
                <a:lnSpc>
                  <a:spcPts val="2399"/>
                </a:lnSpc>
              </a:pPr>
              <a:r>
                <a:rPr lang="en-US" sz="1999">
                  <a:solidFill>
                    <a:srgbClr val="222222"/>
                  </a:solidFill>
                  <a:latin typeface="Arial"/>
                  <a:ea typeface="Arial"/>
                  <a:cs typeface="Arial"/>
                  <a:sym typeface="Arial"/>
                </a:rPr>
                <a:t>• Hindi / Santali / English UI; 18 NIPUN lessons, Balvatika–Grade 3</a:t>
              </a:r>
            </a:p>
            <a:p>
              <a:pPr algn="l">
                <a:lnSpc>
                  <a:spcPts val="2399"/>
                </a:lnSpc>
              </a:pPr>
              <a:r>
                <a:rPr lang="en-US" sz="1999">
                  <a:solidFill>
                    <a:srgbClr val="222222"/>
                  </a:solidFill>
                  <a:latin typeface="Arial"/>
                  <a:ea typeface="Arial"/>
                  <a:cs typeface="Arial"/>
                  <a:sym typeface="Arial"/>
                </a:rPr>
                <a:t>• Teachers add lessons from Hindi text; progress by NIPUN Lakshya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9323213" y="1942358"/>
            <a:ext cx="8541077" cy="3103575"/>
            <a:chOff x="0" y="0"/>
            <a:chExt cx="11388103" cy="41381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1388090" cy="4138163"/>
            </a:xfrm>
            <a:custGeom>
              <a:avLst/>
              <a:gdLst/>
              <a:ahLst/>
              <a:cxnLst/>
              <a:rect r="r" b="b" t="t" l="l"/>
              <a:pathLst>
                <a:path h="4138163" w="11388090">
                  <a:moveTo>
                    <a:pt x="0" y="689736"/>
                  </a:moveTo>
                  <a:cubicBezTo>
                    <a:pt x="0" y="308737"/>
                    <a:pt x="308737" y="0"/>
                    <a:pt x="689737" y="0"/>
                  </a:cubicBezTo>
                  <a:lnTo>
                    <a:pt x="10698353" y="0"/>
                  </a:lnTo>
                  <a:cubicBezTo>
                    <a:pt x="11079226" y="0"/>
                    <a:pt x="11388090" y="308737"/>
                    <a:pt x="11388090" y="689736"/>
                  </a:cubicBezTo>
                  <a:lnTo>
                    <a:pt x="11388090" y="3448427"/>
                  </a:lnTo>
                  <a:cubicBezTo>
                    <a:pt x="11388090" y="3829300"/>
                    <a:pt x="11079353" y="4138163"/>
                    <a:pt x="10698353" y="4138163"/>
                  </a:cubicBezTo>
                  <a:lnTo>
                    <a:pt x="689737" y="4138163"/>
                  </a:lnTo>
                  <a:cubicBezTo>
                    <a:pt x="308737" y="4138036"/>
                    <a:pt x="0" y="3829300"/>
                    <a:pt x="0" y="3448427"/>
                  </a:cubicBezTo>
                  <a:close/>
                </a:path>
              </a:pathLst>
            </a:custGeom>
            <a:solidFill>
              <a:srgbClr val="F2F3F5"/>
            </a:solidFill>
            <a:ln w="28575" cap="sq">
              <a:solidFill>
                <a:srgbClr val="1F6FB2"/>
              </a:solidFill>
              <a:prstDash val="solid"/>
              <a:miter/>
            </a:ln>
          </p:spPr>
        </p:sp>
        <p:sp>
          <p:nvSpPr>
            <p:cNvPr name="TextBox 23" id="23"/>
            <p:cNvSpPr txBox="true"/>
            <p:nvPr/>
          </p:nvSpPr>
          <p:spPr>
            <a:xfrm>
              <a:off x="0" y="-9525"/>
              <a:ext cx="11388103" cy="4147625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2999"/>
                </a:lnSpc>
              </a:pPr>
              <a:r>
                <a:rPr lang="en-US" sz="2499" b="true">
                  <a:solidFill>
                    <a:srgbClr val="1F6FB2"/>
                  </a:solidFill>
                  <a:latin typeface="Arial Bold"/>
                  <a:ea typeface="Arial Bold"/>
                  <a:cs typeface="Arial Bold"/>
                  <a:sym typeface="Arial Bold"/>
                </a:rPr>
                <a:t>• THE AI PIPELINE — BUILT, NOT PLANNED</a:t>
              </a:r>
            </a:p>
            <a:p>
              <a:pPr algn="l">
                <a:lnSpc>
                  <a:spcPts val="2999"/>
                </a:lnSpc>
              </a:pPr>
            </a:p>
            <a:p>
              <a:pPr algn="l">
                <a:lnSpc>
                  <a:spcPts val="2399"/>
                </a:lnSpc>
              </a:pPr>
              <a:r>
                <a:rPr lang="en-US" sz="1999">
                  <a:solidFill>
                    <a:srgbClr val="222222"/>
                  </a:solidFill>
                  <a:latin typeface="Arial"/>
                  <a:ea typeface="Arial"/>
                  <a:cs typeface="Arial"/>
                  <a:sym typeface="Arial"/>
                </a:rPr>
                <a:t>• ASR: IndicConformer — 600M on the hub, 120M int8 on the tablet</a:t>
              </a:r>
            </a:p>
            <a:p>
              <a:pPr algn="l">
                <a:lnSpc>
                  <a:spcPts val="2399"/>
                </a:lnSpc>
              </a:pPr>
              <a:r>
                <a:rPr lang="en-US" sz="1999">
                  <a:solidFill>
                    <a:srgbClr val="222222"/>
                  </a:solidFill>
                  <a:latin typeface="Arial"/>
                  <a:ea typeface="Arial"/>
                  <a:cs typeface="Arial"/>
                  <a:sym typeface="Arial"/>
                </a:rPr>
                <a:t>• NMT: IndicTrans2 320M, direct Hindi↔Santali, no English pivot</a:t>
              </a:r>
            </a:p>
            <a:p>
              <a:pPr algn="l">
                <a:lnSpc>
                  <a:spcPts val="2399"/>
                </a:lnSpc>
              </a:pPr>
              <a:r>
                <a:rPr lang="en-US" sz="1999">
                  <a:solidFill>
                    <a:srgbClr val="222222"/>
                  </a:solidFill>
                  <a:latin typeface="Arial"/>
                  <a:ea typeface="Arial"/>
                  <a:cs typeface="Arial"/>
                  <a:sym typeface="Arial"/>
                </a:rPr>
                <a:t>• TTS: Piper voice reads Santali via our Ol Chiki transliterator</a:t>
              </a:r>
            </a:p>
            <a:p>
              <a:pPr algn="l">
                <a:lnSpc>
                  <a:spcPts val="2399"/>
                </a:lnSpc>
              </a:pPr>
              <a:r>
                <a:rPr lang="en-US" sz="1999">
                  <a:solidFill>
                    <a:srgbClr val="222222"/>
                  </a:solidFill>
                  <a:latin typeface="Arial"/>
                  <a:ea typeface="Arial"/>
                  <a:cs typeface="Arial"/>
                  <a:sym typeface="Arial"/>
                </a:rPr>
                <a:t>• Offline: sockets-off laptop test; tablet tested in airplane mode</a:t>
              </a:r>
            </a:p>
            <a:p>
              <a:pPr algn="l">
                <a:lnSpc>
                  <a:spcPts val="2399"/>
                </a:lnSpc>
              </a:pPr>
              <a:r>
                <a:rPr lang="en-US" sz="1999">
                  <a:solidFill>
                    <a:srgbClr val="222222"/>
                  </a:solidFill>
                  <a:latin typeface="Arial"/>
                  <a:ea typeface="Arial"/>
                  <a:cs typeface="Arial"/>
                  <a:sym typeface="Arial"/>
                </a:rPr>
                <a:t>• Santali live; Mundari translation preview; Ho voice preview</a:t>
              </a:r>
            </a:p>
            <a:p>
              <a:pPr algn="l">
                <a:lnSpc>
                  <a:spcPts val="2399"/>
                </a:lnSpc>
              </a:pPr>
              <a:r>
                <a:rPr lang="en-US" sz="1999">
                  <a:solidFill>
                    <a:srgbClr val="222222"/>
                  </a:solidFill>
                  <a:latin typeface="Arial"/>
                  <a:ea typeface="Arial"/>
                  <a:cs typeface="Arial"/>
                  <a:sym typeface="Arial"/>
                </a:rPr>
                <a:t>• Our training: Mundari LoRA; Santali voice fine-tune vs a pre-set rule</a:t>
              </a: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554288" y="5150708"/>
            <a:ext cx="17310002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99"/>
              </a:lnSpc>
            </a:pPr>
            <a:r>
              <a:rPr lang="en-US" sz="2749" b="true">
                <a:solidFill>
                  <a:srgbClr val="14324D"/>
                </a:solidFill>
                <a:latin typeface="Arial Bold"/>
                <a:ea typeface="Arial Bold"/>
                <a:cs typeface="Arial Bold"/>
                <a:sym typeface="Arial Bold"/>
              </a:rPr>
              <a:t>Methodology and process for implementation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144004" y="5706648"/>
            <a:ext cx="5599995" cy="3450000"/>
            <a:chOff x="0" y="0"/>
            <a:chExt cx="7466660" cy="4600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7466711" cy="4600063"/>
            </a:xfrm>
            <a:custGeom>
              <a:avLst/>
              <a:gdLst/>
              <a:ahLst/>
              <a:cxnLst/>
              <a:rect r="r" b="b" t="t" l="l"/>
              <a:pathLst>
                <a:path h="4600063" w="7466711">
                  <a:moveTo>
                    <a:pt x="0" y="766698"/>
                  </a:moveTo>
                  <a:cubicBezTo>
                    <a:pt x="0" y="343281"/>
                    <a:pt x="343281" y="0"/>
                    <a:pt x="766699" y="0"/>
                  </a:cubicBezTo>
                  <a:lnTo>
                    <a:pt x="6700012" y="0"/>
                  </a:lnTo>
                  <a:cubicBezTo>
                    <a:pt x="7123430" y="0"/>
                    <a:pt x="7466711" y="343281"/>
                    <a:pt x="7466711" y="766698"/>
                  </a:cubicBezTo>
                  <a:lnTo>
                    <a:pt x="7466711" y="3833365"/>
                  </a:lnTo>
                  <a:cubicBezTo>
                    <a:pt x="7466711" y="4256783"/>
                    <a:pt x="7123430" y="4600063"/>
                    <a:pt x="6700012" y="4600063"/>
                  </a:cubicBezTo>
                  <a:lnTo>
                    <a:pt x="766699" y="4600063"/>
                  </a:lnTo>
                  <a:cubicBezTo>
                    <a:pt x="343281" y="4599937"/>
                    <a:pt x="0" y="4256783"/>
                    <a:pt x="0" y="3833365"/>
                  </a:cubicBezTo>
                  <a:close/>
                </a:path>
              </a:pathLst>
            </a:custGeom>
            <a:solidFill>
              <a:srgbClr val="14324D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9525"/>
              <a:ext cx="7466660" cy="4609525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>
                <a:lnSpc>
                  <a:spcPts val="3089"/>
                </a:lnSpc>
              </a:pPr>
              <a:r>
                <a:rPr lang="en-US" sz="2574" b="tru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TEACHER INTERFACE</a:t>
              </a: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189009" y="6357129"/>
            <a:ext cx="5510003" cy="1771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89"/>
              </a:lnSpc>
            </a:pPr>
            <a:r>
              <a:rPr lang="en-US" sz="2324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– Voice or typed input (Hindi)</a:t>
            </a:r>
          </a:p>
          <a:p>
            <a:pPr algn="l">
              <a:lnSpc>
                <a:spcPts val="2789"/>
              </a:lnSpc>
            </a:pPr>
            <a:r>
              <a:rPr lang="en-US" sz="2324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– Lesson / activity / assessment modes</a:t>
            </a:r>
          </a:p>
          <a:p>
            <a:pPr algn="l">
              <a:lnSpc>
                <a:spcPts val="2789"/>
              </a:lnSpc>
            </a:pPr>
            <a:r>
              <a:rPr lang="en-US" sz="2324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– Add a lesson from Hindi text</a:t>
            </a:r>
          </a:p>
          <a:p>
            <a:pPr algn="l">
              <a:lnSpc>
                <a:spcPts val="2789"/>
              </a:lnSpc>
            </a:pPr>
            <a:r>
              <a:rPr lang="en-US" sz="2324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– Reading guide in Devanagari</a:t>
            </a:r>
          </a:p>
          <a:p>
            <a:pPr algn="l">
              <a:lnSpc>
                <a:spcPts val="2789"/>
              </a:lnSpc>
            </a:pPr>
            <a:r>
              <a:rPr lang="en-US" sz="2324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– Android tablet app, or laptop browser</a:t>
            </a:r>
          </a:p>
          <a:p>
            <a:pPr algn="l">
              <a:lnSpc>
                <a:spcPts val="2789"/>
              </a:lnSpc>
            </a:pPr>
            <a:r>
              <a:rPr lang="en-US" sz="2324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– Signed content sync, then no network</a:t>
            </a:r>
          </a:p>
        </p:txBody>
      </p:sp>
      <p:sp>
        <p:nvSpPr>
          <p:cNvPr name="AutoShape 29" id="29"/>
          <p:cNvSpPr/>
          <p:nvPr/>
        </p:nvSpPr>
        <p:spPr>
          <a:xfrm>
            <a:off x="5799958" y="7412605"/>
            <a:ext cx="488100" cy="38097"/>
          </a:xfrm>
          <a:prstGeom prst="line">
            <a:avLst/>
          </a:prstGeom>
          <a:ln cap="rnd" w="19050">
            <a:solidFill>
              <a:srgbClr val="14324D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30" id="30"/>
          <p:cNvGrpSpPr/>
          <p:nvPr/>
        </p:nvGrpSpPr>
        <p:grpSpPr>
          <a:xfrm rot="0">
            <a:off x="6344007" y="5706648"/>
            <a:ext cx="5599995" cy="3450000"/>
            <a:chOff x="0" y="0"/>
            <a:chExt cx="7466660" cy="46000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7466711" cy="4600063"/>
            </a:xfrm>
            <a:custGeom>
              <a:avLst/>
              <a:gdLst/>
              <a:ahLst/>
              <a:cxnLst/>
              <a:rect r="r" b="b" t="t" l="l"/>
              <a:pathLst>
                <a:path h="4600063" w="7466711">
                  <a:moveTo>
                    <a:pt x="0" y="766698"/>
                  </a:moveTo>
                  <a:cubicBezTo>
                    <a:pt x="0" y="343281"/>
                    <a:pt x="343281" y="0"/>
                    <a:pt x="766699" y="0"/>
                  </a:cubicBezTo>
                  <a:lnTo>
                    <a:pt x="6700012" y="0"/>
                  </a:lnTo>
                  <a:cubicBezTo>
                    <a:pt x="7123430" y="0"/>
                    <a:pt x="7466711" y="343281"/>
                    <a:pt x="7466711" y="766698"/>
                  </a:cubicBezTo>
                  <a:lnTo>
                    <a:pt x="7466711" y="3833365"/>
                  </a:lnTo>
                  <a:cubicBezTo>
                    <a:pt x="7466711" y="4256783"/>
                    <a:pt x="7123430" y="4600063"/>
                    <a:pt x="6700012" y="4600063"/>
                  </a:cubicBezTo>
                  <a:lnTo>
                    <a:pt x="766699" y="4600063"/>
                  </a:lnTo>
                  <a:cubicBezTo>
                    <a:pt x="343281" y="4599937"/>
                    <a:pt x="0" y="4256783"/>
                    <a:pt x="0" y="3833365"/>
                  </a:cubicBezTo>
                  <a:close/>
                </a:path>
              </a:pathLst>
            </a:custGeom>
            <a:solidFill>
              <a:srgbClr val="1F6FB2"/>
            </a:solid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9525"/>
              <a:ext cx="7466660" cy="4609525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>
                <a:lnSpc>
                  <a:spcPts val="3089"/>
                </a:lnSpc>
              </a:pPr>
              <a:r>
                <a:rPr lang="en-US" sz="2574" b="tru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AI ENGINE — OFFLINE</a:t>
              </a:r>
            </a:p>
          </p:txBody>
        </p:sp>
      </p:grpSp>
      <p:sp>
        <p:nvSpPr>
          <p:cNvPr name="TextBox 33" id="33"/>
          <p:cNvSpPr txBox="true"/>
          <p:nvPr/>
        </p:nvSpPr>
        <p:spPr>
          <a:xfrm rot="0">
            <a:off x="6389003" y="6357129"/>
            <a:ext cx="5510003" cy="2124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89"/>
              </a:lnSpc>
            </a:pPr>
            <a:r>
              <a:rPr lang="en-US" sz="2324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– Hindi + Santali ASR — IndicConformer</a:t>
            </a:r>
          </a:p>
          <a:p>
            <a:pPr algn="l">
              <a:lnSpc>
                <a:spcPts val="2789"/>
              </a:lnSpc>
            </a:pPr>
            <a:r>
              <a:rPr lang="en-US" sz="2324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– NMT — IndicTrans2, direct Indic↔Indic</a:t>
            </a:r>
          </a:p>
          <a:p>
            <a:pPr algn="l">
              <a:lnSpc>
                <a:spcPts val="2789"/>
              </a:lnSpc>
            </a:pPr>
            <a:r>
              <a:rPr lang="en-US" sz="2324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– TTS — Piper, offline voice</a:t>
            </a:r>
          </a:p>
          <a:p>
            <a:pPr algn="l">
              <a:lnSpc>
                <a:spcPts val="2789"/>
              </a:lnSpc>
            </a:pPr>
            <a:r>
              <a:rPr lang="en-US" sz="2324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– Teacher corrections reused first</a:t>
            </a:r>
          </a:p>
          <a:p>
            <a:pPr algn="l">
              <a:lnSpc>
                <a:spcPts val="2789"/>
              </a:lnSpc>
            </a:pPr>
            <a:r>
              <a:rPr lang="en-US" sz="2324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– Doubtful output flagged (tier C)</a:t>
            </a:r>
          </a:p>
          <a:p>
            <a:pPr algn="l">
              <a:lnSpc>
                <a:spcPts val="2789"/>
              </a:lnSpc>
            </a:pPr>
            <a:r>
              <a:rPr lang="en-US" sz="2324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– Long sentences streamed by clause</a:t>
            </a:r>
          </a:p>
        </p:txBody>
      </p:sp>
      <p:sp>
        <p:nvSpPr>
          <p:cNvPr name="AutoShape 34" id="34"/>
          <p:cNvSpPr/>
          <p:nvPr/>
        </p:nvSpPr>
        <p:spPr>
          <a:xfrm>
            <a:off x="11999951" y="7412605"/>
            <a:ext cx="488100" cy="38097"/>
          </a:xfrm>
          <a:prstGeom prst="line">
            <a:avLst/>
          </a:prstGeom>
          <a:ln cap="rnd" w="19050">
            <a:solidFill>
              <a:srgbClr val="14324D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35" id="35"/>
          <p:cNvGrpSpPr/>
          <p:nvPr/>
        </p:nvGrpSpPr>
        <p:grpSpPr>
          <a:xfrm rot="0">
            <a:off x="12544001" y="5706648"/>
            <a:ext cx="5599995" cy="3450000"/>
            <a:chOff x="0" y="0"/>
            <a:chExt cx="7466660" cy="46000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7466711" cy="4600063"/>
            </a:xfrm>
            <a:custGeom>
              <a:avLst/>
              <a:gdLst/>
              <a:ahLst/>
              <a:cxnLst/>
              <a:rect r="r" b="b" t="t" l="l"/>
              <a:pathLst>
                <a:path h="4600063" w="7466711">
                  <a:moveTo>
                    <a:pt x="0" y="766698"/>
                  </a:moveTo>
                  <a:cubicBezTo>
                    <a:pt x="0" y="343281"/>
                    <a:pt x="343281" y="0"/>
                    <a:pt x="766699" y="0"/>
                  </a:cubicBezTo>
                  <a:lnTo>
                    <a:pt x="6700012" y="0"/>
                  </a:lnTo>
                  <a:cubicBezTo>
                    <a:pt x="7123430" y="0"/>
                    <a:pt x="7466711" y="343281"/>
                    <a:pt x="7466711" y="766698"/>
                  </a:cubicBezTo>
                  <a:lnTo>
                    <a:pt x="7466711" y="3833365"/>
                  </a:lnTo>
                  <a:cubicBezTo>
                    <a:pt x="7466711" y="4256783"/>
                    <a:pt x="7123430" y="4600063"/>
                    <a:pt x="6700012" y="4600063"/>
                  </a:cubicBezTo>
                  <a:lnTo>
                    <a:pt x="766699" y="4600063"/>
                  </a:lnTo>
                  <a:cubicBezTo>
                    <a:pt x="343281" y="4599937"/>
                    <a:pt x="0" y="4256783"/>
                    <a:pt x="0" y="3833365"/>
                  </a:cubicBezTo>
                  <a:close/>
                </a:path>
              </a:pathLst>
            </a:custGeom>
            <a:solidFill>
              <a:srgbClr val="1E7145"/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9525"/>
              <a:ext cx="7466660" cy="4609525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>
                <a:lnSpc>
                  <a:spcPts val="3089"/>
                </a:lnSpc>
              </a:pPr>
              <a:r>
                <a:rPr lang="en-US" sz="2574" b="tru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STUDENT OUTPUT</a:t>
              </a: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12589007" y="6357129"/>
            <a:ext cx="5510003" cy="2124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89"/>
              </a:lnSpc>
            </a:pPr>
            <a:r>
              <a:rPr lang="en-US" sz="2324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– Santali audio + Ol Chiki text</a:t>
            </a:r>
          </a:p>
          <a:p>
            <a:pPr algn="l">
              <a:lnSpc>
                <a:spcPts val="2789"/>
              </a:lnSpc>
            </a:pPr>
            <a:r>
              <a:rPr lang="en-US" sz="2324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– Hindi response heard by teacher</a:t>
            </a:r>
          </a:p>
          <a:p>
            <a:pPr algn="l">
              <a:lnSpc>
                <a:spcPts val="2789"/>
              </a:lnSpc>
            </a:pPr>
            <a:r>
              <a:rPr lang="en-US" sz="2324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– Worksheet, flashcards, lesson plan</a:t>
            </a:r>
          </a:p>
          <a:p>
            <a:pPr algn="l">
              <a:lnSpc>
                <a:spcPts val="2789"/>
              </a:lnSpc>
            </a:pPr>
            <a:r>
              <a:rPr lang="en-US" sz="2324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– Green / yellow / red answer check</a:t>
            </a:r>
          </a:p>
          <a:p>
            <a:pPr algn="l">
              <a:lnSpc>
                <a:spcPts val="2789"/>
              </a:lnSpc>
            </a:pPr>
            <a:r>
              <a:rPr lang="en-US" sz="2324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– Reading-fluency score (words/min)</a:t>
            </a:r>
          </a:p>
          <a:p>
            <a:pPr algn="l">
              <a:lnSpc>
                <a:spcPts val="2789"/>
              </a:lnSpc>
            </a:pPr>
            <a:r>
              <a:rPr lang="en-US" sz="2324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– NIPUN Lakshya-tagged; NEP §4.11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FEASIBILITY AND VIABILITY</a:t>
              </a: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202959" y="1586227"/>
            <a:ext cx="10972800" cy="2009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81414" indent="-240707" lvl="1">
              <a:lnSpc>
                <a:spcPts val="3192"/>
              </a:lnSpc>
              <a:buFont typeface="Arial"/>
              <a:buChar char="•"/>
            </a:pPr>
            <a:r>
              <a:rPr lang="en-US" b="true" sz="2660">
                <a:solidFill>
                  <a:srgbClr val="14324D"/>
                </a:solidFill>
                <a:latin typeface="Arial Bold"/>
                <a:ea typeface="Arial Bold"/>
                <a:cs typeface="Arial Bold"/>
                <a:sym typeface="Arial Bold"/>
              </a:rPr>
              <a:t>Analysis of the feasibility of the idea</a:t>
            </a:r>
          </a:p>
          <a:p>
            <a:pPr algn="l" marL="953365" indent="-476683" lvl="1">
              <a:lnSpc>
                <a:spcPts val="6321"/>
              </a:lnSpc>
              <a:buFont typeface="Arial"/>
              <a:buChar char="•"/>
            </a:pPr>
          </a:p>
          <a:p>
            <a:pPr algn="l" marL="953365" indent="-476683" lvl="1">
              <a:lnSpc>
                <a:spcPts val="6321"/>
              </a:lnSpc>
              <a:buFont typeface="Arial"/>
              <a:buChar char="•"/>
            </a:pPr>
          </a:p>
        </p:txBody>
      </p:sp>
      <p:grpSp>
        <p:nvGrpSpPr>
          <p:cNvPr name="Group 8" id="8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5689600" cy="7683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b="true" sz="1800">
                  <a:solidFill>
                    <a:srgbClr val="FFFFFF"/>
                  </a:solidFill>
                  <a:latin typeface="Trade Gothic Condensed Bold"/>
                  <a:ea typeface="Trade Gothic Condensed Bold"/>
                  <a:cs typeface="Trade Gothic Condensed Bold"/>
                  <a:sym typeface="Trade Gothic Condensed Bold"/>
                </a:rPr>
                <a:t>4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6972300" y="9534525"/>
            <a:ext cx="4806001" cy="547688"/>
            <a:chOff x="0" y="0"/>
            <a:chExt cx="6408001" cy="73025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408000" cy="730250"/>
            </a:xfrm>
            <a:custGeom>
              <a:avLst/>
              <a:gdLst/>
              <a:ahLst/>
              <a:cxnLst/>
              <a:rect r="r" b="b" t="t" l="l"/>
              <a:pathLst>
                <a:path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20982" r="0" b="-120982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6408001" cy="7683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Trade Gothic Condensed"/>
                  <a:ea typeface="Trade Gothic Condensed"/>
                  <a:cs typeface="Trade Gothic Condensed"/>
                  <a:sym typeface="Trade Gothic Condensed"/>
                </a:rPr>
                <a:t>@SIH Idea submission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495005" y="161263"/>
            <a:ext cx="1915887" cy="1249099"/>
            <a:chOff x="0" y="0"/>
            <a:chExt cx="2554516" cy="1665465"/>
          </a:xfrm>
        </p:grpSpPr>
        <p:sp>
          <p:nvSpPr>
            <p:cNvPr name="Freeform 15" id="15" descr="Your startup LOGO"/>
            <p:cNvSpPr/>
            <p:nvPr/>
          </p:nvSpPr>
          <p:spPr>
            <a:xfrm flipH="false" flipV="false" rot="0">
              <a:off x="0" y="0"/>
              <a:ext cx="2554478" cy="1665478"/>
            </a:xfrm>
            <a:custGeom>
              <a:avLst/>
              <a:gdLst/>
              <a:ahLst/>
              <a:cxnLst/>
              <a:rect r="r" b="b" t="t" l="l"/>
              <a:pathLst>
                <a:path h="1665478" w="2554478">
                  <a:moveTo>
                    <a:pt x="0" y="832739"/>
                  </a:moveTo>
                  <a:cubicBezTo>
                    <a:pt x="0" y="372872"/>
                    <a:pt x="571881" y="0"/>
                    <a:pt x="1277239" y="0"/>
                  </a:cubicBezTo>
                  <a:cubicBezTo>
                    <a:pt x="1982597" y="0"/>
                    <a:pt x="2554478" y="372872"/>
                    <a:pt x="2554478" y="832739"/>
                  </a:cubicBezTo>
                  <a:cubicBezTo>
                    <a:pt x="2554478" y="1292606"/>
                    <a:pt x="1982597" y="1665478"/>
                    <a:pt x="1277239" y="1665478"/>
                  </a:cubicBezTo>
                  <a:cubicBezTo>
                    <a:pt x="571881" y="1665478"/>
                    <a:pt x="0" y="1292606"/>
                    <a:pt x="0" y="832739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8064A2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57150"/>
              <a:ext cx="2554516" cy="17226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8-bitPool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1"/>
              </a:stretch>
            </a:blipFill>
          </p:spPr>
        </p:sp>
      </p:grpSp>
      <p:grpSp>
        <p:nvGrpSpPr>
          <p:cNvPr name="Group 19" id="19"/>
          <p:cNvGrpSpPr/>
          <p:nvPr/>
        </p:nvGrpSpPr>
        <p:grpSpPr>
          <a:xfrm rot="0">
            <a:off x="405003" y="2029898"/>
            <a:ext cx="11018520" cy="2944252"/>
            <a:chOff x="0" y="0"/>
            <a:chExt cx="23200004" cy="3925669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3199979" cy="3925655"/>
            </a:xfrm>
            <a:custGeom>
              <a:avLst/>
              <a:gdLst/>
              <a:ahLst/>
              <a:cxnLst/>
              <a:rect r="r" b="b" t="t" l="l"/>
              <a:pathLst>
                <a:path h="3925655" w="23199979">
                  <a:moveTo>
                    <a:pt x="0" y="654252"/>
                  </a:moveTo>
                  <a:cubicBezTo>
                    <a:pt x="0" y="292868"/>
                    <a:pt x="261112" y="0"/>
                    <a:pt x="583311" y="0"/>
                  </a:cubicBezTo>
                  <a:lnTo>
                    <a:pt x="22616668" y="0"/>
                  </a:lnTo>
                  <a:cubicBezTo>
                    <a:pt x="22938867" y="0"/>
                    <a:pt x="23199979" y="292868"/>
                    <a:pt x="23199979" y="654252"/>
                  </a:cubicBezTo>
                  <a:lnTo>
                    <a:pt x="23199979" y="3271403"/>
                  </a:lnTo>
                  <a:cubicBezTo>
                    <a:pt x="23199979" y="3632787"/>
                    <a:pt x="22938867" y="3925655"/>
                    <a:pt x="22616668" y="3925655"/>
                  </a:cubicBezTo>
                  <a:lnTo>
                    <a:pt x="583311" y="3925655"/>
                  </a:lnTo>
                  <a:cubicBezTo>
                    <a:pt x="261112" y="3925655"/>
                    <a:pt x="0" y="3632787"/>
                    <a:pt x="0" y="3271403"/>
                  </a:cubicBezTo>
                  <a:close/>
                </a:path>
              </a:pathLst>
            </a:custGeom>
            <a:solidFill>
              <a:srgbClr val="F2F3F5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19050"/>
              <a:ext cx="23200004" cy="3944719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2250"/>
                </a:lnSpc>
                <a:spcBef>
                  <a:spcPts val="500"/>
                </a:spcBef>
              </a:pPr>
              <a:r>
                <a:rPr lang="en-US" sz="1850" b="1">
                  <a:solidFill>
                    <a:srgbClr val="222222"/>
                  </a:solidFill>
                  <a:latin typeface="Arial"/>
                  <a:ea typeface="Arial"/>
                  <a:cs typeface="Arial"/>
                  <a:sym typeface="Arial"/>
                </a:rPr>
                <a:t>• On-device today: </a:t>
              </a:r>
              <a:r>
                <a:rPr lang="en-US" sz="1850">
                  <a:solidFill>
                    <a:srgbClr val="222222"/>
                  </a:solidFill>
                  <a:latin typeface="Arial"/>
                  <a:ea typeface="Arial"/>
                  <a:cs typeface="Arial"/>
                  <a:sym typeface="Arial"/>
                </a:rPr>
                <a:t>Realme Pad Mini (4 GB) and a 2 GB Android 9 emulator, airplane mode: IndicConformer 120M, IndicTrans2 int8, Piper. New typed sentences translated on the tablet: p50 1.50 s (Realme), 0.60 s (emulator).</a:t>
              </a:r>
            </a:p>
            <a:p>
              <a:pPr algn="l">
                <a:lnSpc>
                  <a:spcPts val="2250"/>
                </a:lnSpc>
                <a:spcBef>
                  <a:spcPts val="500"/>
                </a:spcBef>
              </a:pPr>
              <a:r>
                <a:rPr lang="en-US" sz="1850" b="1">
                  <a:solidFill>
                    <a:srgbClr val="222222"/>
                  </a:solidFill>
                  <a:latin typeface="Arial"/>
                  <a:ea typeface="Arial"/>
                  <a:cs typeface="Arial"/>
                  <a:sym typeface="Arial"/>
                </a:rPr>
                <a:t>• Published evidence: </a:t>
              </a:r>
              <a:r>
                <a:rPr lang="en-US" sz="1850">
                  <a:solidFill>
                    <a:srgbClr val="222222"/>
                  </a:solidFill>
                  <a:latin typeface="Arial"/>
                  <a:ea typeface="Arial"/>
                  <a:cs typeface="Arial"/>
                  <a:sym typeface="Arial"/>
                </a:rPr>
                <a:t>Singh, Ekbal &amp; Pakray (MMLoSo 2025): fine-tuned IndicTrans2 beats ByT5 for English↔Santali; we use the same family for Hindi↔Santali.</a:t>
              </a:r>
            </a:p>
            <a:p>
              <a:pPr algn="l">
                <a:lnSpc>
                  <a:spcPts val="2250"/>
                </a:lnSpc>
                <a:spcBef>
                  <a:spcPts val="500"/>
                </a:spcBef>
              </a:pPr>
              <a:r>
                <a:rPr lang="en-US" sz="1850" b="1">
                  <a:solidFill>
                    <a:srgbClr val="222222"/>
                  </a:solidFill>
                  <a:latin typeface="Arial"/>
                  <a:ea typeface="Arial"/>
                  <a:cs typeface="Arial"/>
                  <a:sym typeface="Arial"/>
                </a:rPr>
                <a:t>• Benchmarks: </a:t>
              </a:r>
              <a:r>
                <a:rPr lang="en-US" sz="1850">
                  <a:solidFill>
                    <a:srgbClr val="222222"/>
                  </a:solidFill>
                  <a:latin typeface="Arial"/>
                  <a:ea typeface="Arial"/>
                  <a:cs typeface="Arial"/>
                  <a:sym typeface="Arial"/>
                </a:rPr>
                <a:t>Hindi→Santali chrF++ 31.3 / 32.2 / 27.4 (IN22-Gen / IN22-Conv / FLORES-200), leakage-guarded; 300+ automated tests run in CI.</a:t>
              </a:r>
            </a:p>
            <a:p>
              <a:pPr algn="l">
                <a:lnSpc>
                  <a:spcPts val="2250"/>
                </a:lnSpc>
                <a:spcBef>
                  <a:spcPts val="500"/>
                </a:spcBef>
              </a:pPr>
              <a:r>
                <a:rPr lang="en-US" sz="1850" b="1">
                  <a:solidFill>
                    <a:srgbClr val="222222"/>
                  </a:solidFill>
                  <a:latin typeface="Arial"/>
                  <a:ea typeface="Arial"/>
                  <a:cs typeface="Arial"/>
                  <a:sym typeface="Arial"/>
                </a:rPr>
                <a:t>• In progress, tested: </a:t>
              </a:r>
              <a:r>
                <a:rPr lang="en-US" sz="1850">
                  <a:solidFill>
                    <a:srgbClr val="222222"/>
                  </a:solidFill>
                  <a:latin typeface="Arial"/>
                  <a:ea typeface="Arial"/>
                  <a:cs typeface="Arial"/>
                  <a:sym typeface="Arial"/>
                </a:rPr>
                <a:t>Mundari translation preview (our LoRA, held-out chrF++ 30.92); our fine-tuned Santali voice; Ho voice. Next: native-speaker review.</a:t>
              </a:r>
            </a:p>
          </p:txBody>
        </p:sp>
      </p:grpSp>
      <p:sp>
        <p:nvSpPr>
          <p:cNvPr name="TextBox 22" id="22"/>
          <p:cNvSpPr txBox="true"/>
          <p:nvPr/>
        </p:nvSpPr>
        <p:spPr>
          <a:xfrm rot="0">
            <a:off x="495005" y="4959137"/>
            <a:ext cx="17310002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43"/>
              </a:lnSpc>
            </a:pPr>
            <a:r>
              <a:rPr lang="en-US" sz="2536" b="true">
                <a:solidFill>
                  <a:srgbClr val="14324D"/>
                </a:solidFill>
                <a:latin typeface="Arial Bold"/>
                <a:ea typeface="Arial Bold"/>
                <a:cs typeface="Arial Bold"/>
                <a:sym typeface="Arial Bold"/>
              </a:rPr>
              <a:t>Potential challenges / risks  →  Strategies for overcoming them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440474" y="5504251"/>
            <a:ext cx="8371046" cy="885300"/>
            <a:chOff x="0" y="0"/>
            <a:chExt cx="11161395" cy="11804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1161395" cy="1180336"/>
            </a:xfrm>
            <a:custGeom>
              <a:avLst/>
              <a:gdLst/>
              <a:ahLst/>
              <a:cxnLst/>
              <a:rect r="r" b="b" t="t" l="l"/>
              <a:pathLst>
                <a:path h="1180336" w="11161395">
                  <a:moveTo>
                    <a:pt x="0" y="196723"/>
                  </a:moveTo>
                  <a:cubicBezTo>
                    <a:pt x="0" y="88138"/>
                    <a:pt x="88138" y="0"/>
                    <a:pt x="196723" y="0"/>
                  </a:cubicBezTo>
                  <a:lnTo>
                    <a:pt x="10964672" y="0"/>
                  </a:lnTo>
                  <a:cubicBezTo>
                    <a:pt x="11073384" y="0"/>
                    <a:pt x="11161395" y="88138"/>
                    <a:pt x="11161395" y="196723"/>
                  </a:cubicBezTo>
                  <a:lnTo>
                    <a:pt x="11161395" y="983614"/>
                  </a:lnTo>
                  <a:cubicBezTo>
                    <a:pt x="11161395" y="1092326"/>
                    <a:pt x="11073257" y="1180336"/>
                    <a:pt x="10964672" y="1180336"/>
                  </a:cubicBezTo>
                  <a:lnTo>
                    <a:pt x="196723" y="1180336"/>
                  </a:lnTo>
                  <a:cubicBezTo>
                    <a:pt x="88138" y="1180337"/>
                    <a:pt x="0" y="1092326"/>
                    <a:pt x="0" y="983614"/>
                  </a:cubicBezTo>
                  <a:close/>
                </a:path>
              </a:pathLst>
            </a:custGeom>
            <a:solidFill>
              <a:srgbClr val="F7E8E6"/>
            </a:solidFill>
            <a:ln w="19050" cap="sq">
              <a:solidFill>
                <a:srgbClr val="A3322A"/>
              </a:solidFill>
              <a:prstDash val="solid"/>
              <a:miter/>
            </a:ln>
          </p:spPr>
        </p:sp>
        <p:sp>
          <p:nvSpPr>
            <p:cNvPr name="TextBox 25" id="25"/>
            <p:cNvSpPr txBox="true"/>
            <p:nvPr/>
          </p:nvSpPr>
          <p:spPr>
            <a:xfrm>
              <a:off x="0" y="-9525"/>
              <a:ext cx="11161395" cy="11899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549"/>
                </a:lnSpc>
              </a:pPr>
              <a:r>
                <a:rPr lang="en-US" sz="2124">
                  <a:solidFill>
                    <a:srgbClr val="A3322A"/>
                  </a:solidFill>
                  <a:latin typeface="Arial"/>
                  <a:ea typeface="Arial"/>
                  <a:cs typeface="Arial"/>
                  <a:sym typeface="Arial"/>
                </a:rPr>
                <a:t>Ho &amp; Mundari have far less parallel data than Santali (already built) → lower initial accuracy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9488472" y="5504251"/>
            <a:ext cx="8371046" cy="885300"/>
            <a:chOff x="0" y="0"/>
            <a:chExt cx="11161395" cy="11804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1161395" cy="1180336"/>
            </a:xfrm>
            <a:custGeom>
              <a:avLst/>
              <a:gdLst/>
              <a:ahLst/>
              <a:cxnLst/>
              <a:rect r="r" b="b" t="t" l="l"/>
              <a:pathLst>
                <a:path h="1180336" w="11161395">
                  <a:moveTo>
                    <a:pt x="0" y="196723"/>
                  </a:moveTo>
                  <a:cubicBezTo>
                    <a:pt x="0" y="88138"/>
                    <a:pt x="88138" y="0"/>
                    <a:pt x="196723" y="0"/>
                  </a:cubicBezTo>
                  <a:lnTo>
                    <a:pt x="10964672" y="0"/>
                  </a:lnTo>
                  <a:cubicBezTo>
                    <a:pt x="11073384" y="0"/>
                    <a:pt x="11161395" y="88138"/>
                    <a:pt x="11161395" y="196723"/>
                  </a:cubicBezTo>
                  <a:lnTo>
                    <a:pt x="11161395" y="983614"/>
                  </a:lnTo>
                  <a:cubicBezTo>
                    <a:pt x="11161395" y="1092326"/>
                    <a:pt x="11073257" y="1180336"/>
                    <a:pt x="10964672" y="1180336"/>
                  </a:cubicBezTo>
                  <a:lnTo>
                    <a:pt x="196723" y="1180336"/>
                  </a:lnTo>
                  <a:cubicBezTo>
                    <a:pt x="88138" y="1180337"/>
                    <a:pt x="0" y="1092326"/>
                    <a:pt x="0" y="983614"/>
                  </a:cubicBezTo>
                  <a:close/>
                </a:path>
              </a:pathLst>
            </a:custGeom>
            <a:solidFill>
              <a:srgbClr val="E7F1EB"/>
            </a:solidFill>
            <a:ln w="19050" cap="sq">
              <a:solidFill>
                <a:srgbClr val="1E7145"/>
              </a:solidFill>
              <a:prstDash val="solid"/>
              <a:miter/>
            </a:ln>
          </p:spPr>
        </p:sp>
        <p:sp>
          <p:nvSpPr>
            <p:cNvPr name="TextBox 28" id="28"/>
            <p:cNvSpPr txBox="true"/>
            <p:nvPr/>
          </p:nvSpPr>
          <p:spPr>
            <a:xfrm>
              <a:off x="0" y="-9525"/>
              <a:ext cx="11161395" cy="11899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549"/>
                </a:lnSpc>
              </a:pPr>
              <a:r>
                <a:rPr lang="en-US" sz="2124">
                  <a:solidFill>
                    <a:srgbClr val="1E7145"/>
                  </a:solidFill>
                  <a:latin typeface="Arial"/>
                  <a:ea typeface="Arial"/>
                  <a:cs typeface="Arial"/>
                  <a:sym typeface="Arial"/>
                </a:rPr>
                <a:t>LoRA on IndicTrans2 already gives a Mundari preview; add PALASH textbooks, community recordings and teacher corrections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440474" y="6460504"/>
            <a:ext cx="8371046" cy="885300"/>
            <a:chOff x="0" y="0"/>
            <a:chExt cx="11161395" cy="118040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1161395" cy="1180336"/>
            </a:xfrm>
            <a:custGeom>
              <a:avLst/>
              <a:gdLst/>
              <a:ahLst/>
              <a:cxnLst/>
              <a:rect r="r" b="b" t="t" l="l"/>
              <a:pathLst>
                <a:path h="1180336" w="11161395">
                  <a:moveTo>
                    <a:pt x="0" y="196723"/>
                  </a:moveTo>
                  <a:cubicBezTo>
                    <a:pt x="0" y="88138"/>
                    <a:pt x="88138" y="0"/>
                    <a:pt x="196723" y="0"/>
                  </a:cubicBezTo>
                  <a:lnTo>
                    <a:pt x="10964672" y="0"/>
                  </a:lnTo>
                  <a:cubicBezTo>
                    <a:pt x="11073384" y="0"/>
                    <a:pt x="11161395" y="88138"/>
                    <a:pt x="11161395" y="196723"/>
                  </a:cubicBezTo>
                  <a:lnTo>
                    <a:pt x="11161395" y="983614"/>
                  </a:lnTo>
                  <a:cubicBezTo>
                    <a:pt x="11161395" y="1092326"/>
                    <a:pt x="11073257" y="1180336"/>
                    <a:pt x="10964672" y="1180336"/>
                  </a:cubicBezTo>
                  <a:lnTo>
                    <a:pt x="196723" y="1180336"/>
                  </a:lnTo>
                  <a:cubicBezTo>
                    <a:pt x="88138" y="1180337"/>
                    <a:pt x="0" y="1092326"/>
                    <a:pt x="0" y="983614"/>
                  </a:cubicBezTo>
                  <a:close/>
                </a:path>
              </a:pathLst>
            </a:custGeom>
            <a:solidFill>
              <a:srgbClr val="F7E8E6"/>
            </a:solidFill>
            <a:ln w="19050" cap="sq">
              <a:solidFill>
                <a:srgbClr val="A3322A"/>
              </a:solidFill>
              <a:prstDash val="solid"/>
              <a:miter/>
            </a:ln>
          </p:spPr>
        </p:sp>
        <p:sp>
          <p:nvSpPr>
            <p:cNvPr name="TextBox 31" id="31"/>
            <p:cNvSpPr txBox="true"/>
            <p:nvPr/>
          </p:nvSpPr>
          <p:spPr>
            <a:xfrm>
              <a:off x="0" y="-9525"/>
              <a:ext cx="11161395" cy="11899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549"/>
                </a:lnSpc>
              </a:pPr>
              <a:r>
                <a:rPr lang="en-US" sz="2124">
                  <a:solidFill>
                    <a:srgbClr val="A3322A"/>
                  </a:solidFill>
                  <a:latin typeface="Arial"/>
                  <a:ea typeface="Arial"/>
                  <a:cs typeface="Arial"/>
                  <a:sym typeface="Arial"/>
                </a:rPr>
                <a:t>Low-end tablets vary in RAM, CPU speed and heat — the weakest devices could exceed the 3-second latency limit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9488472" y="6460504"/>
            <a:ext cx="8371046" cy="885300"/>
            <a:chOff x="0" y="0"/>
            <a:chExt cx="11161395" cy="11804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1161395" cy="1180336"/>
            </a:xfrm>
            <a:custGeom>
              <a:avLst/>
              <a:gdLst/>
              <a:ahLst/>
              <a:cxnLst/>
              <a:rect r="r" b="b" t="t" l="l"/>
              <a:pathLst>
                <a:path h="1180336" w="11161395">
                  <a:moveTo>
                    <a:pt x="0" y="196723"/>
                  </a:moveTo>
                  <a:cubicBezTo>
                    <a:pt x="0" y="88138"/>
                    <a:pt x="88138" y="0"/>
                    <a:pt x="196723" y="0"/>
                  </a:cubicBezTo>
                  <a:lnTo>
                    <a:pt x="10964672" y="0"/>
                  </a:lnTo>
                  <a:cubicBezTo>
                    <a:pt x="11073384" y="0"/>
                    <a:pt x="11161395" y="88138"/>
                    <a:pt x="11161395" y="196723"/>
                  </a:cubicBezTo>
                  <a:lnTo>
                    <a:pt x="11161395" y="983614"/>
                  </a:lnTo>
                  <a:cubicBezTo>
                    <a:pt x="11161395" y="1092326"/>
                    <a:pt x="11073257" y="1180336"/>
                    <a:pt x="10964672" y="1180336"/>
                  </a:cubicBezTo>
                  <a:lnTo>
                    <a:pt x="196723" y="1180336"/>
                  </a:lnTo>
                  <a:cubicBezTo>
                    <a:pt x="88138" y="1180337"/>
                    <a:pt x="0" y="1092326"/>
                    <a:pt x="0" y="983614"/>
                  </a:cubicBezTo>
                  <a:close/>
                </a:path>
              </a:pathLst>
            </a:custGeom>
            <a:solidFill>
              <a:srgbClr val="E7F1EB"/>
            </a:solidFill>
            <a:ln w="19050" cap="sq">
              <a:solidFill>
                <a:srgbClr val="1E7145"/>
              </a:solidFill>
              <a:prstDash val="solid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9525"/>
              <a:ext cx="11161395" cy="11899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549"/>
                </a:lnSpc>
              </a:pPr>
              <a:r>
                <a:rPr lang="en-US" sz="2124">
                  <a:solidFill>
                    <a:srgbClr val="1E7145"/>
                  </a:solidFill>
                  <a:latin typeface="Arial"/>
                  <a:ea typeface="Arial"/>
                  <a:cs typeface="Arial"/>
                  <a:sym typeface="Arial"/>
                </a:rPr>
                <a:t>INT8 models on the tablet, lessons pre-translated at sync, spoken lesson lines matched on-device, live latency readout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440474" y="7416757"/>
            <a:ext cx="8371046" cy="885300"/>
            <a:chOff x="0" y="0"/>
            <a:chExt cx="11161395" cy="11804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11161395" cy="1180336"/>
            </a:xfrm>
            <a:custGeom>
              <a:avLst/>
              <a:gdLst/>
              <a:ahLst/>
              <a:cxnLst/>
              <a:rect r="r" b="b" t="t" l="l"/>
              <a:pathLst>
                <a:path h="1180336" w="11161395">
                  <a:moveTo>
                    <a:pt x="0" y="196723"/>
                  </a:moveTo>
                  <a:cubicBezTo>
                    <a:pt x="0" y="88138"/>
                    <a:pt x="88138" y="0"/>
                    <a:pt x="196723" y="0"/>
                  </a:cubicBezTo>
                  <a:lnTo>
                    <a:pt x="10964672" y="0"/>
                  </a:lnTo>
                  <a:cubicBezTo>
                    <a:pt x="11073384" y="0"/>
                    <a:pt x="11161395" y="88138"/>
                    <a:pt x="11161395" y="196723"/>
                  </a:cubicBezTo>
                  <a:lnTo>
                    <a:pt x="11161395" y="983614"/>
                  </a:lnTo>
                  <a:cubicBezTo>
                    <a:pt x="11161395" y="1092326"/>
                    <a:pt x="11073257" y="1180336"/>
                    <a:pt x="10964672" y="1180336"/>
                  </a:cubicBezTo>
                  <a:lnTo>
                    <a:pt x="196723" y="1180336"/>
                  </a:lnTo>
                  <a:cubicBezTo>
                    <a:pt x="88138" y="1180337"/>
                    <a:pt x="0" y="1092326"/>
                    <a:pt x="0" y="983614"/>
                  </a:cubicBezTo>
                  <a:close/>
                </a:path>
              </a:pathLst>
            </a:custGeom>
            <a:solidFill>
              <a:srgbClr val="F7E8E6"/>
            </a:solidFill>
            <a:ln w="19050" cap="sq">
              <a:solidFill>
                <a:srgbClr val="A3322A"/>
              </a:solidFill>
              <a:prstDash val="solid"/>
              <a:miter/>
            </a:ln>
          </p:spPr>
        </p:sp>
        <p:sp>
          <p:nvSpPr>
            <p:cNvPr name="TextBox 37" id="37"/>
            <p:cNvSpPr txBox="true"/>
            <p:nvPr/>
          </p:nvSpPr>
          <p:spPr>
            <a:xfrm>
              <a:off x="0" y="-9525"/>
              <a:ext cx="11161395" cy="11899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549"/>
                </a:lnSpc>
              </a:pPr>
              <a:r>
                <a:rPr lang="en-US" sz="2124">
                  <a:solidFill>
                    <a:srgbClr val="A3322A"/>
                  </a:solidFill>
                  <a:latin typeface="Arial"/>
                  <a:ea typeface="Arial"/>
                  <a:cs typeface="Arial"/>
                  <a:sym typeface="Arial"/>
                </a:rPr>
                <a:t>Processing children's voice data raises data-privacy concerns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9488472" y="7416757"/>
            <a:ext cx="8371046" cy="885300"/>
            <a:chOff x="0" y="0"/>
            <a:chExt cx="11161395" cy="118040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1161395" cy="1180336"/>
            </a:xfrm>
            <a:custGeom>
              <a:avLst/>
              <a:gdLst/>
              <a:ahLst/>
              <a:cxnLst/>
              <a:rect r="r" b="b" t="t" l="l"/>
              <a:pathLst>
                <a:path h="1180336" w="11161395">
                  <a:moveTo>
                    <a:pt x="0" y="196723"/>
                  </a:moveTo>
                  <a:cubicBezTo>
                    <a:pt x="0" y="88138"/>
                    <a:pt x="88138" y="0"/>
                    <a:pt x="196723" y="0"/>
                  </a:cubicBezTo>
                  <a:lnTo>
                    <a:pt x="10964672" y="0"/>
                  </a:lnTo>
                  <a:cubicBezTo>
                    <a:pt x="11073384" y="0"/>
                    <a:pt x="11161395" y="88138"/>
                    <a:pt x="11161395" y="196723"/>
                  </a:cubicBezTo>
                  <a:lnTo>
                    <a:pt x="11161395" y="983614"/>
                  </a:lnTo>
                  <a:cubicBezTo>
                    <a:pt x="11161395" y="1092326"/>
                    <a:pt x="11073257" y="1180336"/>
                    <a:pt x="10964672" y="1180336"/>
                  </a:cubicBezTo>
                  <a:lnTo>
                    <a:pt x="196723" y="1180336"/>
                  </a:lnTo>
                  <a:cubicBezTo>
                    <a:pt x="88138" y="1180337"/>
                    <a:pt x="0" y="1092326"/>
                    <a:pt x="0" y="983614"/>
                  </a:cubicBezTo>
                  <a:close/>
                </a:path>
              </a:pathLst>
            </a:custGeom>
            <a:solidFill>
              <a:srgbClr val="E7F1EB"/>
            </a:solidFill>
            <a:ln w="19050" cap="sq">
              <a:solidFill>
                <a:srgbClr val="1E7145"/>
              </a:solidFill>
              <a:prstDash val="solid"/>
              <a:miter/>
            </a:ln>
          </p:spPr>
        </p:sp>
        <p:sp>
          <p:nvSpPr>
            <p:cNvPr name="TextBox 40" id="40"/>
            <p:cNvSpPr txBox="true"/>
            <p:nvPr/>
          </p:nvSpPr>
          <p:spPr>
            <a:xfrm>
              <a:off x="0" y="-9525"/>
              <a:ext cx="11161395" cy="11899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549"/>
                </a:lnSpc>
              </a:pPr>
              <a:r>
                <a:rPr lang="en-US" sz="2124">
                  <a:solidFill>
                    <a:srgbClr val="1E7145"/>
                  </a:solidFill>
                  <a:latin typeface="Arial"/>
                  <a:ea typeface="Arial"/>
                  <a:cs typeface="Arial"/>
                  <a:sym typeface="Arial"/>
                </a:rPr>
                <a:t>No cloud: speech stays on the tablet or school laptop; no child names in reports; reading-check audio deleted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440474" y="8373000"/>
            <a:ext cx="8371046" cy="885300"/>
            <a:chOff x="0" y="0"/>
            <a:chExt cx="11161395" cy="118040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11161395" cy="1180336"/>
            </a:xfrm>
            <a:custGeom>
              <a:avLst/>
              <a:gdLst/>
              <a:ahLst/>
              <a:cxnLst/>
              <a:rect r="r" b="b" t="t" l="l"/>
              <a:pathLst>
                <a:path h="1180336" w="11161395">
                  <a:moveTo>
                    <a:pt x="0" y="196723"/>
                  </a:moveTo>
                  <a:cubicBezTo>
                    <a:pt x="0" y="88138"/>
                    <a:pt x="88138" y="0"/>
                    <a:pt x="196723" y="0"/>
                  </a:cubicBezTo>
                  <a:lnTo>
                    <a:pt x="10964672" y="0"/>
                  </a:lnTo>
                  <a:cubicBezTo>
                    <a:pt x="11073384" y="0"/>
                    <a:pt x="11161395" y="88138"/>
                    <a:pt x="11161395" y="196723"/>
                  </a:cubicBezTo>
                  <a:lnTo>
                    <a:pt x="11161395" y="983614"/>
                  </a:lnTo>
                  <a:cubicBezTo>
                    <a:pt x="11161395" y="1092326"/>
                    <a:pt x="11073257" y="1180336"/>
                    <a:pt x="10964672" y="1180336"/>
                  </a:cubicBezTo>
                  <a:lnTo>
                    <a:pt x="196723" y="1180336"/>
                  </a:lnTo>
                  <a:cubicBezTo>
                    <a:pt x="88138" y="1180337"/>
                    <a:pt x="0" y="1092326"/>
                    <a:pt x="0" y="983614"/>
                  </a:cubicBezTo>
                  <a:close/>
                </a:path>
              </a:pathLst>
            </a:custGeom>
            <a:solidFill>
              <a:srgbClr val="F7E8E6"/>
            </a:solidFill>
            <a:ln w="19050" cap="sq">
              <a:solidFill>
                <a:srgbClr val="A3322A"/>
              </a:solidFill>
              <a:prstDash val="solid"/>
              <a:miter/>
            </a:ln>
          </p:spPr>
        </p:sp>
        <p:sp>
          <p:nvSpPr>
            <p:cNvPr name="TextBox 43" id="43"/>
            <p:cNvSpPr txBox="true"/>
            <p:nvPr/>
          </p:nvSpPr>
          <p:spPr>
            <a:xfrm>
              <a:off x="0" y="-9525"/>
              <a:ext cx="11161395" cy="11899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549"/>
                </a:lnSpc>
              </a:pPr>
              <a:r>
                <a:rPr lang="en-US" sz="2124">
                  <a:solidFill>
                    <a:srgbClr val="A3322A"/>
                  </a:solidFill>
                  <a:latin typeface="Arial"/>
                  <a:ea typeface="Arial"/>
                  <a:cs typeface="Arial"/>
                  <a:sym typeface="Arial"/>
                </a:rPr>
                <a:t>Teachers with low digital literacy may resist adoption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9488472" y="8373000"/>
            <a:ext cx="8371046" cy="885300"/>
            <a:chOff x="0" y="0"/>
            <a:chExt cx="11161395" cy="118040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11161395" cy="1180336"/>
            </a:xfrm>
            <a:custGeom>
              <a:avLst/>
              <a:gdLst/>
              <a:ahLst/>
              <a:cxnLst/>
              <a:rect r="r" b="b" t="t" l="l"/>
              <a:pathLst>
                <a:path h="1180336" w="11161395">
                  <a:moveTo>
                    <a:pt x="0" y="196723"/>
                  </a:moveTo>
                  <a:cubicBezTo>
                    <a:pt x="0" y="88138"/>
                    <a:pt x="88138" y="0"/>
                    <a:pt x="196723" y="0"/>
                  </a:cubicBezTo>
                  <a:lnTo>
                    <a:pt x="10964672" y="0"/>
                  </a:lnTo>
                  <a:cubicBezTo>
                    <a:pt x="11073384" y="0"/>
                    <a:pt x="11161395" y="88138"/>
                    <a:pt x="11161395" y="196723"/>
                  </a:cubicBezTo>
                  <a:lnTo>
                    <a:pt x="11161395" y="983614"/>
                  </a:lnTo>
                  <a:cubicBezTo>
                    <a:pt x="11161395" y="1092326"/>
                    <a:pt x="11073257" y="1180336"/>
                    <a:pt x="10964672" y="1180336"/>
                  </a:cubicBezTo>
                  <a:lnTo>
                    <a:pt x="196723" y="1180336"/>
                  </a:lnTo>
                  <a:cubicBezTo>
                    <a:pt x="88138" y="1180337"/>
                    <a:pt x="0" y="1092326"/>
                    <a:pt x="0" y="983614"/>
                  </a:cubicBezTo>
                  <a:close/>
                </a:path>
              </a:pathLst>
            </a:custGeom>
            <a:solidFill>
              <a:srgbClr val="E7F1EB"/>
            </a:solidFill>
            <a:ln w="19050" cap="sq">
              <a:solidFill>
                <a:srgbClr val="1E7145"/>
              </a:solidFill>
              <a:prstDash val="solid"/>
              <a:miter/>
            </a:ln>
          </p:spPr>
        </p:sp>
        <p:sp>
          <p:nvSpPr>
            <p:cNvPr name="TextBox 46" id="46"/>
            <p:cNvSpPr txBox="true"/>
            <p:nvPr/>
          </p:nvSpPr>
          <p:spPr>
            <a:xfrm>
              <a:off x="0" y="-9525"/>
              <a:ext cx="11161395" cy="11899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549"/>
                </a:lnSpc>
              </a:pPr>
              <a:r>
                <a:rPr lang="en-US" sz="2124">
                  <a:solidFill>
                    <a:srgbClr val="1E7145"/>
                  </a:solidFill>
                  <a:latin typeface="Arial"/>
                  <a:ea typeface="Arial"/>
                  <a:cs typeface="Arial"/>
                  <a:sym typeface="Arial"/>
                </a:rPr>
                <a:t>Hindi, Santali and English interface, 18 pre-loaded NIPUN lessons — teachers start teaching, not configuring</a:t>
              </a:r>
            </a:p>
          </p:txBody>
        </p:sp>
      </p:grpSp>
      <p:sp>
        <p:nvSpPr>
          <p:cNvPr id="96" name="Measured header"/>
          <p:cNvSpPr/>
          <p:nvPr/>
        </p:nvSpPr>
        <p:spPr>
          <a:xfrm>
            <a:off x="11631168" y="2029968"/>
            <a:ext cx="6172200" cy="420624"/>
          </a:xfrm>
          <a:prstGeom prst="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</a:pPr>
            <a:r>
              <a:rPr lang="en-US" sz="1300" b="1">
                <a:solidFill>
                  <a:srgbClr val="14324D"/>
                </a:solidFill>
                <a:latin typeface="Arial"/>
                <a:cs typeface="Arial"/>
              </a:rPr>
              <a:t xml:space="preserve">Offline · </a:t>
            </a:r>
            <a:r>
              <a:rPr lang="en-US" sz="1300" b="1">
                <a:solidFill>
                  <a:srgbClr val="B45309"/>
                </a:solidFill>
                <a:latin typeface="Arial"/>
                <a:cs typeface="Arial"/>
              </a:rPr>
              <a:t xml:space="preserve">Realme Pad Mini (4 GB)</a:t>
            </a:r>
            <a:r>
              <a:rPr lang="en-US" sz="1300" b="1">
                <a:solidFill>
                  <a:srgbClr val="14324D"/>
                </a:solidFill>
                <a:latin typeface="Arial"/>
                <a:cs typeface="Arial"/>
              </a:rPr>
              <a:t xml:space="preserve"> · 2 GB emulator</a:t>
            </a:r>
            <a:r>
              <a:rPr lang="en-US" sz="1300" b="1">
                <a:solidFill>
                  <a:srgbClr val="14324D"/>
                </a:solidFill>
                <a:latin typeface="Arial"/>
                <a:cs typeface="Arial"/>
              </a:rPr>
              <a:t xml:space="preserve"> · laptop hub</a:t>
            </a:r>
          </a:p>
        </p:txBody>
      </p:sp>
      <p:sp>
        <p:nvSpPr>
          <p:cNvPr id="97" name="Measured tile 1"/>
          <p:cNvSpPr/>
          <p:nvPr/>
        </p:nvSpPr>
        <p:spPr>
          <a:xfrm>
            <a:off x="11631168" y="2542032"/>
            <a:ext cx="2994660" cy="1147572"/>
          </a:xfrm>
          <a:prstGeom prst="roundRect">
            <a:avLst>
              <a:gd name="adj" fmla="val 14000"/>
            </a:avLst>
          </a:prstGeom>
          <a:solidFill>
            <a:srgbClr val="14324D"/>
          </a:solidFill>
          <a:ln>
            <a:noFill/>
          </a:ln>
        </p:spPr>
        <p:txBody>
          <a:bodyPr wrap="square" lIns="73152" tIns="36576" rIns="73152" bIns="36576" anchor="ctr">
            <a:normAutofit/>
          </a:bodyPr>
          <a:lstStyle/>
          <a:p>
            <a:pPr algn="ctr">
              <a:buNone/>
            </a:pPr>
            <a:r>
              <a:rPr lang="en-US" sz="2600" b="1">
                <a:solidFill>
                  <a:srgbClr val="FFD28A"/>
                </a:solidFill>
                <a:latin typeface="Arial"/>
                <a:cs typeface="Arial"/>
              </a:rPr>
              <a:t>0.70 s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1250">
                <a:solidFill>
                  <a:srgbClr val="FFFFFF"/>
                </a:solidFill>
                <a:latin typeface="Arial"/>
                <a:cs typeface="Arial"/>
              </a:rPr>
              <a:t>lesson lines on the tablet, median (p90 1.20 s); 2 GB emulator 0.50 s</a:t>
            </a:r>
          </a:p>
        </p:txBody>
      </p:sp>
      <p:sp>
        <p:nvSpPr>
          <p:cNvPr id="98" name="Measured tile 2"/>
          <p:cNvSpPr/>
          <p:nvPr/>
        </p:nvSpPr>
        <p:spPr>
          <a:xfrm>
            <a:off x="14808708" y="2542032"/>
            <a:ext cx="2994660" cy="1147572"/>
          </a:xfrm>
          <a:prstGeom prst="roundRect">
            <a:avLst>
              <a:gd name="adj" fmla="val 14000"/>
            </a:avLst>
          </a:prstGeom>
          <a:solidFill>
            <a:srgbClr val="14324D"/>
          </a:solidFill>
          <a:ln>
            <a:noFill/>
          </a:ln>
        </p:spPr>
        <p:txBody>
          <a:bodyPr wrap="square" lIns="73152" tIns="36576" rIns="73152" bIns="36576" anchor="ctr">
            <a:normAutofit/>
          </a:bodyPr>
          <a:lstStyle/>
          <a:p>
            <a:pPr algn="ctr">
              <a:buNone/>
            </a:pPr>
            <a:r>
              <a:rPr lang="en-US" sz="2600" b="1">
                <a:solidFill>
                  <a:srgbClr val="FFD28A"/>
                </a:solidFill>
                <a:latin typeface="Arial"/>
                <a:cs typeface="Arial"/>
              </a:rPr>
              <a:t>2.85 s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1250">
                <a:solidFill>
                  <a:srgbClr val="FFFFFF"/>
                </a:solidFill>
                <a:latin typeface="Arial"/>
                <a:cs typeface="Arial"/>
              </a:rPr>
              <a:t>p90 hub, Hindi speech ≤ 17 words; Santali → Hindi p90 2.58 s</a:t>
            </a:r>
          </a:p>
        </p:txBody>
      </p:sp>
      <p:sp>
        <p:nvSpPr>
          <p:cNvPr id="99" name="Measured tile 3"/>
          <p:cNvSpPr/>
          <p:nvPr/>
        </p:nvSpPr>
        <p:spPr>
          <a:xfrm>
            <a:off x="11631168" y="3826764"/>
            <a:ext cx="2994660" cy="1147572"/>
          </a:xfrm>
          <a:prstGeom prst="roundRect">
            <a:avLst>
              <a:gd name="adj" fmla="val 14000"/>
            </a:avLst>
          </a:prstGeom>
          <a:solidFill>
            <a:srgbClr val="14324D"/>
          </a:solidFill>
          <a:ln>
            <a:noFill/>
          </a:ln>
        </p:spPr>
        <p:txBody>
          <a:bodyPr wrap="square" lIns="73152" tIns="36576" rIns="73152" bIns="36576" anchor="ctr">
            <a:normAutofit/>
          </a:bodyPr>
          <a:lstStyle/>
          <a:p>
            <a:pPr algn="ctr">
              <a:buNone/>
            </a:pPr>
            <a:r>
              <a:rPr lang="en-US" sz="2600" b="1">
                <a:solidFill>
                  <a:srgbClr val="FFD28A"/>
                </a:solidFill>
                <a:latin typeface="Arial"/>
                <a:cs typeface="Arial"/>
              </a:rPr>
              <a:t>32.2 chrF++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1250">
                <a:solidFill>
                  <a:srgbClr val="FFFFFF"/>
                </a:solidFill>
                <a:latin typeface="Arial"/>
                <a:cs typeface="Arial"/>
              </a:rPr>
              <a:t>Hindi→Santali, IN22-Conv public test set (n = 1,503)</a:t>
            </a:r>
          </a:p>
        </p:txBody>
      </p:sp>
      <p:sp>
        <p:nvSpPr>
          <p:cNvPr id="100" name="Measured tile 4"/>
          <p:cNvSpPr/>
          <p:nvPr/>
        </p:nvSpPr>
        <p:spPr>
          <a:xfrm>
            <a:off x="14808708" y="3826764"/>
            <a:ext cx="2994660" cy="1147572"/>
          </a:xfrm>
          <a:prstGeom prst="roundRect">
            <a:avLst>
              <a:gd name="adj" fmla="val 14000"/>
            </a:avLst>
          </a:prstGeom>
          <a:solidFill>
            <a:srgbClr val="14324D"/>
          </a:solidFill>
          <a:ln>
            <a:noFill/>
          </a:ln>
        </p:spPr>
        <p:txBody>
          <a:bodyPr wrap="square" lIns="73152" tIns="36576" rIns="73152" bIns="36576" anchor="ctr">
            <a:normAutofit/>
          </a:bodyPr>
          <a:lstStyle/>
          <a:p>
            <a:pPr algn="ctr">
              <a:buNone/>
            </a:pPr>
            <a:r>
              <a:rPr lang="en-US" sz="2600" b="1">
                <a:solidFill>
                  <a:srgbClr val="FFD28A"/>
                </a:solidFill>
                <a:latin typeface="Arial"/>
                <a:cs typeface="Arial"/>
              </a:rPr>
              <a:t>24 / 24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1250">
                <a:solidFill>
                  <a:srgbClr val="FFFFFF"/>
                </a:solidFill>
                <a:latin typeface="Arial"/>
                <a:cs typeface="Arial"/>
              </a:rPr>
              <a:t>app checks in airplane mode, on the Realme and the 2 GB emulator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789319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IMPACT AND BENEFITS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791700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5689600" cy="7683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b="true" sz="1800">
                  <a:solidFill>
                    <a:srgbClr val="FFFFFF"/>
                  </a:solidFill>
                  <a:latin typeface="Trade Gothic Condensed Bold"/>
                  <a:ea typeface="Trade Gothic Condensed Bold"/>
                  <a:cs typeface="Trade Gothic Condensed Bold"/>
                  <a:sym typeface="Trade Gothic Condensed Bold"/>
                </a:rPr>
                <a:t>5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972300" y="9791700"/>
            <a:ext cx="4806001" cy="547688"/>
            <a:chOff x="0" y="0"/>
            <a:chExt cx="6408001" cy="73025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408000" cy="730250"/>
            </a:xfrm>
            <a:custGeom>
              <a:avLst/>
              <a:gdLst/>
              <a:ahLst/>
              <a:cxnLst/>
              <a:rect r="r" b="b" t="t" l="l"/>
              <a:pathLst>
                <a:path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20982" r="0" b="-120982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6408001" cy="7683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Trade Gothic Condensed"/>
                  <a:ea typeface="Trade Gothic Condensed"/>
                  <a:cs typeface="Trade Gothic Condensed"/>
                  <a:sym typeface="Trade Gothic Condensed"/>
                </a:rPr>
                <a:t>@SIH Idea submission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475612" y="359321"/>
            <a:ext cx="1915887" cy="1249099"/>
            <a:chOff x="0" y="0"/>
            <a:chExt cx="2554516" cy="1665465"/>
          </a:xfrm>
        </p:grpSpPr>
        <p:sp>
          <p:nvSpPr>
            <p:cNvPr name="Freeform 14" id="14" descr="Your startup LOGO"/>
            <p:cNvSpPr/>
            <p:nvPr/>
          </p:nvSpPr>
          <p:spPr>
            <a:xfrm flipH="false" flipV="false" rot="0">
              <a:off x="0" y="0"/>
              <a:ext cx="2554478" cy="1665478"/>
            </a:xfrm>
            <a:custGeom>
              <a:avLst/>
              <a:gdLst/>
              <a:ahLst/>
              <a:cxnLst/>
              <a:rect r="r" b="b" t="t" l="l"/>
              <a:pathLst>
                <a:path h="1665478" w="2554478">
                  <a:moveTo>
                    <a:pt x="0" y="832739"/>
                  </a:moveTo>
                  <a:cubicBezTo>
                    <a:pt x="0" y="372872"/>
                    <a:pt x="571881" y="0"/>
                    <a:pt x="1277239" y="0"/>
                  </a:cubicBezTo>
                  <a:cubicBezTo>
                    <a:pt x="1982597" y="0"/>
                    <a:pt x="2554478" y="372872"/>
                    <a:pt x="2554478" y="832739"/>
                  </a:cubicBezTo>
                  <a:cubicBezTo>
                    <a:pt x="2554478" y="1292606"/>
                    <a:pt x="1982597" y="1665478"/>
                    <a:pt x="1277239" y="1665478"/>
                  </a:cubicBezTo>
                  <a:cubicBezTo>
                    <a:pt x="571881" y="1665478"/>
                    <a:pt x="0" y="1292606"/>
                    <a:pt x="0" y="832739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8064A2"/>
              </a:solidFill>
              <a:prstDash val="solid"/>
              <a:miter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57150"/>
              <a:ext cx="2554516" cy="17226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8-bitPool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1"/>
              </a:stretch>
            </a:blip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869764" y="7929556"/>
            <a:ext cx="16810468" cy="1445448"/>
            <a:chOff x="0" y="0"/>
            <a:chExt cx="22413957" cy="1927264"/>
          </a:xfrm>
        </p:grpSpPr>
        <p:grpSp>
          <p:nvGrpSpPr>
            <p:cNvPr name="Group 19" id="19"/>
            <p:cNvGrpSpPr/>
            <p:nvPr/>
          </p:nvGrpSpPr>
          <p:grpSpPr>
            <a:xfrm rot="0">
              <a:off x="0" y="0"/>
              <a:ext cx="5342264" cy="656911"/>
              <a:chOff x="0" y="0"/>
              <a:chExt cx="5529999" cy="679996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5529961" cy="679958"/>
              </a:xfrm>
              <a:custGeom>
                <a:avLst/>
                <a:gdLst/>
                <a:ahLst/>
                <a:cxnLst/>
                <a:rect r="r" b="b" t="t" l="l"/>
                <a:pathLst>
                  <a:path h="679958" w="5529961">
                    <a:moveTo>
                      <a:pt x="0" y="113284"/>
                    </a:moveTo>
                    <a:cubicBezTo>
                      <a:pt x="0" y="50800"/>
                      <a:pt x="50800" y="0"/>
                      <a:pt x="113284" y="0"/>
                    </a:cubicBezTo>
                    <a:lnTo>
                      <a:pt x="5416677" y="0"/>
                    </a:lnTo>
                    <a:cubicBezTo>
                      <a:pt x="5479288" y="0"/>
                      <a:pt x="5529961" y="50800"/>
                      <a:pt x="5529961" y="113284"/>
                    </a:cubicBezTo>
                    <a:lnTo>
                      <a:pt x="5529961" y="566674"/>
                    </a:lnTo>
                    <a:cubicBezTo>
                      <a:pt x="5529961" y="629285"/>
                      <a:pt x="5479161" y="679958"/>
                      <a:pt x="5416677" y="679958"/>
                    </a:cubicBezTo>
                    <a:lnTo>
                      <a:pt x="113284" y="679958"/>
                    </a:lnTo>
                    <a:cubicBezTo>
                      <a:pt x="50800" y="679958"/>
                      <a:pt x="0" y="629285"/>
                      <a:pt x="0" y="566674"/>
                    </a:cubicBezTo>
                    <a:close/>
                  </a:path>
                </a:pathLst>
              </a:custGeom>
              <a:solidFill>
                <a:srgbClr val="14324D"/>
              </a:solidFill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0" y="-9525"/>
                <a:ext cx="5529999" cy="68952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369"/>
                  </a:lnSpc>
                </a:pPr>
                <a:r>
                  <a:rPr lang="en-US" sz="1974" b="true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SOCIAL</a:t>
                </a:r>
              </a:p>
            </p:txBody>
          </p:sp>
        </p:grpSp>
        <p:grpSp>
          <p:nvGrpSpPr>
            <p:cNvPr name="Group 22" id="22"/>
            <p:cNvGrpSpPr/>
            <p:nvPr/>
          </p:nvGrpSpPr>
          <p:grpSpPr>
            <a:xfrm rot="0">
              <a:off x="0" y="558720"/>
              <a:ext cx="5342264" cy="1368544"/>
              <a:chOff x="0" y="0"/>
              <a:chExt cx="5529999" cy="1416637"/>
            </a:xfrm>
          </p:grpSpPr>
          <p:sp>
            <p:nvSpPr>
              <p:cNvPr name="Freeform 23" id="23"/>
              <p:cNvSpPr/>
              <p:nvPr/>
            </p:nvSpPr>
            <p:spPr>
              <a:xfrm flipH="false" flipV="false" rot="0">
                <a:off x="0" y="0"/>
                <a:ext cx="5529961" cy="1416662"/>
              </a:xfrm>
              <a:custGeom>
                <a:avLst/>
                <a:gdLst/>
                <a:ahLst/>
                <a:cxnLst/>
                <a:rect r="r" b="b" t="t" l="l"/>
                <a:pathLst>
                  <a:path h="1416662" w="5529961">
                    <a:moveTo>
                      <a:pt x="0" y="236119"/>
                    </a:moveTo>
                    <a:cubicBezTo>
                      <a:pt x="0" y="105715"/>
                      <a:pt x="204470" y="0"/>
                      <a:pt x="456692" y="0"/>
                    </a:cubicBezTo>
                    <a:lnTo>
                      <a:pt x="5073269" y="0"/>
                    </a:lnTo>
                    <a:cubicBezTo>
                      <a:pt x="5325491" y="0"/>
                      <a:pt x="5529961" y="105715"/>
                      <a:pt x="5529961" y="236119"/>
                    </a:cubicBezTo>
                    <a:lnTo>
                      <a:pt x="5529961" y="1180530"/>
                    </a:lnTo>
                    <a:cubicBezTo>
                      <a:pt x="5529961" y="1310934"/>
                      <a:pt x="5325491" y="1416662"/>
                      <a:pt x="5073269" y="1416662"/>
                    </a:cubicBezTo>
                    <a:lnTo>
                      <a:pt x="456692" y="1416662"/>
                    </a:lnTo>
                    <a:cubicBezTo>
                      <a:pt x="204470" y="1416662"/>
                      <a:pt x="0" y="1310934"/>
                      <a:pt x="0" y="1180530"/>
                    </a:cubicBezTo>
                    <a:close/>
                  </a:path>
                </a:pathLst>
              </a:custGeom>
              <a:solidFill>
                <a:srgbClr val="F2F3F5"/>
              </a:solidFill>
            </p:spPr>
          </p:sp>
          <p:sp>
            <p:nvSpPr>
              <p:cNvPr name="TextBox 24" id="24"/>
              <p:cNvSpPr txBox="true"/>
              <p:nvPr/>
            </p:nvSpPr>
            <p:spPr>
              <a:xfrm>
                <a:off x="0" y="-19050"/>
                <a:ext cx="5529999" cy="1435687"/>
              </a:xfrm>
              <a:prstGeom prst="rect">
                <a:avLst/>
              </a:prstGeom>
            </p:spPr>
            <p:txBody>
              <a:bodyPr anchor="t" rtlCol="false" tIns="50800" lIns="50800" bIns="50800" rIns="50800"/>
              <a:lstStyle/>
              <a:p>
                <a:pPr algn="l">
                  <a:lnSpc>
                    <a:spcPts val="2189"/>
                  </a:lnSpc>
                </a:pPr>
                <a:r>
                  <a:rPr lang="en-US" sz="1824">
                    <a:solidFill>
                      <a:srgbClr val="222222"/>
                    </a:solidFill>
                    <a:latin typeface="Arial"/>
                    <a:ea typeface="Arial"/>
                    <a:cs typeface="Arial"/>
                    <a:sym typeface="Arial"/>
                  </a:rPr>
                  <a:t>Hindi-medium teachers can teach in the child's mother tongue — aims to lift comprehension before Grade 3</a:t>
                </a:r>
              </a:p>
            </p:txBody>
          </p:sp>
        </p:grpSp>
        <p:grpSp>
          <p:nvGrpSpPr>
            <p:cNvPr name="Group 25" id="25"/>
            <p:cNvGrpSpPr/>
            <p:nvPr/>
          </p:nvGrpSpPr>
          <p:grpSpPr>
            <a:xfrm rot="0">
              <a:off x="5749564" y="0"/>
              <a:ext cx="5342264" cy="656911"/>
              <a:chOff x="0" y="0"/>
              <a:chExt cx="5529999" cy="679996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5529961" cy="679958"/>
              </a:xfrm>
              <a:custGeom>
                <a:avLst/>
                <a:gdLst/>
                <a:ahLst/>
                <a:cxnLst/>
                <a:rect r="r" b="b" t="t" l="l"/>
                <a:pathLst>
                  <a:path h="679958" w="5529961">
                    <a:moveTo>
                      <a:pt x="0" y="113284"/>
                    </a:moveTo>
                    <a:cubicBezTo>
                      <a:pt x="0" y="50800"/>
                      <a:pt x="50800" y="0"/>
                      <a:pt x="113284" y="0"/>
                    </a:cubicBezTo>
                    <a:lnTo>
                      <a:pt x="5416677" y="0"/>
                    </a:lnTo>
                    <a:cubicBezTo>
                      <a:pt x="5479288" y="0"/>
                      <a:pt x="5529961" y="50800"/>
                      <a:pt x="5529961" y="113284"/>
                    </a:cubicBezTo>
                    <a:lnTo>
                      <a:pt x="5529961" y="566674"/>
                    </a:lnTo>
                    <a:cubicBezTo>
                      <a:pt x="5529961" y="629285"/>
                      <a:pt x="5479161" y="679958"/>
                      <a:pt x="5416677" y="679958"/>
                    </a:cubicBezTo>
                    <a:lnTo>
                      <a:pt x="113284" y="679958"/>
                    </a:lnTo>
                    <a:cubicBezTo>
                      <a:pt x="50800" y="679958"/>
                      <a:pt x="0" y="629285"/>
                      <a:pt x="0" y="566674"/>
                    </a:cubicBezTo>
                    <a:close/>
                  </a:path>
                </a:pathLst>
              </a:custGeom>
              <a:solidFill>
                <a:srgbClr val="E06B0A"/>
              </a:solidFill>
            </p:spPr>
          </p:sp>
          <p:sp>
            <p:nvSpPr>
              <p:cNvPr name="TextBox 27" id="27"/>
              <p:cNvSpPr txBox="true"/>
              <p:nvPr/>
            </p:nvSpPr>
            <p:spPr>
              <a:xfrm>
                <a:off x="0" y="-9525"/>
                <a:ext cx="5529999" cy="68952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369"/>
                  </a:lnSpc>
                </a:pPr>
                <a:r>
                  <a:rPr lang="en-US" sz="1974" b="true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ECONOMIC</a:t>
                </a:r>
              </a:p>
            </p:txBody>
          </p:sp>
        </p:grpSp>
        <p:grpSp>
          <p:nvGrpSpPr>
            <p:cNvPr name="Group 28" id="28"/>
            <p:cNvGrpSpPr/>
            <p:nvPr/>
          </p:nvGrpSpPr>
          <p:grpSpPr>
            <a:xfrm rot="0">
              <a:off x="5690050" y="581247"/>
              <a:ext cx="5342264" cy="1340042"/>
              <a:chOff x="0" y="0"/>
              <a:chExt cx="5529999" cy="1387132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5529961" cy="1387158"/>
              </a:xfrm>
              <a:custGeom>
                <a:avLst/>
                <a:gdLst/>
                <a:ahLst/>
                <a:cxnLst/>
                <a:rect r="r" b="b" t="t" l="l"/>
                <a:pathLst>
                  <a:path h="1387158" w="5529961">
                    <a:moveTo>
                      <a:pt x="0" y="231202"/>
                    </a:moveTo>
                    <a:cubicBezTo>
                      <a:pt x="0" y="103514"/>
                      <a:pt x="204470" y="0"/>
                      <a:pt x="456692" y="0"/>
                    </a:cubicBezTo>
                    <a:lnTo>
                      <a:pt x="5073269" y="0"/>
                    </a:lnTo>
                    <a:cubicBezTo>
                      <a:pt x="5325491" y="0"/>
                      <a:pt x="5529961" y="103514"/>
                      <a:pt x="5529961" y="231202"/>
                    </a:cubicBezTo>
                    <a:lnTo>
                      <a:pt x="5529961" y="1155944"/>
                    </a:lnTo>
                    <a:cubicBezTo>
                      <a:pt x="5529961" y="1283632"/>
                      <a:pt x="5325491" y="1387158"/>
                      <a:pt x="5073269" y="1387158"/>
                    </a:cubicBezTo>
                    <a:lnTo>
                      <a:pt x="456692" y="1387158"/>
                    </a:lnTo>
                    <a:cubicBezTo>
                      <a:pt x="204470" y="1387158"/>
                      <a:pt x="0" y="1283632"/>
                      <a:pt x="0" y="1155944"/>
                    </a:cubicBezTo>
                    <a:close/>
                  </a:path>
                </a:pathLst>
              </a:custGeom>
              <a:solidFill>
                <a:srgbClr val="F2F3F5"/>
              </a:solidFill>
            </p:spPr>
          </p:sp>
          <p:sp>
            <p:nvSpPr>
              <p:cNvPr name="TextBox 30" id="30"/>
              <p:cNvSpPr txBox="true"/>
              <p:nvPr/>
            </p:nvSpPr>
            <p:spPr>
              <a:xfrm>
                <a:off x="0" y="-19050"/>
                <a:ext cx="5529999" cy="1406182"/>
              </a:xfrm>
              <a:prstGeom prst="rect">
                <a:avLst/>
              </a:prstGeom>
            </p:spPr>
            <p:txBody>
              <a:bodyPr anchor="t" rtlCol="false" tIns="50800" lIns="50800" bIns="50800" rIns="50800"/>
              <a:lstStyle/>
              <a:p>
                <a:pPr algn="l">
                  <a:lnSpc>
                    <a:spcPts val="2189"/>
                  </a:lnSpc>
                </a:pPr>
                <a:r>
                  <a:rPr lang="en-US" sz="1824">
                    <a:solidFill>
                      <a:srgbClr val="222222"/>
                    </a:solidFill>
                    <a:latin typeface="Arial"/>
                    <a:ea typeface="Arial"/>
                    <a:cs typeface="Arial"/>
                    <a:sym typeface="Arial"/>
                  </a:rPr>
                  <a:t>No licence fees or per-query cloud billing — IndicConformer and IndicTrans2 are MIT-licensed</a:t>
                </a:r>
              </a:p>
            </p:txBody>
          </p:sp>
        </p:grpSp>
        <p:grpSp>
          <p:nvGrpSpPr>
            <p:cNvPr name="Group 31" id="31"/>
            <p:cNvGrpSpPr/>
            <p:nvPr/>
          </p:nvGrpSpPr>
          <p:grpSpPr>
            <a:xfrm rot="0">
              <a:off x="11381643" y="0"/>
              <a:ext cx="5342264" cy="656911"/>
              <a:chOff x="0" y="0"/>
              <a:chExt cx="5529999" cy="679996"/>
            </a:xfrm>
          </p:grpSpPr>
          <p:sp>
            <p:nvSpPr>
              <p:cNvPr name="Freeform 32" id="32"/>
              <p:cNvSpPr/>
              <p:nvPr/>
            </p:nvSpPr>
            <p:spPr>
              <a:xfrm flipH="false" flipV="false" rot="0">
                <a:off x="0" y="0"/>
                <a:ext cx="5529961" cy="679958"/>
              </a:xfrm>
              <a:custGeom>
                <a:avLst/>
                <a:gdLst/>
                <a:ahLst/>
                <a:cxnLst/>
                <a:rect r="r" b="b" t="t" l="l"/>
                <a:pathLst>
                  <a:path h="679958" w="5529961">
                    <a:moveTo>
                      <a:pt x="0" y="113284"/>
                    </a:moveTo>
                    <a:cubicBezTo>
                      <a:pt x="0" y="50800"/>
                      <a:pt x="50800" y="0"/>
                      <a:pt x="113284" y="0"/>
                    </a:cubicBezTo>
                    <a:lnTo>
                      <a:pt x="5416677" y="0"/>
                    </a:lnTo>
                    <a:cubicBezTo>
                      <a:pt x="5479288" y="0"/>
                      <a:pt x="5529961" y="50800"/>
                      <a:pt x="5529961" y="113284"/>
                    </a:cubicBezTo>
                    <a:lnTo>
                      <a:pt x="5529961" y="566674"/>
                    </a:lnTo>
                    <a:cubicBezTo>
                      <a:pt x="5529961" y="629285"/>
                      <a:pt x="5479161" y="679958"/>
                      <a:pt x="5416677" y="679958"/>
                    </a:cubicBezTo>
                    <a:lnTo>
                      <a:pt x="113284" y="679958"/>
                    </a:lnTo>
                    <a:cubicBezTo>
                      <a:pt x="50800" y="679958"/>
                      <a:pt x="0" y="629285"/>
                      <a:pt x="0" y="566674"/>
                    </a:cubicBezTo>
                    <a:close/>
                  </a:path>
                </a:pathLst>
              </a:custGeom>
              <a:solidFill>
                <a:srgbClr val="1F6FB2"/>
              </a:solidFill>
            </p:spPr>
          </p:sp>
          <p:sp>
            <p:nvSpPr>
              <p:cNvPr name="TextBox 33" id="33"/>
              <p:cNvSpPr txBox="true"/>
              <p:nvPr/>
            </p:nvSpPr>
            <p:spPr>
              <a:xfrm>
                <a:off x="0" y="-9525"/>
                <a:ext cx="5529999" cy="68952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369"/>
                  </a:lnSpc>
                </a:pPr>
                <a:r>
                  <a:rPr lang="en-US" sz="1974" b="true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OPERATIONAL</a:t>
                </a:r>
              </a:p>
            </p:txBody>
          </p:sp>
        </p:grpSp>
        <p:grpSp>
          <p:nvGrpSpPr>
            <p:cNvPr name="Group 34" id="34"/>
            <p:cNvGrpSpPr/>
            <p:nvPr/>
          </p:nvGrpSpPr>
          <p:grpSpPr>
            <a:xfrm rot="0">
              <a:off x="17071693" y="0"/>
              <a:ext cx="5342264" cy="656911"/>
              <a:chOff x="0" y="0"/>
              <a:chExt cx="5529999" cy="679996"/>
            </a:xfrm>
          </p:grpSpPr>
          <p:sp>
            <p:nvSpPr>
              <p:cNvPr name="Freeform 35" id="35"/>
              <p:cNvSpPr/>
              <p:nvPr/>
            </p:nvSpPr>
            <p:spPr>
              <a:xfrm flipH="false" flipV="false" rot="0">
                <a:off x="0" y="0"/>
                <a:ext cx="5529961" cy="679958"/>
              </a:xfrm>
              <a:custGeom>
                <a:avLst/>
                <a:gdLst/>
                <a:ahLst/>
                <a:cxnLst/>
                <a:rect r="r" b="b" t="t" l="l"/>
                <a:pathLst>
                  <a:path h="679958" w="5529961">
                    <a:moveTo>
                      <a:pt x="0" y="113284"/>
                    </a:moveTo>
                    <a:cubicBezTo>
                      <a:pt x="0" y="50800"/>
                      <a:pt x="50800" y="0"/>
                      <a:pt x="113284" y="0"/>
                    </a:cubicBezTo>
                    <a:lnTo>
                      <a:pt x="5416677" y="0"/>
                    </a:lnTo>
                    <a:cubicBezTo>
                      <a:pt x="5479288" y="0"/>
                      <a:pt x="5529961" y="50800"/>
                      <a:pt x="5529961" y="113284"/>
                    </a:cubicBezTo>
                    <a:lnTo>
                      <a:pt x="5529961" y="566674"/>
                    </a:lnTo>
                    <a:cubicBezTo>
                      <a:pt x="5529961" y="629285"/>
                      <a:pt x="5479161" y="679958"/>
                      <a:pt x="5416677" y="679958"/>
                    </a:cubicBezTo>
                    <a:lnTo>
                      <a:pt x="113284" y="679958"/>
                    </a:lnTo>
                    <a:cubicBezTo>
                      <a:pt x="50800" y="679958"/>
                      <a:pt x="0" y="629285"/>
                      <a:pt x="0" y="566674"/>
                    </a:cubicBezTo>
                    <a:close/>
                  </a:path>
                </a:pathLst>
              </a:custGeom>
              <a:solidFill>
                <a:srgbClr val="1E7145"/>
              </a:solidFill>
            </p:spPr>
          </p:sp>
          <p:sp>
            <p:nvSpPr>
              <p:cNvPr name="TextBox 36" id="36"/>
              <p:cNvSpPr txBox="true"/>
              <p:nvPr/>
            </p:nvSpPr>
            <p:spPr>
              <a:xfrm>
                <a:off x="0" y="-9525"/>
                <a:ext cx="5529999" cy="68952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369"/>
                  </a:lnSpc>
                </a:pPr>
                <a:r>
                  <a:rPr lang="en-US" sz="1974" b="true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POLICY</a:t>
                </a:r>
              </a:p>
            </p:txBody>
          </p:sp>
        </p:grpSp>
        <p:grpSp>
          <p:nvGrpSpPr>
            <p:cNvPr name="Group 37" id="37"/>
            <p:cNvGrpSpPr/>
            <p:nvPr/>
          </p:nvGrpSpPr>
          <p:grpSpPr>
            <a:xfrm rot="0">
              <a:off x="11381643" y="558720"/>
              <a:ext cx="5342264" cy="1340042"/>
              <a:chOff x="0" y="0"/>
              <a:chExt cx="5529999" cy="1387132"/>
            </a:xfrm>
          </p:grpSpPr>
          <p:sp>
            <p:nvSpPr>
              <p:cNvPr name="Freeform 38" id="38"/>
              <p:cNvSpPr/>
              <p:nvPr/>
            </p:nvSpPr>
            <p:spPr>
              <a:xfrm flipH="false" flipV="false" rot="0">
                <a:off x="0" y="0"/>
                <a:ext cx="5529961" cy="1387158"/>
              </a:xfrm>
              <a:custGeom>
                <a:avLst/>
                <a:gdLst/>
                <a:ahLst/>
                <a:cxnLst/>
                <a:rect r="r" b="b" t="t" l="l"/>
                <a:pathLst>
                  <a:path h="1387158" w="5529961">
                    <a:moveTo>
                      <a:pt x="0" y="231202"/>
                    </a:moveTo>
                    <a:cubicBezTo>
                      <a:pt x="0" y="103514"/>
                      <a:pt x="204470" y="0"/>
                      <a:pt x="456692" y="0"/>
                    </a:cubicBezTo>
                    <a:lnTo>
                      <a:pt x="5073269" y="0"/>
                    </a:lnTo>
                    <a:cubicBezTo>
                      <a:pt x="5325491" y="0"/>
                      <a:pt x="5529961" y="103514"/>
                      <a:pt x="5529961" y="231202"/>
                    </a:cubicBezTo>
                    <a:lnTo>
                      <a:pt x="5529961" y="1155944"/>
                    </a:lnTo>
                    <a:cubicBezTo>
                      <a:pt x="5529961" y="1283632"/>
                      <a:pt x="5325491" y="1387158"/>
                      <a:pt x="5073269" y="1387158"/>
                    </a:cubicBezTo>
                    <a:lnTo>
                      <a:pt x="456692" y="1387158"/>
                    </a:lnTo>
                    <a:cubicBezTo>
                      <a:pt x="204470" y="1387158"/>
                      <a:pt x="0" y="1283632"/>
                      <a:pt x="0" y="1155944"/>
                    </a:cubicBezTo>
                    <a:close/>
                  </a:path>
                </a:pathLst>
              </a:custGeom>
              <a:solidFill>
                <a:srgbClr val="F2F3F5"/>
              </a:solidFill>
            </p:spPr>
          </p:sp>
          <p:sp>
            <p:nvSpPr>
              <p:cNvPr name="TextBox 39" id="39"/>
              <p:cNvSpPr txBox="true"/>
              <p:nvPr/>
            </p:nvSpPr>
            <p:spPr>
              <a:xfrm>
                <a:off x="0" y="-19050"/>
                <a:ext cx="5529999" cy="1406182"/>
              </a:xfrm>
              <a:prstGeom prst="rect">
                <a:avLst/>
              </a:prstGeom>
            </p:spPr>
            <p:txBody>
              <a:bodyPr anchor="t" rtlCol="false" tIns="50800" lIns="50800" bIns="50800" rIns="50800"/>
              <a:lstStyle/>
              <a:p>
                <a:pPr algn="l">
                  <a:lnSpc>
                    <a:spcPts val="2189"/>
                  </a:lnSpc>
                </a:pPr>
                <a:r>
                  <a:rPr lang="en-US" sz="1824">
                    <a:solidFill>
                      <a:srgbClr val="222222"/>
                    </a:solidFill>
                    <a:latin typeface="Arial"/>
                    <a:ea typeface="Arial"/>
                    <a:cs typeface="Arial"/>
                    <a:sym typeface="Arial"/>
                  </a:rPr>
                  <a:t>Offline on low-cost Android 9+ tablets, no new hiring; teacher corrections sync between tablets as signed files</a:t>
                </a:r>
              </a:p>
            </p:txBody>
          </p:sp>
        </p:grpSp>
        <p:grpSp>
          <p:nvGrpSpPr>
            <p:cNvPr name="Group 40" id="40"/>
            <p:cNvGrpSpPr/>
            <p:nvPr/>
          </p:nvGrpSpPr>
          <p:grpSpPr>
            <a:xfrm rot="0">
              <a:off x="17071693" y="558720"/>
              <a:ext cx="5342264" cy="1340042"/>
              <a:chOff x="0" y="0"/>
              <a:chExt cx="5529999" cy="1387132"/>
            </a:xfrm>
          </p:grpSpPr>
          <p:sp>
            <p:nvSpPr>
              <p:cNvPr name="Freeform 41" id="41"/>
              <p:cNvSpPr/>
              <p:nvPr/>
            </p:nvSpPr>
            <p:spPr>
              <a:xfrm flipH="false" flipV="false" rot="0">
                <a:off x="0" y="0"/>
                <a:ext cx="5529961" cy="1387158"/>
              </a:xfrm>
              <a:custGeom>
                <a:avLst/>
                <a:gdLst/>
                <a:ahLst/>
                <a:cxnLst/>
                <a:rect r="r" b="b" t="t" l="l"/>
                <a:pathLst>
                  <a:path h="1387158" w="5529961">
                    <a:moveTo>
                      <a:pt x="0" y="231202"/>
                    </a:moveTo>
                    <a:cubicBezTo>
                      <a:pt x="0" y="103514"/>
                      <a:pt x="204470" y="0"/>
                      <a:pt x="456692" y="0"/>
                    </a:cubicBezTo>
                    <a:lnTo>
                      <a:pt x="5073269" y="0"/>
                    </a:lnTo>
                    <a:cubicBezTo>
                      <a:pt x="5325491" y="0"/>
                      <a:pt x="5529961" y="103514"/>
                      <a:pt x="5529961" y="231202"/>
                    </a:cubicBezTo>
                    <a:lnTo>
                      <a:pt x="5529961" y="1155944"/>
                    </a:lnTo>
                    <a:cubicBezTo>
                      <a:pt x="5529961" y="1283632"/>
                      <a:pt x="5325491" y="1387158"/>
                      <a:pt x="5073269" y="1387158"/>
                    </a:cubicBezTo>
                    <a:lnTo>
                      <a:pt x="456692" y="1387158"/>
                    </a:lnTo>
                    <a:cubicBezTo>
                      <a:pt x="204470" y="1387158"/>
                      <a:pt x="0" y="1283632"/>
                      <a:pt x="0" y="1155944"/>
                    </a:cubicBezTo>
                    <a:close/>
                  </a:path>
                </a:pathLst>
              </a:custGeom>
              <a:solidFill>
                <a:srgbClr val="F2F3F5"/>
              </a:solidFill>
            </p:spPr>
          </p:sp>
          <p:sp>
            <p:nvSpPr>
              <p:cNvPr name="TextBox 42" id="42"/>
              <p:cNvSpPr txBox="true"/>
              <p:nvPr/>
            </p:nvSpPr>
            <p:spPr>
              <a:xfrm>
                <a:off x="0" y="-19050"/>
                <a:ext cx="5529999" cy="1406182"/>
              </a:xfrm>
              <a:prstGeom prst="rect">
                <a:avLst/>
              </a:prstGeom>
            </p:spPr>
            <p:txBody>
              <a:bodyPr anchor="t" rtlCol="false" tIns="50800" lIns="50800" bIns="50800" rIns="50800"/>
              <a:lstStyle/>
              <a:p>
                <a:pPr algn="l">
                  <a:lnSpc>
                    <a:spcPts val="2189"/>
                  </a:lnSpc>
                </a:pPr>
                <a:r>
                  <a:rPr lang="en-US" sz="1824">
                    <a:solidFill>
                      <a:srgbClr val="222222"/>
                    </a:solidFill>
                    <a:latin typeface="Arial"/>
                    <a:ea typeface="Arial"/>
                    <a:cs typeface="Arial"/>
                    <a:sym typeface="Arial"/>
                  </a:rPr>
                  <a:t>Supports NEP 2020 §4.11 (mother tongue), NIPUN Bharat FLN goals and SDG 4 (Quality Education)</a:t>
                </a:r>
              </a:p>
            </p:txBody>
          </p:sp>
        </p:grpSp>
      </p:grpSp>
      <p:grpSp>
        <p:nvGrpSpPr>
          <p:cNvPr name="Group 43" id="43"/>
          <p:cNvGrpSpPr/>
          <p:nvPr/>
        </p:nvGrpSpPr>
        <p:grpSpPr>
          <a:xfrm rot="0">
            <a:off x="869764" y="5994704"/>
            <a:ext cx="4006698" cy="1449077"/>
            <a:chOff x="0" y="0"/>
            <a:chExt cx="5529999" cy="200000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5530088" cy="2000000"/>
            </a:xfrm>
            <a:custGeom>
              <a:avLst/>
              <a:gdLst/>
              <a:ahLst/>
              <a:cxnLst/>
              <a:rect r="r" b="b" t="t" l="l"/>
              <a:pathLst>
                <a:path h="2000000" w="5530088">
                  <a:moveTo>
                    <a:pt x="0" y="333376"/>
                  </a:moveTo>
                  <a:cubicBezTo>
                    <a:pt x="0" y="149225"/>
                    <a:pt x="149225" y="0"/>
                    <a:pt x="333375" y="0"/>
                  </a:cubicBezTo>
                  <a:lnTo>
                    <a:pt x="5196713" y="0"/>
                  </a:lnTo>
                  <a:cubicBezTo>
                    <a:pt x="5380863" y="0"/>
                    <a:pt x="5530088" y="149225"/>
                    <a:pt x="5530088" y="333376"/>
                  </a:cubicBezTo>
                  <a:lnTo>
                    <a:pt x="5530088" y="1666624"/>
                  </a:lnTo>
                  <a:cubicBezTo>
                    <a:pt x="5530088" y="1850775"/>
                    <a:pt x="5380863" y="2000000"/>
                    <a:pt x="5196713" y="2000000"/>
                  </a:cubicBezTo>
                  <a:lnTo>
                    <a:pt x="333375" y="2000000"/>
                  </a:lnTo>
                  <a:cubicBezTo>
                    <a:pt x="149225" y="2000000"/>
                    <a:pt x="0" y="1850775"/>
                    <a:pt x="0" y="1666624"/>
                  </a:cubicBezTo>
                  <a:close/>
                </a:path>
              </a:pathLst>
            </a:custGeom>
            <a:solidFill>
              <a:srgbClr val="14324D"/>
            </a:solidFill>
          </p:spPr>
        </p:sp>
        <p:sp>
          <p:nvSpPr>
            <p:cNvPr name="TextBox 45" id="45"/>
            <p:cNvSpPr txBox="true"/>
            <p:nvPr/>
          </p:nvSpPr>
          <p:spPr>
            <a:xfrm>
              <a:off x="0" y="-19050"/>
              <a:ext cx="5529999" cy="2019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199"/>
                </a:lnSpc>
              </a:pPr>
              <a:r>
                <a:rPr lang="en-US" sz="3499" b="tru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1,041</a:t>
              </a:r>
            </a:p>
            <a:p>
              <a:pPr algn="ctr">
                <a:lnSpc>
                  <a:spcPts val="2099"/>
                </a:lnSpc>
              </a:pPr>
              <a:r>
                <a:rPr lang="en-US" sz="1749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PALASH schools (JEPC, Jan 2026) — first deployment target</a:t>
              </a:r>
            </a:p>
          </p:txBody>
        </p:sp>
      </p:grpSp>
      <p:grpSp>
        <p:nvGrpSpPr>
          <p:cNvPr name="Group 46" id="46"/>
          <p:cNvGrpSpPr/>
          <p:nvPr/>
        </p:nvGrpSpPr>
        <p:grpSpPr>
          <a:xfrm rot="0">
            <a:off x="5224243" y="5994704"/>
            <a:ext cx="4006698" cy="1449077"/>
            <a:chOff x="0" y="0"/>
            <a:chExt cx="5529999" cy="2000000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5530088" cy="2000000"/>
            </a:xfrm>
            <a:custGeom>
              <a:avLst/>
              <a:gdLst/>
              <a:ahLst/>
              <a:cxnLst/>
              <a:rect r="r" b="b" t="t" l="l"/>
              <a:pathLst>
                <a:path h="2000000" w="5530088">
                  <a:moveTo>
                    <a:pt x="0" y="333376"/>
                  </a:moveTo>
                  <a:cubicBezTo>
                    <a:pt x="0" y="149225"/>
                    <a:pt x="149225" y="0"/>
                    <a:pt x="333375" y="0"/>
                  </a:cubicBezTo>
                  <a:lnTo>
                    <a:pt x="5196713" y="0"/>
                  </a:lnTo>
                  <a:cubicBezTo>
                    <a:pt x="5380863" y="0"/>
                    <a:pt x="5530088" y="149225"/>
                    <a:pt x="5530088" y="333376"/>
                  </a:cubicBezTo>
                  <a:lnTo>
                    <a:pt x="5530088" y="1666624"/>
                  </a:lnTo>
                  <a:cubicBezTo>
                    <a:pt x="5530088" y="1850775"/>
                    <a:pt x="5380863" y="2000000"/>
                    <a:pt x="5196713" y="2000000"/>
                  </a:cubicBezTo>
                  <a:lnTo>
                    <a:pt x="333375" y="2000000"/>
                  </a:lnTo>
                  <a:cubicBezTo>
                    <a:pt x="149225" y="2000000"/>
                    <a:pt x="0" y="1850775"/>
                    <a:pt x="0" y="1666624"/>
                  </a:cubicBezTo>
                  <a:close/>
                </a:path>
              </a:pathLst>
            </a:custGeom>
            <a:solidFill>
              <a:srgbClr val="E06B0A"/>
            </a:solidFill>
          </p:spPr>
        </p:sp>
        <p:sp>
          <p:nvSpPr>
            <p:cNvPr name="TextBox 48" id="48"/>
            <p:cNvSpPr txBox="true"/>
            <p:nvPr/>
          </p:nvSpPr>
          <p:spPr>
            <a:xfrm>
              <a:off x="0" y="-19050"/>
              <a:ext cx="5529999" cy="2019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199"/>
                </a:lnSpc>
              </a:pPr>
              <a:r>
                <a:rPr lang="en-US" sz="3499" b="tru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8 of 24</a:t>
              </a:r>
            </a:p>
            <a:p>
              <a:pPr algn="ctr">
                <a:lnSpc>
                  <a:spcPts val="2099"/>
                </a:lnSpc>
              </a:pPr>
              <a:r>
                <a:rPr lang="en-US" sz="1749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PALASH districts today → path to all 24</a:t>
              </a:r>
            </a:p>
          </p:txBody>
        </p:sp>
      </p:grpSp>
      <p:grpSp>
        <p:nvGrpSpPr>
          <p:cNvPr name="Group 49" id="49"/>
          <p:cNvGrpSpPr/>
          <p:nvPr/>
        </p:nvGrpSpPr>
        <p:grpSpPr>
          <a:xfrm rot="0">
            <a:off x="9550084" y="5994704"/>
            <a:ext cx="4006698" cy="1449077"/>
            <a:chOff x="0" y="0"/>
            <a:chExt cx="5529999" cy="2000000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5530088" cy="2000000"/>
            </a:xfrm>
            <a:custGeom>
              <a:avLst/>
              <a:gdLst/>
              <a:ahLst/>
              <a:cxnLst/>
              <a:rect r="r" b="b" t="t" l="l"/>
              <a:pathLst>
                <a:path h="2000000" w="5530088">
                  <a:moveTo>
                    <a:pt x="0" y="333376"/>
                  </a:moveTo>
                  <a:cubicBezTo>
                    <a:pt x="0" y="149225"/>
                    <a:pt x="149225" y="0"/>
                    <a:pt x="333375" y="0"/>
                  </a:cubicBezTo>
                  <a:lnTo>
                    <a:pt x="5196713" y="0"/>
                  </a:lnTo>
                  <a:cubicBezTo>
                    <a:pt x="5380863" y="0"/>
                    <a:pt x="5530088" y="149225"/>
                    <a:pt x="5530088" y="333376"/>
                  </a:cubicBezTo>
                  <a:lnTo>
                    <a:pt x="5530088" y="1666624"/>
                  </a:lnTo>
                  <a:cubicBezTo>
                    <a:pt x="5530088" y="1850775"/>
                    <a:pt x="5380863" y="2000000"/>
                    <a:pt x="5196713" y="2000000"/>
                  </a:cubicBezTo>
                  <a:lnTo>
                    <a:pt x="333375" y="2000000"/>
                  </a:lnTo>
                  <a:cubicBezTo>
                    <a:pt x="149225" y="2000000"/>
                    <a:pt x="0" y="1850775"/>
                    <a:pt x="0" y="1666624"/>
                  </a:cubicBezTo>
                  <a:close/>
                </a:path>
              </a:pathLst>
            </a:custGeom>
            <a:solidFill>
              <a:srgbClr val="1F6FB2"/>
            </a:solidFill>
          </p:spPr>
        </p:sp>
        <p:sp>
          <p:nvSpPr>
            <p:cNvPr name="TextBox 51" id="51"/>
            <p:cNvSpPr txBox="true"/>
            <p:nvPr/>
          </p:nvSpPr>
          <p:spPr>
            <a:xfrm>
              <a:off x="0" y="-19050"/>
              <a:ext cx="5529999" cy="2019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199"/>
                </a:lnSpc>
              </a:pPr>
              <a:r>
                <a:rPr lang="en-US" sz="3499" b="tru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Rs. 0</a:t>
              </a:r>
            </a:p>
            <a:p>
              <a:pPr algn="ctr">
                <a:lnSpc>
                  <a:spcPts val="2099"/>
                </a:lnSpc>
              </a:pPr>
              <a:r>
                <a:rPr lang="en-US" sz="1749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Licence and cloud fees — open models, runs offline</a:t>
              </a:r>
            </a:p>
          </p:txBody>
        </p:sp>
      </p:grpSp>
      <p:grpSp>
        <p:nvGrpSpPr>
          <p:cNvPr name="Group 52" id="52"/>
          <p:cNvGrpSpPr/>
          <p:nvPr/>
        </p:nvGrpSpPr>
        <p:grpSpPr>
          <a:xfrm rot="0">
            <a:off x="13817621" y="5994704"/>
            <a:ext cx="4006698" cy="1449077"/>
            <a:chOff x="0" y="0"/>
            <a:chExt cx="5529999" cy="200000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5530088" cy="2000000"/>
            </a:xfrm>
            <a:custGeom>
              <a:avLst/>
              <a:gdLst/>
              <a:ahLst/>
              <a:cxnLst/>
              <a:rect r="r" b="b" t="t" l="l"/>
              <a:pathLst>
                <a:path h="2000000" w="5530088">
                  <a:moveTo>
                    <a:pt x="0" y="333376"/>
                  </a:moveTo>
                  <a:cubicBezTo>
                    <a:pt x="0" y="149225"/>
                    <a:pt x="149225" y="0"/>
                    <a:pt x="333375" y="0"/>
                  </a:cubicBezTo>
                  <a:lnTo>
                    <a:pt x="5196713" y="0"/>
                  </a:lnTo>
                  <a:cubicBezTo>
                    <a:pt x="5380863" y="0"/>
                    <a:pt x="5530088" y="149225"/>
                    <a:pt x="5530088" y="333376"/>
                  </a:cubicBezTo>
                  <a:lnTo>
                    <a:pt x="5530088" y="1666624"/>
                  </a:lnTo>
                  <a:cubicBezTo>
                    <a:pt x="5530088" y="1850775"/>
                    <a:pt x="5380863" y="2000000"/>
                    <a:pt x="5196713" y="2000000"/>
                  </a:cubicBezTo>
                  <a:lnTo>
                    <a:pt x="333375" y="2000000"/>
                  </a:lnTo>
                  <a:cubicBezTo>
                    <a:pt x="149225" y="2000000"/>
                    <a:pt x="0" y="1850775"/>
                    <a:pt x="0" y="1666624"/>
                  </a:cubicBezTo>
                  <a:close/>
                </a:path>
              </a:pathLst>
            </a:custGeom>
            <a:solidFill>
              <a:srgbClr val="1E7145"/>
            </a:solidFill>
          </p:spPr>
        </p:sp>
        <p:sp>
          <p:nvSpPr>
            <p:cNvPr name="TextBox 54" id="54"/>
            <p:cNvSpPr txBox="true"/>
            <p:nvPr/>
          </p:nvSpPr>
          <p:spPr>
            <a:xfrm>
              <a:off x="0" y="-19050"/>
              <a:ext cx="5529999" cy="2019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199"/>
                </a:lnSpc>
              </a:pPr>
              <a:r>
                <a:rPr lang="en-US" sz="3499" b="tru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18 lessons</a:t>
              </a:r>
            </a:p>
            <a:p>
              <a:pPr algn="ctr">
                <a:lnSpc>
                  <a:spcPts val="2099"/>
                </a:lnSpc>
              </a:pPr>
              <a:r>
                <a:rPr lang="en-US" sz="1749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every NIPUN Lakshya, Balvatika to Grade 3, with worksheets</a:t>
              </a:r>
            </a:p>
          </p:txBody>
        </p:sp>
      </p:grpSp>
      <p:sp>
        <p:nvSpPr>
          <p:cNvPr name="Freeform 55" id="55"/>
          <p:cNvSpPr/>
          <p:nvPr/>
        </p:nvSpPr>
        <p:spPr>
          <a:xfrm flipH="false" flipV="false" rot="0">
            <a:off x="3036688" y="1484332"/>
            <a:ext cx="12677224" cy="4443697"/>
          </a:xfrm>
          <a:custGeom>
            <a:avLst/>
            <a:gdLst/>
            <a:ahLst/>
            <a:cxnLst/>
            <a:rect r="r" b="b" t="t" l="l"/>
            <a:pathLst>
              <a:path h="4443697" w="12677224">
                <a:moveTo>
                  <a:pt x="0" y="0"/>
                </a:moveTo>
                <a:lnTo>
                  <a:pt x="12677224" y="0"/>
                </a:lnTo>
                <a:lnTo>
                  <a:pt x="12677224" y="4443697"/>
                </a:lnTo>
                <a:lnTo>
                  <a:pt x="0" y="444369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-21576" r="0" b="-728"/>
            </a:stretch>
          </a:blipFill>
        </p:spPr>
      </p:sp>
      <p:sp>
        <p:nvSpPr>
          <p:cNvPr name="TextBox 56" id="56"/>
          <p:cNvSpPr txBox="true"/>
          <p:nvPr/>
        </p:nvSpPr>
        <p:spPr>
          <a:xfrm rot="0">
            <a:off x="2065809" y="1213142"/>
            <a:ext cx="9601200" cy="11134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33593" indent="-216797" lvl="1">
              <a:lnSpc>
                <a:spcPts val="2875"/>
              </a:lnSpc>
              <a:buFont typeface="Arial"/>
              <a:buChar char="•"/>
            </a:pPr>
            <a:r>
              <a:rPr lang="en-US" b="true" sz="2395">
                <a:solidFill>
                  <a:srgbClr val="14324D"/>
                </a:solidFill>
                <a:latin typeface="Arial Bold"/>
                <a:ea typeface="Arial Bold"/>
                <a:cs typeface="Arial Bold"/>
                <a:sym typeface="Arial Bold"/>
              </a:rPr>
              <a:t>Potential impact on the target audience</a:t>
            </a:r>
          </a:p>
          <a:p>
            <a:pPr algn="just">
              <a:lnSpc>
                <a:spcPts val="5883"/>
              </a:lnSpc>
            </a:pPr>
          </a:p>
        </p:txBody>
      </p:sp>
      <p:sp>
        <p:nvSpPr>
          <p:cNvPr name="TextBox 57" id="57"/>
          <p:cNvSpPr txBox="true"/>
          <p:nvPr/>
        </p:nvSpPr>
        <p:spPr>
          <a:xfrm rot="0">
            <a:off x="914400" y="7500931"/>
            <a:ext cx="16722355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383" b="true">
                <a:solidFill>
                  <a:srgbClr val="14324D"/>
                </a:solidFill>
                <a:latin typeface="Arial Bold"/>
                <a:ea typeface="Arial Bold"/>
                <a:cs typeface="Arial Bold"/>
                <a:sym typeface="Arial Bold"/>
              </a:rPr>
              <a:t>Benefits of the solution (social, economic, operational, policy)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RESEARCH  AND REFERENCES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5689600" cy="7683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b="true" sz="1800">
                  <a:solidFill>
                    <a:srgbClr val="FFFFFF"/>
                  </a:solidFill>
                  <a:latin typeface="Trade Gothic Condensed Bold"/>
                  <a:ea typeface="Trade Gothic Condensed Bold"/>
                  <a:cs typeface="Trade Gothic Condensed Bold"/>
                  <a:sym typeface="Trade Gothic Condensed Bold"/>
                </a:rPr>
                <a:t>6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972300" y="9534525"/>
            <a:ext cx="4806001" cy="547688"/>
            <a:chOff x="0" y="0"/>
            <a:chExt cx="6408001" cy="73025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408000" cy="730250"/>
            </a:xfrm>
            <a:custGeom>
              <a:avLst/>
              <a:gdLst/>
              <a:ahLst/>
              <a:cxnLst/>
              <a:rect r="r" b="b" t="t" l="l"/>
              <a:pathLst>
                <a:path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20982" r="0" b="-120982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6408001" cy="7683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Trade Gothic Condensed"/>
                  <a:ea typeface="Trade Gothic Condensed"/>
                  <a:cs typeface="Trade Gothic Condensed"/>
                  <a:sym typeface="Trade Gothic Condensed"/>
                </a:rPr>
                <a:t>@SIH Idea submission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475612" y="359321"/>
            <a:ext cx="1915887" cy="1249099"/>
            <a:chOff x="0" y="0"/>
            <a:chExt cx="2554516" cy="1665465"/>
          </a:xfrm>
        </p:grpSpPr>
        <p:sp>
          <p:nvSpPr>
            <p:cNvPr name="Freeform 14" id="14" descr="Your startup LOGO"/>
            <p:cNvSpPr/>
            <p:nvPr/>
          </p:nvSpPr>
          <p:spPr>
            <a:xfrm flipH="false" flipV="false" rot="0">
              <a:off x="0" y="0"/>
              <a:ext cx="2554478" cy="1665478"/>
            </a:xfrm>
            <a:custGeom>
              <a:avLst/>
              <a:gdLst/>
              <a:ahLst/>
              <a:cxnLst/>
              <a:rect r="r" b="b" t="t" l="l"/>
              <a:pathLst>
                <a:path h="1665478" w="2554478">
                  <a:moveTo>
                    <a:pt x="0" y="832739"/>
                  </a:moveTo>
                  <a:cubicBezTo>
                    <a:pt x="0" y="372872"/>
                    <a:pt x="571881" y="0"/>
                    <a:pt x="1277239" y="0"/>
                  </a:cubicBezTo>
                  <a:cubicBezTo>
                    <a:pt x="1982597" y="0"/>
                    <a:pt x="2554478" y="372872"/>
                    <a:pt x="2554478" y="832739"/>
                  </a:cubicBezTo>
                  <a:cubicBezTo>
                    <a:pt x="2554478" y="1292606"/>
                    <a:pt x="1982597" y="1665478"/>
                    <a:pt x="1277239" y="1665478"/>
                  </a:cubicBezTo>
                  <a:cubicBezTo>
                    <a:pt x="571881" y="1665478"/>
                    <a:pt x="0" y="1292606"/>
                    <a:pt x="0" y="832739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8064A2"/>
              </a:solidFill>
              <a:prstDash val="solid"/>
              <a:miter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57150"/>
              <a:ext cx="2554516" cy="17226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8-bitPool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1"/>
              </a:stretch>
            </a:blip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646395" y="2052638"/>
            <a:ext cx="16995210" cy="2711545"/>
            <a:chOff x="0" y="0"/>
            <a:chExt cx="22660280" cy="3615393"/>
          </a:xfrm>
        </p:grpSpPr>
        <p:grpSp>
          <p:nvGrpSpPr>
            <p:cNvPr name="Group 19" id="19"/>
            <p:cNvGrpSpPr/>
            <p:nvPr/>
          </p:nvGrpSpPr>
          <p:grpSpPr>
            <a:xfrm rot="0">
              <a:off x="0" y="126528"/>
              <a:ext cx="2998243" cy="3488865"/>
              <a:chOff x="0" y="0"/>
              <a:chExt cx="698500" cy="812800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6985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698500">
                    <a:moveTo>
                      <a:pt x="349250" y="0"/>
                    </a:moveTo>
                    <a:lnTo>
                      <a:pt x="698500" y="203200"/>
                    </a:lnTo>
                    <a:lnTo>
                      <a:pt x="698500" y="609600"/>
                    </a:lnTo>
                    <a:lnTo>
                      <a:pt x="349250" y="812800"/>
                    </a:lnTo>
                    <a:lnTo>
                      <a:pt x="0" y="609600"/>
                    </a:lnTo>
                    <a:lnTo>
                      <a:pt x="0" y="203200"/>
                    </a:lnTo>
                    <a:lnTo>
                      <a:pt x="349250" y="0"/>
                    </a:lnTo>
                    <a:close/>
                  </a:path>
                </a:pathLst>
              </a:custGeom>
              <a:solidFill>
                <a:srgbClr val="F88022"/>
              </a:solidFill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0" y="120650"/>
                <a:ext cx="698500" cy="5524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09"/>
                  </a:lnSpc>
                </a:pPr>
                <a:r>
                  <a:rPr lang="en-US" sz="2174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rPr>
                  <a:t>English-Santali MT Eval</a:t>
                </a:r>
              </a:p>
              <a:p>
                <a:pPr algn="ctr">
                  <a:lnSpc>
                    <a:spcPts val="2609"/>
                  </a:lnSpc>
                </a:pPr>
              </a:p>
              <a:p>
                <a:pPr algn="ctr">
                  <a:lnSpc>
                    <a:spcPts val="2609"/>
                  </a:lnSpc>
                </a:pPr>
                <a:r>
                  <a:rPr lang="en-US" sz="2174" u="sng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  <a:hlinkClick r:id="rId4" tooltip="https://aclanthology.org/2025.mmloso-1.9/"/>
                  </a:rPr>
                  <a:t>LINK</a:t>
                </a:r>
              </a:p>
            </p:txBody>
          </p:sp>
        </p:grpSp>
        <p:grpSp>
          <p:nvGrpSpPr>
            <p:cNvPr name="Group 22" id="22"/>
            <p:cNvGrpSpPr/>
            <p:nvPr/>
          </p:nvGrpSpPr>
          <p:grpSpPr>
            <a:xfrm rot="0">
              <a:off x="3277903" y="0"/>
              <a:ext cx="2998243" cy="3488865"/>
              <a:chOff x="0" y="0"/>
              <a:chExt cx="698500" cy="812800"/>
            </a:xfrm>
          </p:grpSpPr>
          <p:sp>
            <p:nvSpPr>
              <p:cNvPr name="Freeform 23" id="23"/>
              <p:cNvSpPr/>
              <p:nvPr/>
            </p:nvSpPr>
            <p:spPr>
              <a:xfrm flipH="false" flipV="false" rot="0">
                <a:off x="0" y="0"/>
                <a:ext cx="6985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698500">
                    <a:moveTo>
                      <a:pt x="349250" y="0"/>
                    </a:moveTo>
                    <a:lnTo>
                      <a:pt x="698500" y="203200"/>
                    </a:lnTo>
                    <a:lnTo>
                      <a:pt x="698500" y="609600"/>
                    </a:lnTo>
                    <a:lnTo>
                      <a:pt x="349250" y="812800"/>
                    </a:lnTo>
                    <a:lnTo>
                      <a:pt x="0" y="609600"/>
                    </a:lnTo>
                    <a:lnTo>
                      <a:pt x="0" y="203200"/>
                    </a:lnTo>
                    <a:lnTo>
                      <a:pt x="349250" y="0"/>
                    </a:lnTo>
                    <a:close/>
                  </a:path>
                </a:pathLst>
              </a:custGeom>
              <a:solidFill>
                <a:srgbClr val="F88022"/>
              </a:solidFill>
            </p:spPr>
          </p:sp>
          <p:sp>
            <p:nvSpPr>
              <p:cNvPr name="TextBox 24" id="24"/>
              <p:cNvSpPr txBox="true"/>
              <p:nvPr/>
            </p:nvSpPr>
            <p:spPr>
              <a:xfrm>
                <a:off x="0" y="120650"/>
                <a:ext cx="698500" cy="5524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09"/>
                  </a:lnSpc>
                </a:pPr>
                <a:r>
                  <a:rPr lang="en-US" sz="2174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rPr>
                  <a:t>AI4Bharat BPCC</a:t>
                </a:r>
              </a:p>
              <a:p>
                <a:pPr algn="ctr">
                  <a:lnSpc>
                    <a:spcPts val="2609"/>
                  </a:lnSpc>
                </a:pPr>
              </a:p>
              <a:p>
                <a:pPr algn="ctr">
                  <a:lnSpc>
                    <a:spcPts val="2609"/>
                  </a:lnSpc>
                </a:pPr>
                <a:r>
                  <a:rPr lang="en-US" sz="2174" u="sng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  <a:hlinkClick r:id="rId5" tooltip="https://huggingface.co/datasets/ai4bharat/BPCC"/>
                  </a:rPr>
                  <a:t>LINK</a:t>
                </a:r>
              </a:p>
            </p:txBody>
          </p:sp>
        </p:grpSp>
        <p:grpSp>
          <p:nvGrpSpPr>
            <p:cNvPr name="Group 25" id="25"/>
            <p:cNvGrpSpPr/>
            <p:nvPr/>
          </p:nvGrpSpPr>
          <p:grpSpPr>
            <a:xfrm rot="0">
              <a:off x="6555546" y="0"/>
              <a:ext cx="2998243" cy="3488865"/>
              <a:chOff x="0" y="0"/>
              <a:chExt cx="698500" cy="812800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6985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698500">
                    <a:moveTo>
                      <a:pt x="349250" y="0"/>
                    </a:moveTo>
                    <a:lnTo>
                      <a:pt x="698500" y="203200"/>
                    </a:lnTo>
                    <a:lnTo>
                      <a:pt x="698500" y="609600"/>
                    </a:lnTo>
                    <a:lnTo>
                      <a:pt x="349250" y="812800"/>
                    </a:lnTo>
                    <a:lnTo>
                      <a:pt x="0" y="609600"/>
                    </a:lnTo>
                    <a:lnTo>
                      <a:pt x="0" y="203200"/>
                    </a:lnTo>
                    <a:lnTo>
                      <a:pt x="349250" y="0"/>
                    </a:lnTo>
                    <a:close/>
                  </a:path>
                </a:pathLst>
              </a:custGeom>
              <a:solidFill>
                <a:srgbClr val="F88022"/>
              </a:solidFill>
            </p:spPr>
          </p:sp>
          <p:sp>
            <p:nvSpPr>
              <p:cNvPr name="TextBox 27" id="27"/>
              <p:cNvSpPr txBox="true"/>
              <p:nvPr/>
            </p:nvSpPr>
            <p:spPr>
              <a:xfrm>
                <a:off x="0" y="120650"/>
                <a:ext cx="698500" cy="5524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09"/>
                  </a:lnSpc>
                </a:pPr>
                <a:r>
                  <a:rPr lang="en-US" sz="2174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rPr>
                  <a:t>IndicTrans2 Repo</a:t>
                </a:r>
              </a:p>
              <a:p>
                <a:pPr algn="ctr">
                  <a:lnSpc>
                    <a:spcPts val="2969"/>
                  </a:lnSpc>
                </a:pPr>
              </a:p>
              <a:p>
                <a:pPr algn="ctr">
                  <a:lnSpc>
                    <a:spcPts val="2969"/>
                  </a:lnSpc>
                </a:pPr>
              </a:p>
              <a:p>
                <a:pPr algn="ctr">
                  <a:lnSpc>
                    <a:spcPts val="2609"/>
                  </a:lnSpc>
                </a:pPr>
                <a:r>
                  <a:rPr lang="en-US" sz="2174" u="sng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  <a:hlinkClick r:id="rId6" tooltip="https://github.com/ai4bharat/IndicTrans2"/>
                  </a:rPr>
                  <a:t>LINK</a:t>
                </a:r>
              </a:p>
            </p:txBody>
          </p:sp>
        </p:grpSp>
        <p:grpSp>
          <p:nvGrpSpPr>
            <p:cNvPr name="Group 28" id="28"/>
            <p:cNvGrpSpPr/>
            <p:nvPr/>
          </p:nvGrpSpPr>
          <p:grpSpPr>
            <a:xfrm rot="0">
              <a:off x="9833189" y="0"/>
              <a:ext cx="2998243" cy="3488865"/>
              <a:chOff x="0" y="0"/>
              <a:chExt cx="698500" cy="812800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6985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698500">
                    <a:moveTo>
                      <a:pt x="349250" y="0"/>
                    </a:moveTo>
                    <a:lnTo>
                      <a:pt x="698500" y="203200"/>
                    </a:lnTo>
                    <a:lnTo>
                      <a:pt x="698500" y="609600"/>
                    </a:lnTo>
                    <a:lnTo>
                      <a:pt x="349250" y="812800"/>
                    </a:lnTo>
                    <a:lnTo>
                      <a:pt x="0" y="609600"/>
                    </a:lnTo>
                    <a:lnTo>
                      <a:pt x="0" y="203200"/>
                    </a:lnTo>
                    <a:lnTo>
                      <a:pt x="349250" y="0"/>
                    </a:lnTo>
                    <a:close/>
                  </a:path>
                </a:pathLst>
              </a:custGeom>
              <a:solidFill>
                <a:srgbClr val="1F6FB2"/>
              </a:solidFill>
            </p:spPr>
          </p:sp>
          <p:sp>
            <p:nvSpPr>
              <p:cNvPr name="TextBox 30" id="30"/>
              <p:cNvSpPr txBox="true"/>
              <p:nvPr/>
            </p:nvSpPr>
            <p:spPr>
              <a:xfrm>
                <a:off x="0" y="120650"/>
                <a:ext cx="698500" cy="5524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09"/>
                  </a:lnSpc>
                </a:pPr>
                <a:r>
                  <a:rPr lang="en-US" sz="2174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rPr>
                  <a:t>IndicConformer ASR</a:t>
                </a:r>
              </a:p>
              <a:p>
                <a:pPr algn="ctr">
                  <a:lnSpc>
                    <a:spcPts val="2609"/>
                  </a:lnSpc>
                </a:pPr>
              </a:p>
              <a:p>
                <a:pPr algn="ctr">
                  <a:lnSpc>
                    <a:spcPts val="2609"/>
                  </a:lnSpc>
                </a:pPr>
                <a:r>
                  <a:rPr lang="en-US" sz="2174" u="sng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  <a:hlinkClick r:id="rId7" tooltip="https://commonvoice.mozilla.org/datasets"/>
                  </a:rPr>
                  <a:t>LINK</a:t>
                </a:r>
              </a:p>
            </p:txBody>
          </p:sp>
        </p:grpSp>
        <p:grpSp>
          <p:nvGrpSpPr>
            <p:cNvPr name="Group 31" id="31"/>
            <p:cNvGrpSpPr/>
            <p:nvPr/>
          </p:nvGrpSpPr>
          <p:grpSpPr>
            <a:xfrm rot="0">
              <a:off x="13110832" y="0"/>
              <a:ext cx="2998243" cy="3488865"/>
              <a:chOff x="0" y="0"/>
              <a:chExt cx="698500" cy="812800"/>
            </a:xfrm>
          </p:grpSpPr>
          <p:sp>
            <p:nvSpPr>
              <p:cNvPr name="Freeform 32" id="32"/>
              <p:cNvSpPr/>
              <p:nvPr/>
            </p:nvSpPr>
            <p:spPr>
              <a:xfrm flipH="false" flipV="false" rot="0">
                <a:off x="0" y="0"/>
                <a:ext cx="6985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698500">
                    <a:moveTo>
                      <a:pt x="349250" y="0"/>
                    </a:moveTo>
                    <a:lnTo>
                      <a:pt x="698500" y="203200"/>
                    </a:lnTo>
                    <a:lnTo>
                      <a:pt x="698500" y="609600"/>
                    </a:lnTo>
                    <a:lnTo>
                      <a:pt x="349250" y="812800"/>
                    </a:lnTo>
                    <a:lnTo>
                      <a:pt x="0" y="609600"/>
                    </a:lnTo>
                    <a:lnTo>
                      <a:pt x="0" y="203200"/>
                    </a:lnTo>
                    <a:lnTo>
                      <a:pt x="349250" y="0"/>
                    </a:lnTo>
                    <a:close/>
                  </a:path>
                </a:pathLst>
              </a:custGeom>
              <a:solidFill>
                <a:srgbClr val="159748"/>
              </a:solidFill>
            </p:spPr>
          </p:sp>
          <p:sp>
            <p:nvSpPr>
              <p:cNvPr name="TextBox 33" id="33"/>
              <p:cNvSpPr txBox="true"/>
              <p:nvPr/>
            </p:nvSpPr>
            <p:spPr>
              <a:xfrm>
                <a:off x="0" y="120650"/>
                <a:ext cx="698500" cy="5524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09"/>
                  </a:lnSpc>
                </a:pPr>
                <a:r>
                  <a:rPr lang="en-US" sz="2174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rPr>
                  <a:t>NIPUN Bharat Framework</a:t>
                </a:r>
              </a:p>
              <a:p>
                <a:pPr algn="ctr">
                  <a:lnSpc>
                    <a:spcPts val="2609"/>
                  </a:lnSpc>
                </a:pPr>
              </a:p>
              <a:p>
                <a:pPr algn="ctr">
                  <a:lnSpc>
                    <a:spcPts val="2609"/>
                  </a:lnSpc>
                </a:pPr>
                <a:r>
                  <a:rPr lang="en-US" sz="2174" u="sng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  <a:hlinkClick r:id="rId8" tooltip="https://en.vikaspedia.in/viewcontent/education/policies-and-schemes/nipun-bharat-programme"/>
                  </a:rPr>
                  <a:t>LINK</a:t>
                </a:r>
              </a:p>
            </p:txBody>
          </p:sp>
        </p:grpSp>
        <p:grpSp>
          <p:nvGrpSpPr>
            <p:cNvPr name="Group 34" id="34"/>
            <p:cNvGrpSpPr/>
            <p:nvPr/>
          </p:nvGrpSpPr>
          <p:grpSpPr>
            <a:xfrm rot="0">
              <a:off x="16384394" y="0"/>
              <a:ext cx="2998243" cy="3488865"/>
              <a:chOff x="0" y="0"/>
              <a:chExt cx="698500" cy="812800"/>
            </a:xfrm>
          </p:grpSpPr>
          <p:sp>
            <p:nvSpPr>
              <p:cNvPr name="Freeform 35" id="35"/>
              <p:cNvSpPr/>
              <p:nvPr/>
            </p:nvSpPr>
            <p:spPr>
              <a:xfrm flipH="false" flipV="false" rot="0">
                <a:off x="0" y="0"/>
                <a:ext cx="6985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698500">
                    <a:moveTo>
                      <a:pt x="349250" y="0"/>
                    </a:moveTo>
                    <a:lnTo>
                      <a:pt x="698500" y="203200"/>
                    </a:lnTo>
                    <a:lnTo>
                      <a:pt x="698500" y="609600"/>
                    </a:lnTo>
                    <a:lnTo>
                      <a:pt x="349250" y="812800"/>
                    </a:lnTo>
                    <a:lnTo>
                      <a:pt x="0" y="609600"/>
                    </a:lnTo>
                    <a:lnTo>
                      <a:pt x="0" y="203200"/>
                    </a:lnTo>
                    <a:lnTo>
                      <a:pt x="349250" y="0"/>
                    </a:lnTo>
                    <a:close/>
                  </a:path>
                </a:pathLst>
              </a:custGeom>
              <a:solidFill>
                <a:srgbClr val="159748"/>
              </a:solidFill>
            </p:spPr>
          </p:sp>
          <p:sp>
            <p:nvSpPr>
              <p:cNvPr name="TextBox 36" id="36"/>
              <p:cNvSpPr txBox="true"/>
              <p:nvPr/>
            </p:nvSpPr>
            <p:spPr>
              <a:xfrm>
                <a:off x="0" y="120650"/>
                <a:ext cx="698500" cy="5524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09"/>
                  </a:lnSpc>
                </a:pPr>
                <a:r>
                  <a:rPr lang="en-US" sz="2174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rPr>
                  <a:t>Adi Vaani (MoTA)</a:t>
                </a:r>
              </a:p>
              <a:p>
                <a:pPr algn="ctr">
                  <a:lnSpc>
                    <a:spcPts val="2609"/>
                  </a:lnSpc>
                </a:pPr>
              </a:p>
              <a:p>
                <a:pPr algn="ctr">
                  <a:lnSpc>
                    <a:spcPts val="2609"/>
                  </a:lnSpc>
                </a:pPr>
                <a:r>
                  <a:rPr lang="en-US" sz="2174" u="sng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  <a:hlinkClick r:id="rId9" tooltip="https://glocal.soas.ac.uk/endangered-languages-program/"/>
                  </a:rPr>
                  <a:t>LINK</a:t>
                </a:r>
              </a:p>
            </p:txBody>
          </p:sp>
        </p:grpSp>
        <p:grpSp>
          <p:nvGrpSpPr>
            <p:cNvPr name="Group 37" id="37"/>
            <p:cNvGrpSpPr/>
            <p:nvPr/>
          </p:nvGrpSpPr>
          <p:grpSpPr>
            <a:xfrm rot="0">
              <a:off x="19662037" y="0"/>
              <a:ext cx="2998243" cy="3488865"/>
              <a:chOff x="0" y="0"/>
              <a:chExt cx="698500" cy="812800"/>
            </a:xfrm>
          </p:grpSpPr>
          <p:sp>
            <p:nvSpPr>
              <p:cNvPr name="Freeform 38" id="38"/>
              <p:cNvSpPr/>
              <p:nvPr/>
            </p:nvSpPr>
            <p:spPr>
              <a:xfrm flipH="false" flipV="false" rot="0">
                <a:off x="0" y="0"/>
                <a:ext cx="6985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698500">
                    <a:moveTo>
                      <a:pt x="349250" y="0"/>
                    </a:moveTo>
                    <a:lnTo>
                      <a:pt x="698500" y="203200"/>
                    </a:lnTo>
                    <a:lnTo>
                      <a:pt x="698500" y="609600"/>
                    </a:lnTo>
                    <a:lnTo>
                      <a:pt x="349250" y="812800"/>
                    </a:lnTo>
                    <a:lnTo>
                      <a:pt x="0" y="609600"/>
                    </a:lnTo>
                    <a:lnTo>
                      <a:pt x="0" y="203200"/>
                    </a:lnTo>
                    <a:lnTo>
                      <a:pt x="349250" y="0"/>
                    </a:lnTo>
                    <a:close/>
                  </a:path>
                </a:pathLst>
              </a:custGeom>
              <a:solidFill>
                <a:srgbClr val="159748"/>
              </a:solidFill>
            </p:spPr>
          </p:sp>
          <p:sp>
            <p:nvSpPr>
              <p:cNvPr name="TextBox 39" id="39"/>
              <p:cNvSpPr txBox="true"/>
              <p:nvPr/>
            </p:nvSpPr>
            <p:spPr>
              <a:xfrm>
                <a:off x="0" y="120650"/>
                <a:ext cx="698500" cy="5524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09"/>
                  </a:lnSpc>
                </a:pPr>
                <a:r>
                  <a:rPr lang="en-US" sz="2174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rPr>
                  <a:t>JEPC</a:t>
                </a:r>
              </a:p>
              <a:p>
                <a:pPr algn="ctr">
                  <a:lnSpc>
                    <a:spcPts val="3089"/>
                  </a:lnSpc>
                </a:pPr>
              </a:p>
              <a:p>
                <a:pPr algn="ctr">
                  <a:lnSpc>
                    <a:spcPts val="2609"/>
                  </a:lnSpc>
                </a:pPr>
                <a:r>
                  <a:rPr lang="en-US" sz="2174" u="sng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  <a:hlinkClick r:id="rId10" tooltip="https://jepc.jharkhand.gov.in"/>
                  </a:rPr>
                  <a:t>LINK</a:t>
                </a:r>
              </a:p>
            </p:txBody>
          </p:sp>
        </p:grpSp>
      </p:grpSp>
      <p:sp>
        <p:nvSpPr>
          <p:cNvPr name="Freeform 40" id="40"/>
          <p:cNvSpPr/>
          <p:nvPr/>
        </p:nvSpPr>
        <p:spPr>
          <a:xfrm flipH="false" flipV="false" rot="0">
            <a:off x="475612" y="5449676"/>
            <a:ext cx="8416849" cy="3808624"/>
          </a:xfrm>
          <a:custGeom>
            <a:avLst/>
            <a:gdLst/>
            <a:ahLst/>
            <a:cxnLst/>
            <a:rect r="r" b="b" t="t" l="l"/>
            <a:pathLst>
              <a:path h="3808624" w="8416849">
                <a:moveTo>
                  <a:pt x="0" y="0"/>
                </a:moveTo>
                <a:lnTo>
                  <a:pt x="8416849" y="0"/>
                </a:lnTo>
                <a:lnTo>
                  <a:pt x="8416849" y="3808624"/>
                </a:lnTo>
                <a:lnTo>
                  <a:pt x="0" y="380862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Freeform 41" id="41"/>
          <p:cNvSpPr/>
          <p:nvPr/>
        </p:nvSpPr>
        <p:spPr>
          <a:xfrm flipH="false" flipV="false" rot="0">
            <a:off x="9454482" y="5449676"/>
            <a:ext cx="8359120" cy="3808624"/>
          </a:xfrm>
          <a:custGeom>
            <a:avLst/>
            <a:gdLst/>
            <a:ahLst/>
            <a:cxnLst/>
            <a:rect r="r" b="b" t="t" l="l"/>
            <a:pathLst>
              <a:path h="3808624" w="8359120">
                <a:moveTo>
                  <a:pt x="0" y="0"/>
                </a:moveTo>
                <a:lnTo>
                  <a:pt x="8359121" y="0"/>
                </a:lnTo>
                <a:lnTo>
                  <a:pt x="8359121" y="3808624"/>
                </a:lnTo>
                <a:lnTo>
                  <a:pt x="0" y="380862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TextBox 42" id="42"/>
          <p:cNvSpPr txBox="true"/>
          <p:nvPr/>
        </p:nvSpPr>
        <p:spPr>
          <a:xfrm rot="0">
            <a:off x="475612" y="1633537"/>
            <a:ext cx="11887200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33593" indent="-216797" lvl="1">
              <a:lnSpc>
                <a:spcPts val="2875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2395" strike="noStrike" u="none">
                <a:solidFill>
                  <a:srgbClr val="14324D"/>
                </a:solidFill>
                <a:latin typeface="Arial Bold"/>
                <a:ea typeface="Arial Bold"/>
                <a:cs typeface="Arial Bold"/>
                <a:sym typeface="Arial Bold"/>
              </a:rPr>
              <a:t>Details / Links of the reference and research work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475612" y="4916429"/>
            <a:ext cx="8839200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33593" indent="-216797" lvl="1">
              <a:lnSpc>
                <a:spcPts val="2875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2395" strike="noStrike" u="none">
                <a:solidFill>
                  <a:srgbClr val="14324D"/>
                </a:solidFill>
                <a:latin typeface="Arial Bold"/>
                <a:ea typeface="Arial Bold"/>
                <a:cs typeface="Arial Bold"/>
                <a:sym typeface="Arial Bold"/>
              </a:rPr>
              <a:t>UI/UX Interface</a:t>
            </a:r>
            <a:r>
              <a:rPr lang="en-US" sz="1600">
                <a:solidFill>
                  <a:srgbClr val="14324D"/>
                </a:solidFill>
                <a:latin typeface="Arial"/>
                <a:cs typeface="Arial"/>
              </a:rPr>
              <a:t xml:space="preserve">   Current build, English view (also Hindi / Santali)</a:t>
            </a:r>
          </a:p>
        </p:txBody>
      </p:sp>
      <p:sp>
        <p:nvSpPr>
          <p:cNvPr id="90" name="Demo video link"/>
          <p:cNvSpPr/>
          <p:nvPr/>
        </p:nvSpPr>
        <p:spPr>
          <a:xfrm>
            <a:off x="9454896" y="4846320"/>
            <a:ext cx="4069080" cy="475488"/>
          </a:xfrm>
          <a:prstGeom prst="roundRect">
            <a:avLst>
              <a:gd name="adj" fmla="val 50000"/>
            </a:avLst>
          </a:prstGeom>
          <a:solidFill>
            <a:srgbClr val="14324D"/>
          </a:solidFill>
          <a:ln>
            <a:noFill/>
          </a:ln>
        </p:spPr>
        <p:txBody>
          <a:bodyPr wrap="square" lIns="91440" tIns="0" rIns="91440" bIns="0" anchor="ctr">
            <a:normAutofit/>
          </a:bodyPr>
          <a:lstStyle/>
          <a:p>
            <a:pPr algn="ctr"/>
            <a:r>
              <a:rPr lang="en-US" sz="1800" b="1">
                <a:solidFill>
                  <a:srgbClr val="FFFFFF"/>
                </a:solidFill>
                <a:latin typeface="Arial"/>
                <a:cs typeface="Arial"/>
              </a:rPr>
              <a:t xml:space="preserve">Demo video:  </a:t>
            </a:r>
            <a:r>
              <a:rPr lang="en-US" sz="1800">
                <a:solidFill>
                  <a:srgbClr val="FFD28A"/>
                </a:solidFill>
                <a:latin typeface="Arial"/>
                <a:cs typeface="Arial"/>
              </a:rPr>
              <a:t>[add link after recording]</a:t>
            </a:r>
          </a:p>
        </p:txBody>
      </p:sp>
      <p:sp>
        <p:nvSpPr>
          <p:cNvPr id="91" name="GitHub repo link">
            <a:hlinkClick r:id="rIdGitHub"/>
          </p:cNvPr>
          <p:cNvSpPr/>
          <p:nvPr/>
        </p:nvSpPr>
        <p:spPr>
          <a:xfrm>
            <a:off x="13743432" y="4846320"/>
            <a:ext cx="4069080" cy="475488"/>
          </a:xfrm>
          <a:prstGeom prst="roundRect">
            <a:avLst>
              <a:gd name="adj" fmla="val 50000"/>
            </a:avLst>
          </a:prstGeom>
          <a:solidFill>
            <a:srgbClr val="14324D"/>
          </a:solidFill>
          <a:ln>
            <a:noFill/>
          </a:ln>
        </p:spPr>
        <p:txBody>
          <a:bodyPr wrap="square" lIns="91440" tIns="0" rIns="91440" bIns="0" anchor="ctr">
            <a:normAutofit/>
          </a:bodyPr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 xml:space="preserve">GitHub repo:  </a:t>
            </a:r>
            <a:r>
              <a:rPr lang="en-US" sz="1300">
                <a:solidFill>
                  <a:srgbClr val="FFD28A"/>
                </a:solidFill>
                <a:latin typeface="Arial"/>
                <a:cs typeface="Arial"/>
              </a:rPr>
              <a:t>github.com/barath0512s-rgb/nijbhasha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DAHUuDtzfno</dc:identifier>
  <dcterms:modified xsi:type="dcterms:W3CDTF">2011-08-01T06:04:30Z</dcterms:modified>
  <cp:revision>1</cp:revision>
  <dc:title>Nijbhasha — SIH26042 — Team 8-bitPool (Team ID 168531)</dc:title>
</cp:coreProperties>
</file>