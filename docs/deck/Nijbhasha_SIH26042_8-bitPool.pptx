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Arial Bold" charset="1" panose="020B0704020202020204"/>
      <p:regular r:id="rId13"/>
    </p:embeddedFont>
    <p:embeddedFont>
      <p:font typeface="Times New Roman Bold" charset="1" panose="02020803070505020304"/>
      <p:regular r:id="rId14"/>
    </p:embeddedFont>
    <p:embeddedFont>
      <p:font typeface="Trade Gothic Condensed Bold" charset="1" panose="020B0806040303020004"/>
      <p:regular r:id="rId15"/>
    </p:embeddedFont>
    <p:embeddedFont>
      <p:font typeface="Trade Gothic Condensed" charset="1" panose="020B0506040303020004"/>
      <p:regular r:id="rId16"/>
    </p:embeddedFont>
    <p:embeddedFont>
      <p:font typeface="Calibri (MS)" charset="1" panose="020F0502020204030204"/>
      <p:regular r:id="rId17"/>
    </p:embeddedFont>
    <p:embeddedFont>
      <p:font typeface="Arial" charset="1" panose="020B06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jepc.jharkhand.gov.in" TargetMode="External" Type="http://schemas.openxmlformats.org/officeDocument/2006/relationships/hyperlink"/><Relationship Id="rId11" Target="../media/image8.jpeg" Type="http://schemas.openxmlformats.org/officeDocument/2006/relationships/image"/><Relationship Id="rId12" Target="../media/image9.jpe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https://aclanthology.org/2025.mmloso-1.9/" TargetMode="External" Type="http://schemas.openxmlformats.org/officeDocument/2006/relationships/hyperlink"/><Relationship Id="rId5" Target="https://huggingface.co/datasets/ai4bharat/BPCC" TargetMode="External" Type="http://schemas.openxmlformats.org/officeDocument/2006/relationships/hyperlink"/><Relationship Id="rId6" Target="https://github.com/ai4bharat/IndicTrans2" TargetMode="External" Type="http://schemas.openxmlformats.org/officeDocument/2006/relationships/hyperlink"/><Relationship Id="rId7" Target="https://huggingface.co/ai4bharat/indic-conformer-600m-multilingual" TargetMode="External" Type="http://schemas.openxmlformats.org/officeDocument/2006/relationships/hyperlink"/><Relationship Id="rId8" Target="https://static.pib.gov.in/WriteReadData/specificdocs/documents/2021/jul/doc20217531.pdf" TargetMode="External" Type="http://schemas.openxmlformats.org/officeDocument/2006/relationships/hyperlink"/><Relationship Id="rId9" Target="https://www.pib.gov.in/PressReleasePage.aspx?PRID=2162846&amp;reg=48&amp;lang=2" TargetMode="External" Type="http://schemas.openxmlformats.org/officeDocument/2006/relationships/hyperlink"/><Relationship Id="rIdGitHub" Type="http://schemas.openxmlformats.org/officeDocument/2006/relationships/hyperlink" Target="https://github.com/barath0512s-rgb/nijbhasha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2333" y="257381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88369" y="3141345"/>
            <a:ext cx="8703945" cy="567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</a:p>
          <a:p>
            <a:pPr algn="just" marL="407194" indent="-203597" lvl="1">
              <a:lnSpc>
                <a:spcPts val="5400"/>
              </a:lnSpc>
              <a:buFont typeface="Arial"/>
              <a:buChar char="•"/>
            </a:pPr>
            <a:r>
              <a:rPr lang="en-US" b="true" sz="22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SIH26042</a:t>
            </a:r>
          </a:p>
          <a:p>
            <a:pPr algn="just" marL="407194" indent="-203597" lvl="1">
              <a:lnSpc>
                <a:spcPts val="5400"/>
              </a:lnSpc>
              <a:buFont typeface="Arial"/>
              <a:buChar char="•"/>
            </a:pPr>
            <a:r>
              <a:rPr lang="en-US" b="true" sz="22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AI-Powered Vernacular Pedagogy and Real-Time Translation Tool for Mother Tongue-Based Primary Education</a:t>
            </a:r>
          </a:p>
          <a:p>
            <a:pPr algn="just" marL="407194" indent="-203597" lvl="1">
              <a:lnSpc>
                <a:spcPts val="5400"/>
              </a:lnSpc>
              <a:buFont typeface="Arial"/>
              <a:buChar char="•"/>
            </a:pPr>
            <a:r>
              <a:rPr lang="en-US" b="true" sz="22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Smart Education</a:t>
            </a:r>
          </a:p>
          <a:p>
            <a:pPr algn="just" marL="407194" indent="-203597" lvl="1">
              <a:lnSpc>
                <a:spcPts val="5400"/>
              </a:lnSpc>
              <a:buFont typeface="Arial"/>
              <a:buChar char="•"/>
            </a:pPr>
            <a:r>
              <a:rPr lang="en-US" b="true" sz="22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</a:t>
            </a:r>
          </a:p>
          <a:p>
            <a:pPr algn="just" marL="407194" indent="-203597" lvl="1">
              <a:lnSpc>
                <a:spcPts val="5400"/>
              </a:lnSpc>
              <a:buFont typeface="Arial"/>
              <a:buChar char="•"/>
            </a:pPr>
            <a:r>
              <a:rPr lang="en-US" b="true" sz="22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ID- 168531</a:t>
            </a:r>
          </a:p>
          <a:p>
            <a:pPr algn="just" marL="407194" indent="-203597" lvl="1">
              <a:lnSpc>
                <a:spcPts val="5400"/>
              </a:lnSpc>
              <a:buFont typeface="Arial"/>
              <a:buChar char="•"/>
            </a:pPr>
            <a:r>
              <a:rPr lang="en-US" b="true" sz="22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 – VITV 8-bitPool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4606" y="-463153"/>
            <a:ext cx="16459200" cy="1901168"/>
            <a:chOff x="0" y="0"/>
            <a:chExt cx="21945600" cy="25348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534890"/>
            </a:xfrm>
            <a:custGeom>
              <a:avLst/>
              <a:gdLst/>
              <a:ahLst/>
              <a:cxnLst/>
              <a:rect r="r" b="b" t="t" l="l"/>
              <a:pathLst>
                <a:path h="25348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34890"/>
                  </a:lnTo>
                  <a:lnTo>
                    <a:pt x="0" y="25348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599" r="0" b="-11378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56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Nijbhasha — Proposed Solution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240021" y="9353910"/>
            <a:ext cx="4126226" cy="470221"/>
            <a:chOff x="0" y="0"/>
            <a:chExt cx="6408001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20848" y="2248"/>
            <a:ext cx="1915887" cy="1249099"/>
            <a:chOff x="0" y="0"/>
            <a:chExt cx="2554516" cy="1665465"/>
          </a:xfrm>
        </p:grpSpPr>
        <p:sp>
          <p:nvSpPr>
            <p:cNvPr name="Freeform 12" id="12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8-bitPool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068479" y="2039112"/>
            <a:ext cx="6756504" cy="914400"/>
            <a:chOff x="0" y="0"/>
            <a:chExt cx="7964888" cy="16365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964878" cy="1636542"/>
            </a:xfrm>
            <a:custGeom>
              <a:avLst/>
              <a:gdLst/>
              <a:ahLst/>
              <a:cxnLst/>
              <a:rect r="r" b="b" t="t" l="l"/>
              <a:pathLst>
                <a:path h="1636542" w="7964878">
                  <a:moveTo>
                    <a:pt x="0" y="272800"/>
                  </a:moveTo>
                  <a:cubicBezTo>
                    <a:pt x="0" y="122111"/>
                    <a:pt x="50045" y="0"/>
                    <a:pt x="111802" y="0"/>
                  </a:cubicBezTo>
                  <a:lnTo>
                    <a:pt x="7853076" y="0"/>
                  </a:lnTo>
                  <a:cubicBezTo>
                    <a:pt x="7914833" y="0"/>
                    <a:pt x="7964878" y="122111"/>
                    <a:pt x="7964878" y="272800"/>
                  </a:cubicBezTo>
                  <a:lnTo>
                    <a:pt x="7964878" y="1363742"/>
                  </a:lnTo>
                  <a:cubicBezTo>
                    <a:pt x="7964878" y="1514432"/>
                    <a:pt x="7914833" y="1636542"/>
                    <a:pt x="7853076" y="1636542"/>
                  </a:cubicBezTo>
                  <a:lnTo>
                    <a:pt x="111802" y="1636542"/>
                  </a:lnTo>
                  <a:cubicBezTo>
                    <a:pt x="50045" y="1636542"/>
                    <a:pt x="0" y="1514432"/>
                    <a:pt x="0" y="1363742"/>
                  </a:cubicBezTo>
                  <a:close/>
                </a:path>
              </a:pathLst>
            </a:custGeom>
            <a:solidFill>
              <a:srgbClr val="14324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7964888" cy="1646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59"/>
                </a:lnSpc>
              </a:pPr>
              <a:r>
                <a:rPr lang="en-US" sz="254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Teacher speaks or types Hindi (no Santali training needed)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4428671" y="2953512"/>
            <a:ext cx="36130" cy="274320"/>
          </a:xfrm>
          <a:prstGeom prst="line">
            <a:avLst/>
          </a:prstGeom>
          <a:ln cap="rnd" w="19050">
            <a:solidFill>
              <a:srgbClr val="14324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0" id="20"/>
          <p:cNvGrpSpPr/>
          <p:nvPr/>
        </p:nvGrpSpPr>
        <p:grpSpPr>
          <a:xfrm rot="0">
            <a:off x="11068479" y="3227832"/>
            <a:ext cx="6756504" cy="914400"/>
            <a:chOff x="0" y="0"/>
            <a:chExt cx="7964888" cy="163659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964878" cy="1636542"/>
            </a:xfrm>
            <a:custGeom>
              <a:avLst/>
              <a:gdLst/>
              <a:ahLst/>
              <a:cxnLst/>
              <a:rect r="r" b="b" t="t" l="l"/>
              <a:pathLst>
                <a:path h="1636542" w="7964878">
                  <a:moveTo>
                    <a:pt x="0" y="272800"/>
                  </a:moveTo>
                  <a:cubicBezTo>
                    <a:pt x="0" y="122111"/>
                    <a:pt x="50045" y="0"/>
                    <a:pt x="111802" y="0"/>
                  </a:cubicBezTo>
                  <a:lnTo>
                    <a:pt x="7853076" y="0"/>
                  </a:lnTo>
                  <a:cubicBezTo>
                    <a:pt x="7914833" y="0"/>
                    <a:pt x="7964878" y="122111"/>
                    <a:pt x="7964878" y="272800"/>
                  </a:cubicBezTo>
                  <a:lnTo>
                    <a:pt x="7964878" y="1363742"/>
                  </a:lnTo>
                  <a:cubicBezTo>
                    <a:pt x="7964878" y="1514432"/>
                    <a:pt x="7914833" y="1636542"/>
                    <a:pt x="7853076" y="1636542"/>
                  </a:cubicBezTo>
                  <a:lnTo>
                    <a:pt x="111802" y="1636542"/>
                  </a:lnTo>
                  <a:cubicBezTo>
                    <a:pt x="50045" y="1636542"/>
                    <a:pt x="0" y="1514432"/>
                    <a:pt x="0" y="1363742"/>
                  </a:cubicBezTo>
                  <a:close/>
                </a:path>
              </a:pathLst>
            </a:custGeom>
            <a:solidFill>
              <a:srgbClr val="1F6FB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7964888" cy="1646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Nijbhasha — offline AI on an Android tablet or a school laptop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4428671" y="4142232"/>
            <a:ext cx="36130" cy="274320"/>
          </a:xfrm>
          <a:prstGeom prst="line">
            <a:avLst/>
          </a:prstGeom>
          <a:ln cap="rnd" w="19050">
            <a:solidFill>
              <a:srgbClr val="14324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4" id="24"/>
          <p:cNvGrpSpPr/>
          <p:nvPr/>
        </p:nvGrpSpPr>
        <p:grpSpPr>
          <a:xfrm rot="0">
            <a:off x="11068479" y="4416552"/>
            <a:ext cx="3271575" cy="914400"/>
            <a:chOff x="0" y="0"/>
            <a:chExt cx="3856688" cy="163659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56751" cy="1636542"/>
            </a:xfrm>
            <a:custGeom>
              <a:avLst/>
              <a:gdLst/>
              <a:ahLst/>
              <a:cxnLst/>
              <a:rect r="r" b="b" t="t" l="l"/>
              <a:pathLst>
                <a:path h="1636542" w="3856751">
                  <a:moveTo>
                    <a:pt x="0" y="272800"/>
                  </a:moveTo>
                  <a:cubicBezTo>
                    <a:pt x="0" y="122111"/>
                    <a:pt x="50045" y="0"/>
                    <a:pt x="111802" y="0"/>
                  </a:cubicBezTo>
                  <a:lnTo>
                    <a:pt x="3744939" y="0"/>
                  </a:lnTo>
                  <a:cubicBezTo>
                    <a:pt x="3806696" y="0"/>
                    <a:pt x="3856751" y="122111"/>
                    <a:pt x="3856751" y="272800"/>
                  </a:cubicBezTo>
                  <a:lnTo>
                    <a:pt x="3856751" y="1363742"/>
                  </a:lnTo>
                  <a:cubicBezTo>
                    <a:pt x="3856751" y="1514432"/>
                    <a:pt x="3806696" y="1636542"/>
                    <a:pt x="3744939" y="1636542"/>
                  </a:cubicBezTo>
                  <a:lnTo>
                    <a:pt x="111802" y="1636542"/>
                  </a:lnTo>
                  <a:cubicBezTo>
                    <a:pt x="50045" y="1636542"/>
                    <a:pt x="0" y="1514432"/>
                    <a:pt x="0" y="1363742"/>
                  </a:cubicBezTo>
                  <a:close/>
                </a:path>
              </a:pathLst>
            </a:custGeom>
            <a:solidFill>
              <a:srgbClr val="1E7145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3856688" cy="1646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  <a:r>
                <a:rPr lang="en-US" sz="2024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Student hears Santali (mother tongue)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553418" y="4416552"/>
            <a:ext cx="3271575" cy="914400"/>
            <a:chOff x="0" y="0"/>
            <a:chExt cx="3856688" cy="163659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856751" cy="1636542"/>
            </a:xfrm>
            <a:custGeom>
              <a:avLst/>
              <a:gdLst/>
              <a:ahLst/>
              <a:cxnLst/>
              <a:rect r="r" b="b" t="t" l="l"/>
              <a:pathLst>
                <a:path h="1636542" w="3856751">
                  <a:moveTo>
                    <a:pt x="0" y="272800"/>
                  </a:moveTo>
                  <a:cubicBezTo>
                    <a:pt x="0" y="122111"/>
                    <a:pt x="50045" y="0"/>
                    <a:pt x="111802" y="0"/>
                  </a:cubicBezTo>
                  <a:lnTo>
                    <a:pt x="3744939" y="0"/>
                  </a:lnTo>
                  <a:cubicBezTo>
                    <a:pt x="3806696" y="0"/>
                    <a:pt x="3856751" y="122111"/>
                    <a:pt x="3856751" y="272800"/>
                  </a:cubicBezTo>
                  <a:lnTo>
                    <a:pt x="3856751" y="1363742"/>
                  </a:lnTo>
                  <a:cubicBezTo>
                    <a:pt x="3856751" y="1514432"/>
                    <a:pt x="3806696" y="1636542"/>
                    <a:pt x="3744939" y="1636542"/>
                  </a:cubicBezTo>
                  <a:lnTo>
                    <a:pt x="111802" y="1636542"/>
                  </a:lnTo>
                  <a:cubicBezTo>
                    <a:pt x="50045" y="1636542"/>
                    <a:pt x="0" y="1514432"/>
                    <a:pt x="0" y="1363742"/>
                  </a:cubicBezTo>
                  <a:close/>
                </a:path>
              </a:pathLst>
            </a:custGeom>
            <a:solidFill>
              <a:srgbClr val="1E7145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3856688" cy="1646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9"/>
                </a:lnSpc>
              </a:pPr>
              <a:r>
                <a:rPr lang="en-US" sz="2124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Teacher hears Hindi (reply)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>
            <a:off x="14428671" y="5330952"/>
            <a:ext cx="36130" cy="274320"/>
          </a:xfrm>
          <a:prstGeom prst="line">
            <a:avLst/>
          </a:prstGeom>
          <a:ln cap="rnd" w="19050">
            <a:solidFill>
              <a:srgbClr val="14324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1" id="31"/>
          <p:cNvGrpSpPr/>
          <p:nvPr/>
        </p:nvGrpSpPr>
        <p:grpSpPr>
          <a:xfrm rot="0">
            <a:off x="11068479" y="5605272"/>
            <a:ext cx="6756504" cy="914400"/>
            <a:chOff x="0" y="0"/>
            <a:chExt cx="7964888" cy="163659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964878" cy="1636542"/>
            </a:xfrm>
            <a:custGeom>
              <a:avLst/>
              <a:gdLst/>
              <a:ahLst/>
              <a:cxnLst/>
              <a:rect r="r" b="b" t="t" l="l"/>
              <a:pathLst>
                <a:path h="1636542" w="7964878">
                  <a:moveTo>
                    <a:pt x="0" y="272800"/>
                  </a:moveTo>
                  <a:cubicBezTo>
                    <a:pt x="0" y="122111"/>
                    <a:pt x="50045" y="0"/>
                    <a:pt x="111802" y="0"/>
                  </a:cubicBezTo>
                  <a:lnTo>
                    <a:pt x="7853076" y="0"/>
                  </a:lnTo>
                  <a:cubicBezTo>
                    <a:pt x="7914833" y="0"/>
                    <a:pt x="7964878" y="122111"/>
                    <a:pt x="7964878" y="272800"/>
                  </a:cubicBezTo>
                  <a:lnTo>
                    <a:pt x="7964878" y="1363742"/>
                  </a:lnTo>
                  <a:cubicBezTo>
                    <a:pt x="7964878" y="1514432"/>
                    <a:pt x="7914833" y="1636542"/>
                    <a:pt x="7853076" y="1636542"/>
                  </a:cubicBezTo>
                  <a:lnTo>
                    <a:pt x="111802" y="1636542"/>
                  </a:lnTo>
                  <a:cubicBezTo>
                    <a:pt x="50045" y="1636542"/>
                    <a:pt x="0" y="1514432"/>
                    <a:pt x="0" y="1363742"/>
                  </a:cubicBezTo>
                  <a:close/>
                </a:path>
              </a:pathLst>
            </a:custGeom>
            <a:solidFill>
              <a:srgbClr val="E06B0A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7964888" cy="1646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Auto-generated bilingual worksheet + visual flashcard set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2045278" y="1406691"/>
            <a:ext cx="7898203" cy="1975513"/>
          </a:xfrm>
          <a:custGeom>
            <a:avLst/>
            <a:gdLst/>
            <a:ahLst/>
            <a:cxnLst/>
            <a:rect r="r" b="b" t="t" l="l"/>
            <a:pathLst>
              <a:path h="1975513" w="7898203">
                <a:moveTo>
                  <a:pt x="0" y="0"/>
                </a:moveTo>
                <a:lnTo>
                  <a:pt x="7898203" y="0"/>
                </a:lnTo>
                <a:lnTo>
                  <a:pt x="7898203" y="1975514"/>
                </a:lnTo>
                <a:lnTo>
                  <a:pt x="0" y="1975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2301" t="-125248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2206146" y="8199437"/>
            <a:ext cx="7220485" cy="1986679"/>
          </a:xfrm>
          <a:custGeom>
            <a:avLst/>
            <a:gdLst/>
            <a:ahLst/>
            <a:cxnLst/>
            <a:rect r="r" b="b" t="t" l="l"/>
            <a:pathLst>
              <a:path h="1986679" w="7220485">
                <a:moveTo>
                  <a:pt x="0" y="0"/>
                </a:moveTo>
                <a:lnTo>
                  <a:pt x="7220486" y="0"/>
                </a:lnTo>
                <a:lnTo>
                  <a:pt x="7220486" y="1986679"/>
                </a:lnTo>
                <a:lnTo>
                  <a:pt x="0" y="19866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7" t="-123982" r="-110163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5816389" y="3326050"/>
            <a:ext cx="4556140" cy="2492696"/>
          </a:xfrm>
          <a:custGeom>
            <a:avLst/>
            <a:gdLst/>
            <a:ahLst/>
            <a:cxnLst/>
            <a:rect r="r" b="b" t="t" l="l"/>
            <a:pathLst>
              <a:path h="2492696" w="4556140">
                <a:moveTo>
                  <a:pt x="0" y="0"/>
                </a:moveTo>
                <a:lnTo>
                  <a:pt x="4556140" y="0"/>
                </a:lnTo>
                <a:lnTo>
                  <a:pt x="4556140" y="2492695"/>
                </a:lnTo>
                <a:lnTo>
                  <a:pt x="0" y="24926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3360" t="0" r="0" b="-78514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028700" y="3326050"/>
            <a:ext cx="4787689" cy="2436541"/>
          </a:xfrm>
          <a:custGeom>
            <a:avLst/>
            <a:gdLst/>
            <a:ahLst/>
            <a:cxnLst/>
            <a:rect r="r" b="b" t="t" l="l"/>
            <a:pathLst>
              <a:path h="2436541" w="4787689">
                <a:moveTo>
                  <a:pt x="0" y="0"/>
                </a:moveTo>
                <a:lnTo>
                  <a:pt x="4787689" y="0"/>
                </a:lnTo>
                <a:lnTo>
                  <a:pt x="4787689" y="2436541"/>
                </a:lnTo>
                <a:lnTo>
                  <a:pt x="0" y="24365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17238" b="-82628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2898572" y="5762591"/>
            <a:ext cx="5835634" cy="2436846"/>
          </a:xfrm>
          <a:custGeom>
            <a:avLst/>
            <a:gdLst/>
            <a:ahLst/>
            <a:cxnLst/>
            <a:rect r="r" b="b" t="t" l="l"/>
            <a:pathLst>
              <a:path h="2436846" w="5835634">
                <a:moveTo>
                  <a:pt x="0" y="0"/>
                </a:moveTo>
                <a:lnTo>
                  <a:pt x="5835634" y="0"/>
                </a:lnTo>
                <a:lnTo>
                  <a:pt x="5835634" y="2436846"/>
                </a:lnTo>
                <a:lnTo>
                  <a:pt x="0" y="24368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510" t="0" r="-77759" b="-82605"/>
            </a:stretch>
          </a:blipFill>
        </p:spPr>
      </p:sp>
      <p:sp>
        <p:nvSpPr>
          <p:cNvPr id="95" name="Differentiation card"/>
          <p:cNvSpPr/>
          <p:nvPr/>
        </p:nvSpPr>
        <p:spPr>
          <a:xfrm>
            <a:off x="11064240" y="6793992"/>
            <a:ext cx="6757416" cy="2459736"/>
          </a:xfrm>
          <a:prstGeom prst="roundRect">
            <a:avLst>
              <a:gd name="adj" fmla="val 8000"/>
            </a:avLst>
          </a:prstGeom>
          <a:solidFill>
            <a:srgbClr val="F4F0FA"/>
          </a:solidFill>
          <a:ln w="15875">
            <a:solidFill>
              <a:srgbClr val="8E6CC6"/>
            </a:solidFill>
          </a:ln>
        </p:spPr>
        <p:txBody>
          <a:bodyPr wrap="square" lIns="164592" tIns="109728" rIns="137160" bIns="73152" anchor="t">
            <a:normAutofit/>
          </a:bodyPr>
          <a:lstStyle/>
          <a:p>
            <a:pPr algn="l">
              <a:buNone/>
            </a:pPr>
            <a:r>
              <a:rPr lang="en-US" sz="2000" b="1">
                <a:solidFill>
                  <a:srgbClr val="14324D"/>
                </a:solidFill>
                <a:latin typeface="Arial"/>
                <a:cs typeface="Arial"/>
              </a:rPr>
              <a:t>What Nijbhasha adds over translation apps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rial"/>
                <a:cs typeface="Arial"/>
              </a:rPr>
              <a:t>Adi Vaani (MoTA), Bhashini and Google Translate translate text. Nijbhasha runs the whole lesson:</a:t>
            </a:r>
          </a:p>
          <a:p>
            <a:pPr algn="l" marL="285750" indent="-285750">
              <a:spcBef>
                <a:spcPts val="500"/>
              </a:spcBef>
              <a:buClr>
                <a:srgbClr val="1E7A45"/>
              </a:buClr>
              <a:buFont typeface="Wingdings" pitchFamily="2" charset="2"/>
              <a:buChar char="ü"/>
            </a:pPr>
            <a:r>
              <a:rPr lang="en-US" sz="1600">
                <a:solidFill>
                  <a:srgbClr val="222222"/>
                </a:solidFill>
                <a:latin typeface="Arial"/>
                <a:cs typeface="Arial"/>
              </a:rPr>
              <a:t>Lesson script → speech → comprehension check</a:t>
            </a:r>
          </a:p>
          <a:p>
            <a:pPr algn="l" marL="285750" indent="-285750">
              <a:spcBef>
                <a:spcPts val="200"/>
              </a:spcBef>
              <a:buClr>
                <a:srgbClr val="1E7A45"/>
              </a:buClr>
              <a:buFont typeface="Wingdings" pitchFamily="2" charset="2"/>
              <a:buChar char="ü"/>
            </a:pPr>
            <a:r>
              <a:rPr lang="en-US" sz="1600">
                <a:solidFill>
                  <a:srgbClr val="222222"/>
                </a:solidFill>
                <a:latin typeface="Arial"/>
                <a:cs typeface="Arial"/>
              </a:rPr>
              <a:t>Bilingual NIPUN worksheet + flashcards from that lesson</a:t>
            </a:r>
          </a:p>
          <a:p>
            <a:pPr algn="l" marL="285750" indent="-285750">
              <a:spcBef>
                <a:spcPts val="200"/>
              </a:spcBef>
              <a:buClr>
                <a:srgbClr val="1E7A45"/>
              </a:buClr>
              <a:buFont typeface="Wingdings" pitchFamily="2" charset="2"/>
              <a:buChar char="ü"/>
            </a:pPr>
            <a:r>
              <a:rPr lang="en-US" sz="1600">
                <a:solidFill>
                  <a:srgbClr val="222222"/>
                </a:solidFill>
                <a:latin typeface="Arial"/>
                <a:cs typeface="Arial"/>
              </a:rPr>
              <a:t>Teacher corrections reused next time</a:t>
            </a:r>
          </a:p>
          <a:p>
            <a:pPr algn="l" marL="285750" indent="-285750">
              <a:spcBef>
                <a:spcPts val="200"/>
              </a:spcBef>
              <a:buClr>
                <a:srgbClr val="1E7A45"/>
              </a:buClr>
              <a:buFont typeface="Wingdings" pitchFamily="2" charset="2"/>
              <a:buChar char="ü"/>
            </a:pPr>
            <a:r>
              <a:rPr lang="en-US" sz="1600">
                <a:solidFill>
                  <a:srgbClr val="222222"/>
                </a:solidFill>
                <a:latin typeface="Arial"/>
                <a:cs typeface="Arial"/>
              </a:rPr>
              <a:t>Offline on an Android tablet in airplane mode</a:t>
            </a:r>
          </a:p>
          <a:p>
            <a:pPr algn="l" marL="285750" indent="-285750">
              <a:spcBef>
                <a:spcPts val="200"/>
              </a:spcBef>
              <a:buClr>
                <a:srgbClr val="1E7A45"/>
              </a:buClr>
              <a:buFont typeface="Wingdings" pitchFamily="2" charset="2"/>
              <a:buChar char="ü"/>
            </a:pPr>
            <a:r>
              <a:rPr lang="en-US" sz="1600">
                <a:solidFill>
                  <a:srgbClr val="222222"/>
                </a:solidFill>
                <a:latin typeface="Arial"/>
                <a:cs typeface="Arial"/>
              </a:rPr>
              <a:t>Reading-fluency check against NIPUN words-per-minute goals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8-bitPool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75612" y="1942358"/>
            <a:ext cx="8501177" cy="3103575"/>
            <a:chOff x="0" y="0"/>
            <a:chExt cx="11334902" cy="4138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334890" cy="4138163"/>
            </a:xfrm>
            <a:custGeom>
              <a:avLst/>
              <a:gdLst/>
              <a:ahLst/>
              <a:cxnLst/>
              <a:rect r="r" b="b" t="t" l="l"/>
              <a:pathLst>
                <a:path h="4138163" w="11334890">
                  <a:moveTo>
                    <a:pt x="0" y="689736"/>
                  </a:moveTo>
                  <a:cubicBezTo>
                    <a:pt x="0" y="308737"/>
                    <a:pt x="307295" y="0"/>
                    <a:pt x="686515" y="0"/>
                  </a:cubicBezTo>
                  <a:lnTo>
                    <a:pt x="10648375" y="0"/>
                  </a:lnTo>
                  <a:cubicBezTo>
                    <a:pt x="11027469" y="0"/>
                    <a:pt x="11334890" y="308737"/>
                    <a:pt x="11334890" y="689736"/>
                  </a:cubicBezTo>
                  <a:lnTo>
                    <a:pt x="11334890" y="3448427"/>
                  </a:lnTo>
                  <a:cubicBezTo>
                    <a:pt x="11334890" y="3829300"/>
                    <a:pt x="11027595" y="4138163"/>
                    <a:pt x="10648375" y="4138163"/>
                  </a:cubicBezTo>
                  <a:lnTo>
                    <a:pt x="686515" y="4138163"/>
                  </a:lnTo>
                  <a:cubicBezTo>
                    <a:pt x="307295" y="4138036"/>
                    <a:pt x="0" y="3829300"/>
                    <a:pt x="0" y="3448427"/>
                  </a:cubicBezTo>
                  <a:close/>
                </a:path>
              </a:pathLst>
            </a:custGeom>
            <a:solidFill>
              <a:srgbClr val="F2F3F5"/>
            </a:solidFill>
            <a:ln w="28575" cap="sq">
              <a:solidFill>
                <a:srgbClr val="1E7145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11334902" cy="414762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1E71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• WHAT'S BUILT &amp; RUNNING TODAY</a:t>
              </a:r>
            </a:p>
            <a:p>
              <a:pPr algn="l">
                <a:lnSpc>
                  <a:spcPts val="2999"/>
                </a:lnSpc>
              </a:pPr>
            </a:p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• Android app: lessons, worksheets, spoken lesson lines, typed translation; tested offline on a 4 GB tablet and a 2 GB Android 9 emulator</a:t>
              </a:r>
            </a:p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• Laptop hub: Flask API + one HTML page; tablets join over Wi-Fi</a:t>
              </a:r>
            </a:p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• Real models live: speech recognition, translation, synthesis</a:t>
              </a:r>
            </a:p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• Hindi / Santali / English UI; 18 NIPUN lessons, Balvatika–Grade 3</a:t>
              </a:r>
            </a:p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• Teachers add lessons from Hindi text; progress by NIPUN Lakshya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323213" y="1942358"/>
            <a:ext cx="8541077" cy="3103575"/>
            <a:chOff x="0" y="0"/>
            <a:chExt cx="11388103" cy="4138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388090" cy="4138163"/>
            </a:xfrm>
            <a:custGeom>
              <a:avLst/>
              <a:gdLst/>
              <a:ahLst/>
              <a:cxnLst/>
              <a:rect r="r" b="b" t="t" l="l"/>
              <a:pathLst>
                <a:path h="4138163" w="11388090">
                  <a:moveTo>
                    <a:pt x="0" y="689736"/>
                  </a:moveTo>
                  <a:cubicBezTo>
                    <a:pt x="0" y="308737"/>
                    <a:pt x="308737" y="0"/>
                    <a:pt x="689737" y="0"/>
                  </a:cubicBezTo>
                  <a:lnTo>
                    <a:pt x="10698353" y="0"/>
                  </a:lnTo>
                  <a:cubicBezTo>
                    <a:pt x="11079226" y="0"/>
                    <a:pt x="11388090" y="308737"/>
                    <a:pt x="11388090" y="689736"/>
                  </a:cubicBezTo>
                  <a:lnTo>
                    <a:pt x="11388090" y="3448427"/>
                  </a:lnTo>
                  <a:cubicBezTo>
                    <a:pt x="11388090" y="3829300"/>
                    <a:pt x="11079353" y="4138163"/>
                    <a:pt x="10698353" y="4138163"/>
                  </a:cubicBezTo>
                  <a:lnTo>
                    <a:pt x="689737" y="4138163"/>
                  </a:lnTo>
                  <a:cubicBezTo>
                    <a:pt x="308737" y="4138036"/>
                    <a:pt x="0" y="3829300"/>
                    <a:pt x="0" y="3448427"/>
                  </a:cubicBezTo>
                  <a:close/>
                </a:path>
              </a:pathLst>
            </a:custGeom>
            <a:solidFill>
              <a:srgbClr val="F2F3F5"/>
            </a:solidFill>
            <a:ln w="28575" cap="sq">
              <a:solidFill>
                <a:srgbClr val="1F6FB2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11388103" cy="414762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1F6FB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• THE AI PIPELINE — INTEGRATED, NOT PLANNED</a:t>
              </a:r>
            </a:p>
            <a:p>
              <a:pPr algn="l">
                <a:lnSpc>
                  <a:spcPts val="2999"/>
                </a:lnSpc>
              </a:pPr>
            </a:p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• ASR: IndicConformer — 600M on the hub, 120M int8 on the tablet</a:t>
              </a:r>
            </a:p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• NMT: IndicTrans2 320M, direct Hindi↔Santali, no English pivot</a:t>
              </a:r>
            </a:p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• TTS: Piper voice reads Santali via our Ol Chiki transliterator</a:t>
              </a:r>
            </a:p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• Offline: sockets-off laptop test; tablet tested in airplane mode</a:t>
              </a:r>
            </a:p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• Santali live; Mundari translation preview; Ho voice preview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554288" y="5150708"/>
            <a:ext cx="1731000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749" b="true">
                <a:solidFill>
                  <a:srgbClr val="14324D"/>
                </a:solidFill>
                <a:latin typeface="Arial Bold"/>
                <a:ea typeface="Arial Bold"/>
                <a:cs typeface="Arial Bold"/>
                <a:sym typeface="Arial Bold"/>
              </a:rPr>
              <a:t>Methodology and process for implementation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44004" y="5706648"/>
            <a:ext cx="5599995" cy="3450000"/>
            <a:chOff x="0" y="0"/>
            <a:chExt cx="7466660" cy="4600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466711" cy="4600063"/>
            </a:xfrm>
            <a:custGeom>
              <a:avLst/>
              <a:gdLst/>
              <a:ahLst/>
              <a:cxnLst/>
              <a:rect r="r" b="b" t="t" l="l"/>
              <a:pathLst>
                <a:path h="4600063" w="7466711">
                  <a:moveTo>
                    <a:pt x="0" y="766698"/>
                  </a:moveTo>
                  <a:cubicBezTo>
                    <a:pt x="0" y="343281"/>
                    <a:pt x="343281" y="0"/>
                    <a:pt x="766699" y="0"/>
                  </a:cubicBezTo>
                  <a:lnTo>
                    <a:pt x="6700012" y="0"/>
                  </a:lnTo>
                  <a:cubicBezTo>
                    <a:pt x="7123430" y="0"/>
                    <a:pt x="7466711" y="343281"/>
                    <a:pt x="7466711" y="766698"/>
                  </a:cubicBezTo>
                  <a:lnTo>
                    <a:pt x="7466711" y="3833365"/>
                  </a:lnTo>
                  <a:cubicBezTo>
                    <a:pt x="7466711" y="4256783"/>
                    <a:pt x="7123430" y="4600063"/>
                    <a:pt x="6700012" y="4600063"/>
                  </a:cubicBezTo>
                  <a:lnTo>
                    <a:pt x="766699" y="4600063"/>
                  </a:lnTo>
                  <a:cubicBezTo>
                    <a:pt x="343281" y="4599937"/>
                    <a:pt x="0" y="4256783"/>
                    <a:pt x="0" y="3833365"/>
                  </a:cubicBezTo>
                  <a:close/>
                </a:path>
              </a:pathLst>
            </a:custGeom>
            <a:solidFill>
              <a:srgbClr val="14324D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7466660" cy="460952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3089"/>
                </a:lnSpc>
              </a:pPr>
              <a:r>
                <a:rPr lang="en-US" sz="2574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TEACHER INTERFACE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89009" y="6357129"/>
            <a:ext cx="5510003" cy="177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sz="232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– Voice or typed input (Hindi)</a:t>
            </a:r>
          </a:p>
          <a:p>
            <a:pPr algn="l">
              <a:lnSpc>
                <a:spcPts val="2789"/>
              </a:lnSpc>
            </a:pPr>
            <a:r>
              <a:rPr lang="en-US" sz="232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– Lesson / activity / assessment modes</a:t>
            </a:r>
          </a:p>
          <a:p>
            <a:pPr algn="l">
              <a:lnSpc>
                <a:spcPts val="2789"/>
              </a:lnSpc>
            </a:pPr>
            <a:r>
              <a:rPr lang="en-US" sz="232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– Add a lesson from Hindi text</a:t>
            </a:r>
          </a:p>
          <a:p>
            <a:pPr algn="l">
              <a:lnSpc>
                <a:spcPts val="2789"/>
              </a:lnSpc>
            </a:pPr>
            <a:r>
              <a:rPr lang="en-US" sz="232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– One-click worksheet download</a:t>
            </a:r>
          </a:p>
          <a:p>
            <a:pPr algn="l">
              <a:lnSpc>
                <a:spcPts val="2789"/>
              </a:lnSpc>
            </a:pPr>
            <a:r>
              <a:rPr lang="en-US" sz="232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– Android tablet app, or laptop browser</a:t>
            </a:r>
          </a:p>
          <a:p>
            <a:pPr algn="l">
              <a:lnSpc>
                <a:spcPts val="2789"/>
              </a:lnSpc>
            </a:pPr>
            <a:r>
              <a:rPr lang="en-US" sz="232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– Signed content sync, then no network</a:t>
            </a:r>
          </a:p>
        </p:txBody>
      </p:sp>
      <p:sp>
        <p:nvSpPr>
          <p:cNvPr name="AutoShape 29" id="29"/>
          <p:cNvSpPr/>
          <p:nvPr/>
        </p:nvSpPr>
        <p:spPr>
          <a:xfrm>
            <a:off x="5799958" y="7412605"/>
            <a:ext cx="488100" cy="38097"/>
          </a:xfrm>
          <a:prstGeom prst="line">
            <a:avLst/>
          </a:prstGeom>
          <a:ln cap="rnd" w="19050">
            <a:solidFill>
              <a:srgbClr val="14324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0" id="30"/>
          <p:cNvGrpSpPr/>
          <p:nvPr/>
        </p:nvGrpSpPr>
        <p:grpSpPr>
          <a:xfrm rot="0">
            <a:off x="6344007" y="5706648"/>
            <a:ext cx="5599995" cy="3450000"/>
            <a:chOff x="0" y="0"/>
            <a:chExt cx="7466660" cy="4600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466711" cy="4600063"/>
            </a:xfrm>
            <a:custGeom>
              <a:avLst/>
              <a:gdLst/>
              <a:ahLst/>
              <a:cxnLst/>
              <a:rect r="r" b="b" t="t" l="l"/>
              <a:pathLst>
                <a:path h="4600063" w="7466711">
                  <a:moveTo>
                    <a:pt x="0" y="766698"/>
                  </a:moveTo>
                  <a:cubicBezTo>
                    <a:pt x="0" y="343281"/>
                    <a:pt x="343281" y="0"/>
                    <a:pt x="766699" y="0"/>
                  </a:cubicBezTo>
                  <a:lnTo>
                    <a:pt x="6700012" y="0"/>
                  </a:lnTo>
                  <a:cubicBezTo>
                    <a:pt x="7123430" y="0"/>
                    <a:pt x="7466711" y="343281"/>
                    <a:pt x="7466711" y="766698"/>
                  </a:cubicBezTo>
                  <a:lnTo>
                    <a:pt x="7466711" y="3833365"/>
                  </a:lnTo>
                  <a:cubicBezTo>
                    <a:pt x="7466711" y="4256783"/>
                    <a:pt x="7123430" y="4600063"/>
                    <a:pt x="6700012" y="4600063"/>
                  </a:cubicBezTo>
                  <a:lnTo>
                    <a:pt x="766699" y="4600063"/>
                  </a:lnTo>
                  <a:cubicBezTo>
                    <a:pt x="343281" y="4599937"/>
                    <a:pt x="0" y="4256783"/>
                    <a:pt x="0" y="3833365"/>
                  </a:cubicBezTo>
                  <a:close/>
                </a:path>
              </a:pathLst>
            </a:custGeom>
            <a:solidFill>
              <a:srgbClr val="1F6FB2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7466660" cy="460952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3089"/>
                </a:lnSpc>
              </a:pPr>
              <a:r>
                <a:rPr lang="en-US" sz="2574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 ENGINE — OFFLINE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6389003" y="6357129"/>
            <a:ext cx="5510003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sz="232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– Hindi + Santali ASR — IndicConformer</a:t>
            </a:r>
          </a:p>
          <a:p>
            <a:pPr algn="l">
              <a:lnSpc>
                <a:spcPts val="2789"/>
              </a:lnSpc>
            </a:pPr>
            <a:r>
              <a:rPr lang="en-US" sz="232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– NMT — IndicTrans2, direct Indic↔Indic</a:t>
            </a:r>
          </a:p>
          <a:p>
            <a:pPr algn="l">
              <a:lnSpc>
                <a:spcPts val="2789"/>
              </a:lnSpc>
            </a:pPr>
            <a:r>
              <a:rPr lang="en-US" sz="232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– TTS — Piper, offline voice</a:t>
            </a:r>
          </a:p>
          <a:p>
            <a:pPr algn="l">
              <a:lnSpc>
                <a:spcPts val="2789"/>
              </a:lnSpc>
            </a:pPr>
            <a:r>
              <a:rPr lang="en-US" sz="232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– Teacher corrections reused first</a:t>
            </a:r>
          </a:p>
          <a:p>
            <a:pPr algn="l">
              <a:lnSpc>
                <a:spcPts val="2789"/>
              </a:lnSpc>
            </a:pPr>
            <a:r>
              <a:rPr lang="en-US" sz="232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– Doubtful output flagged for review</a:t>
            </a:r>
          </a:p>
          <a:p>
            <a:pPr algn="l">
              <a:lnSpc>
                <a:spcPts val="2789"/>
              </a:lnSpc>
            </a:pPr>
            <a:r>
              <a:rPr lang="en-US" sz="232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– Long sentences streamed by clause</a:t>
            </a:r>
          </a:p>
        </p:txBody>
      </p:sp>
      <p:sp>
        <p:nvSpPr>
          <p:cNvPr name="AutoShape 34" id="34"/>
          <p:cNvSpPr/>
          <p:nvPr/>
        </p:nvSpPr>
        <p:spPr>
          <a:xfrm>
            <a:off x="11999951" y="7412605"/>
            <a:ext cx="488100" cy="38097"/>
          </a:xfrm>
          <a:prstGeom prst="line">
            <a:avLst/>
          </a:prstGeom>
          <a:ln cap="rnd" w="19050">
            <a:solidFill>
              <a:srgbClr val="14324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5" id="35"/>
          <p:cNvGrpSpPr/>
          <p:nvPr/>
        </p:nvGrpSpPr>
        <p:grpSpPr>
          <a:xfrm rot="0">
            <a:off x="12544001" y="5706648"/>
            <a:ext cx="5599995" cy="3450000"/>
            <a:chOff x="0" y="0"/>
            <a:chExt cx="7466660" cy="4600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466711" cy="4600063"/>
            </a:xfrm>
            <a:custGeom>
              <a:avLst/>
              <a:gdLst/>
              <a:ahLst/>
              <a:cxnLst/>
              <a:rect r="r" b="b" t="t" l="l"/>
              <a:pathLst>
                <a:path h="4600063" w="7466711">
                  <a:moveTo>
                    <a:pt x="0" y="766698"/>
                  </a:moveTo>
                  <a:cubicBezTo>
                    <a:pt x="0" y="343281"/>
                    <a:pt x="343281" y="0"/>
                    <a:pt x="766699" y="0"/>
                  </a:cubicBezTo>
                  <a:lnTo>
                    <a:pt x="6700012" y="0"/>
                  </a:lnTo>
                  <a:cubicBezTo>
                    <a:pt x="7123430" y="0"/>
                    <a:pt x="7466711" y="343281"/>
                    <a:pt x="7466711" y="766698"/>
                  </a:cubicBezTo>
                  <a:lnTo>
                    <a:pt x="7466711" y="3833365"/>
                  </a:lnTo>
                  <a:cubicBezTo>
                    <a:pt x="7466711" y="4256783"/>
                    <a:pt x="7123430" y="4600063"/>
                    <a:pt x="6700012" y="4600063"/>
                  </a:cubicBezTo>
                  <a:lnTo>
                    <a:pt x="766699" y="4600063"/>
                  </a:lnTo>
                  <a:cubicBezTo>
                    <a:pt x="343281" y="4599937"/>
                    <a:pt x="0" y="4256783"/>
                    <a:pt x="0" y="3833365"/>
                  </a:cubicBezTo>
                  <a:close/>
                </a:path>
              </a:pathLst>
            </a:custGeom>
            <a:solidFill>
              <a:srgbClr val="1E7145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7466660" cy="460952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3089"/>
                </a:lnSpc>
              </a:pPr>
              <a:r>
                <a:rPr lang="en-US" sz="2574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STUDENT OUTPUT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2589007" y="6357129"/>
            <a:ext cx="5510003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sz="232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– Santali audio + Ol Chiki text</a:t>
            </a:r>
          </a:p>
          <a:p>
            <a:pPr algn="l">
              <a:lnSpc>
                <a:spcPts val="2789"/>
              </a:lnSpc>
            </a:pPr>
            <a:r>
              <a:rPr lang="en-US" sz="232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– Hindi response heard by teacher</a:t>
            </a:r>
          </a:p>
          <a:p>
            <a:pPr algn="l">
              <a:lnSpc>
                <a:spcPts val="2789"/>
              </a:lnSpc>
            </a:pPr>
            <a:r>
              <a:rPr lang="en-US" sz="232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– Bilingual worksheet + flashcards</a:t>
            </a:r>
          </a:p>
          <a:p>
            <a:pPr algn="l">
              <a:lnSpc>
                <a:spcPts val="2789"/>
              </a:lnSpc>
            </a:pPr>
            <a:r>
              <a:rPr lang="en-US" sz="232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– Green / yellow / red answer check</a:t>
            </a:r>
          </a:p>
          <a:p>
            <a:pPr algn="l">
              <a:lnSpc>
                <a:spcPts val="2789"/>
              </a:lnSpc>
            </a:pPr>
            <a:r>
              <a:rPr lang="en-US" sz="232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– Reading-fluency score (words/min)</a:t>
            </a:r>
          </a:p>
          <a:p>
            <a:pPr algn="l">
              <a:lnSpc>
                <a:spcPts val="2789"/>
              </a:lnSpc>
            </a:pPr>
            <a:r>
              <a:rPr lang="en-US" sz="232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– NIPUN Lakshya-tagged; NEP §4.11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02959" y="1586227"/>
            <a:ext cx="10972800" cy="200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1414" indent="-240707" lvl="1">
              <a:lnSpc>
                <a:spcPts val="3192"/>
              </a:lnSpc>
              <a:buFont typeface="Arial"/>
              <a:buChar char="•"/>
            </a:pPr>
            <a:r>
              <a:rPr lang="en-US" b="true" sz="2660">
                <a:solidFill>
                  <a:srgbClr val="14324D"/>
                </a:solidFill>
                <a:latin typeface="Arial Bold"/>
                <a:ea typeface="Arial Bold"/>
                <a:cs typeface="Arial Bold"/>
                <a:sym typeface="Arial Bold"/>
              </a:rPr>
              <a:t>Analysis of the feasibility of the idea</a:t>
            </a:r>
          </a:p>
          <a:p>
            <a:pPr algn="l" marL="953365" indent="-476683" lvl="1">
              <a:lnSpc>
                <a:spcPts val="6321"/>
              </a:lnSpc>
              <a:buFont typeface="Arial"/>
              <a:buChar char="•"/>
            </a:pPr>
          </a:p>
          <a:p>
            <a:pPr algn="l" marL="953365" indent="-476683" lvl="1">
              <a:lnSpc>
                <a:spcPts val="6321"/>
              </a:lnSpc>
              <a:buFont typeface="Arial"/>
              <a:buChar char="•"/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4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95005" y="161263"/>
            <a:ext cx="1915887" cy="1249099"/>
            <a:chOff x="0" y="0"/>
            <a:chExt cx="2554516" cy="1665465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8-bitPool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05003" y="2029898"/>
            <a:ext cx="11018520" cy="2944252"/>
            <a:chOff x="0" y="0"/>
            <a:chExt cx="23200004" cy="392566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199979" cy="3925655"/>
            </a:xfrm>
            <a:custGeom>
              <a:avLst/>
              <a:gdLst/>
              <a:ahLst/>
              <a:cxnLst/>
              <a:rect r="r" b="b" t="t" l="l"/>
              <a:pathLst>
                <a:path h="3925655" w="23199979">
                  <a:moveTo>
                    <a:pt x="0" y="654252"/>
                  </a:moveTo>
                  <a:cubicBezTo>
                    <a:pt x="0" y="292868"/>
                    <a:pt x="261112" y="0"/>
                    <a:pt x="583311" y="0"/>
                  </a:cubicBezTo>
                  <a:lnTo>
                    <a:pt x="22616668" y="0"/>
                  </a:lnTo>
                  <a:cubicBezTo>
                    <a:pt x="22938867" y="0"/>
                    <a:pt x="23199979" y="292868"/>
                    <a:pt x="23199979" y="654252"/>
                  </a:cubicBezTo>
                  <a:lnTo>
                    <a:pt x="23199979" y="3271403"/>
                  </a:lnTo>
                  <a:cubicBezTo>
                    <a:pt x="23199979" y="3632787"/>
                    <a:pt x="22938867" y="3925655"/>
                    <a:pt x="22616668" y="3925655"/>
                  </a:cubicBezTo>
                  <a:lnTo>
                    <a:pt x="583311" y="3925655"/>
                  </a:lnTo>
                  <a:cubicBezTo>
                    <a:pt x="261112" y="3925655"/>
                    <a:pt x="0" y="3632787"/>
                    <a:pt x="0" y="3271403"/>
                  </a:cubicBezTo>
                  <a:close/>
                </a:path>
              </a:pathLst>
            </a:custGeom>
            <a:solidFill>
              <a:srgbClr val="F2F3F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23200004" cy="394471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250"/>
                </a:lnSpc>
                <a:spcBef>
                  <a:spcPts val="500"/>
                </a:spcBef>
              </a:pPr>
              <a:r>
                <a:rPr lang="en-US" sz="1850" b="1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• On-device today: </a:t>
              </a:r>
              <a:r>
                <a:rPr lang="en-US" sz="1850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Realme Pad Mini (4 GB) and a 2 GB Android 9 emulator, airplane mode: IndicConformer 120M, IndicTrans2 int8, Piper. New typed sentences translated on the tablet: p50 1.50 s (Realme), 0.60 s (emulator).</a:t>
              </a:r>
            </a:p>
            <a:p>
              <a:pPr algn="l">
                <a:lnSpc>
                  <a:spcPts val="2250"/>
                </a:lnSpc>
                <a:spcBef>
                  <a:spcPts val="500"/>
                </a:spcBef>
              </a:pPr>
              <a:r>
                <a:rPr lang="en-US" sz="1850" b="1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• Published evidence: </a:t>
              </a:r>
              <a:r>
                <a:rPr lang="en-US" sz="1850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Singh, Ekbal &amp; Pakray (MMLoSo 2025): fine-tuned IndicTrans2 beats ByT5 for English↔Santali; we use the same family for Hindi↔Santali.</a:t>
              </a:r>
            </a:p>
            <a:p>
              <a:pPr algn="l">
                <a:lnSpc>
                  <a:spcPts val="2250"/>
                </a:lnSpc>
                <a:spcBef>
                  <a:spcPts val="500"/>
                </a:spcBef>
              </a:pPr>
              <a:r>
                <a:rPr lang="en-US" sz="1850" b="1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• Benchmarks: </a:t>
              </a:r>
              <a:r>
                <a:rPr lang="en-US" sz="1850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Hindi→Santali chrF++ 31.3 / 32.2 / 27.4 (IN22-Gen / IN22-Conv / FLORES-200), leakage-guarded; 300+ automated tests run in CI.</a:t>
              </a:r>
            </a:p>
            <a:p>
              <a:pPr algn="l">
                <a:lnSpc>
                  <a:spcPts val="2250"/>
                </a:lnSpc>
                <a:spcBef>
                  <a:spcPts val="500"/>
                </a:spcBef>
              </a:pPr>
              <a:r>
                <a:rPr lang="en-US" sz="1850" b="1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• Next: </a:t>
              </a:r>
              <a:r>
                <a:rPr lang="en-US" sz="1850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Mundari translation preview built (LoRA on MMLoSo 2025 data; held-out chrF++ 30.92). Ho: voice only. Native-speaker review for all three.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495005" y="4959137"/>
            <a:ext cx="1731000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3"/>
              </a:lnSpc>
            </a:pPr>
            <a:r>
              <a:rPr lang="en-US" sz="2536" b="true">
                <a:solidFill>
                  <a:srgbClr val="14324D"/>
                </a:solidFill>
                <a:latin typeface="Arial Bold"/>
                <a:ea typeface="Arial Bold"/>
                <a:cs typeface="Arial Bold"/>
                <a:sym typeface="Arial Bold"/>
              </a:rPr>
              <a:t>Potential challenges / risks  →  Strategies for overcoming them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440474" y="5504251"/>
            <a:ext cx="8371046" cy="885300"/>
            <a:chOff x="0" y="0"/>
            <a:chExt cx="11161395" cy="1180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161395" cy="1180336"/>
            </a:xfrm>
            <a:custGeom>
              <a:avLst/>
              <a:gdLst/>
              <a:ahLst/>
              <a:cxnLst/>
              <a:rect r="r" b="b" t="t" l="l"/>
              <a:pathLst>
                <a:path h="1180336" w="11161395">
                  <a:moveTo>
                    <a:pt x="0" y="196723"/>
                  </a:moveTo>
                  <a:cubicBezTo>
                    <a:pt x="0" y="88138"/>
                    <a:pt x="88138" y="0"/>
                    <a:pt x="196723" y="0"/>
                  </a:cubicBezTo>
                  <a:lnTo>
                    <a:pt x="10964672" y="0"/>
                  </a:lnTo>
                  <a:cubicBezTo>
                    <a:pt x="11073384" y="0"/>
                    <a:pt x="11161395" y="88138"/>
                    <a:pt x="11161395" y="196723"/>
                  </a:cubicBezTo>
                  <a:lnTo>
                    <a:pt x="11161395" y="983614"/>
                  </a:lnTo>
                  <a:cubicBezTo>
                    <a:pt x="11161395" y="1092326"/>
                    <a:pt x="11073257" y="1180336"/>
                    <a:pt x="10964672" y="1180336"/>
                  </a:cubicBezTo>
                  <a:lnTo>
                    <a:pt x="196723" y="1180336"/>
                  </a:lnTo>
                  <a:cubicBezTo>
                    <a:pt x="88138" y="1180337"/>
                    <a:pt x="0" y="1092326"/>
                    <a:pt x="0" y="983614"/>
                  </a:cubicBezTo>
                  <a:close/>
                </a:path>
              </a:pathLst>
            </a:custGeom>
            <a:solidFill>
              <a:srgbClr val="F7E8E6"/>
            </a:solidFill>
            <a:ln w="19050" cap="sq">
              <a:solidFill>
                <a:srgbClr val="A3322A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1161395" cy="118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49"/>
                </a:lnSpc>
              </a:pPr>
              <a:r>
                <a:rPr lang="en-US" sz="2124">
                  <a:solidFill>
                    <a:srgbClr val="A3322A"/>
                  </a:solidFill>
                  <a:latin typeface="Arial"/>
                  <a:ea typeface="Arial"/>
                  <a:cs typeface="Arial"/>
                  <a:sym typeface="Arial"/>
                </a:rPr>
                <a:t>Ho &amp; Mundari have far less parallel data than Santali (already built) → lower initial accuracy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488472" y="5504251"/>
            <a:ext cx="8371046" cy="885300"/>
            <a:chOff x="0" y="0"/>
            <a:chExt cx="11161395" cy="1180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161395" cy="1180336"/>
            </a:xfrm>
            <a:custGeom>
              <a:avLst/>
              <a:gdLst/>
              <a:ahLst/>
              <a:cxnLst/>
              <a:rect r="r" b="b" t="t" l="l"/>
              <a:pathLst>
                <a:path h="1180336" w="11161395">
                  <a:moveTo>
                    <a:pt x="0" y="196723"/>
                  </a:moveTo>
                  <a:cubicBezTo>
                    <a:pt x="0" y="88138"/>
                    <a:pt x="88138" y="0"/>
                    <a:pt x="196723" y="0"/>
                  </a:cubicBezTo>
                  <a:lnTo>
                    <a:pt x="10964672" y="0"/>
                  </a:lnTo>
                  <a:cubicBezTo>
                    <a:pt x="11073384" y="0"/>
                    <a:pt x="11161395" y="88138"/>
                    <a:pt x="11161395" y="196723"/>
                  </a:cubicBezTo>
                  <a:lnTo>
                    <a:pt x="11161395" y="983614"/>
                  </a:lnTo>
                  <a:cubicBezTo>
                    <a:pt x="11161395" y="1092326"/>
                    <a:pt x="11073257" y="1180336"/>
                    <a:pt x="10964672" y="1180336"/>
                  </a:cubicBezTo>
                  <a:lnTo>
                    <a:pt x="196723" y="1180336"/>
                  </a:lnTo>
                  <a:cubicBezTo>
                    <a:pt x="88138" y="1180337"/>
                    <a:pt x="0" y="1092326"/>
                    <a:pt x="0" y="983614"/>
                  </a:cubicBezTo>
                  <a:close/>
                </a:path>
              </a:pathLst>
            </a:custGeom>
            <a:solidFill>
              <a:srgbClr val="E7F1EB"/>
            </a:solidFill>
            <a:ln w="19050" cap="sq">
              <a:solidFill>
                <a:srgbClr val="1E7145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1161395" cy="118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49"/>
                </a:lnSpc>
              </a:pPr>
              <a:r>
                <a:rPr lang="en-US" sz="2124">
                  <a:solidFill>
                    <a:srgbClr val="1E7145"/>
                  </a:solidFill>
                  <a:latin typeface="Arial"/>
                  <a:ea typeface="Arial"/>
                  <a:cs typeface="Arial"/>
                  <a:sym typeface="Arial"/>
                </a:rPr>
                <a:t>LoRA on IndicTrans2 already gives a Mundari preview; add PALASH textbooks, community recordings and teacher corrections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40474" y="6460504"/>
            <a:ext cx="8371046" cy="885300"/>
            <a:chOff x="0" y="0"/>
            <a:chExt cx="11161395" cy="1180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161395" cy="1180336"/>
            </a:xfrm>
            <a:custGeom>
              <a:avLst/>
              <a:gdLst/>
              <a:ahLst/>
              <a:cxnLst/>
              <a:rect r="r" b="b" t="t" l="l"/>
              <a:pathLst>
                <a:path h="1180336" w="11161395">
                  <a:moveTo>
                    <a:pt x="0" y="196723"/>
                  </a:moveTo>
                  <a:cubicBezTo>
                    <a:pt x="0" y="88138"/>
                    <a:pt x="88138" y="0"/>
                    <a:pt x="196723" y="0"/>
                  </a:cubicBezTo>
                  <a:lnTo>
                    <a:pt x="10964672" y="0"/>
                  </a:lnTo>
                  <a:cubicBezTo>
                    <a:pt x="11073384" y="0"/>
                    <a:pt x="11161395" y="88138"/>
                    <a:pt x="11161395" y="196723"/>
                  </a:cubicBezTo>
                  <a:lnTo>
                    <a:pt x="11161395" y="983614"/>
                  </a:lnTo>
                  <a:cubicBezTo>
                    <a:pt x="11161395" y="1092326"/>
                    <a:pt x="11073257" y="1180336"/>
                    <a:pt x="10964672" y="1180336"/>
                  </a:cubicBezTo>
                  <a:lnTo>
                    <a:pt x="196723" y="1180336"/>
                  </a:lnTo>
                  <a:cubicBezTo>
                    <a:pt x="88138" y="1180337"/>
                    <a:pt x="0" y="1092326"/>
                    <a:pt x="0" y="983614"/>
                  </a:cubicBezTo>
                  <a:close/>
                </a:path>
              </a:pathLst>
            </a:custGeom>
            <a:solidFill>
              <a:srgbClr val="F7E8E6"/>
            </a:solidFill>
            <a:ln w="19050" cap="sq">
              <a:solidFill>
                <a:srgbClr val="A3322A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11161395" cy="118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49"/>
                </a:lnSpc>
              </a:pPr>
              <a:r>
                <a:rPr lang="en-US" sz="2124">
                  <a:solidFill>
                    <a:srgbClr val="A3322A"/>
                  </a:solidFill>
                  <a:latin typeface="Arial"/>
                  <a:ea typeface="Arial"/>
                  <a:cs typeface="Arial"/>
                  <a:sym typeface="Arial"/>
                </a:rPr>
                <a:t>Low-end tablets vary in RAM, CPU speed and heat — the weakest devices could exceed the 3-second latency limit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488472" y="6460504"/>
            <a:ext cx="8371046" cy="885300"/>
            <a:chOff x="0" y="0"/>
            <a:chExt cx="11161395" cy="1180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161395" cy="1180336"/>
            </a:xfrm>
            <a:custGeom>
              <a:avLst/>
              <a:gdLst/>
              <a:ahLst/>
              <a:cxnLst/>
              <a:rect r="r" b="b" t="t" l="l"/>
              <a:pathLst>
                <a:path h="1180336" w="11161395">
                  <a:moveTo>
                    <a:pt x="0" y="196723"/>
                  </a:moveTo>
                  <a:cubicBezTo>
                    <a:pt x="0" y="88138"/>
                    <a:pt x="88138" y="0"/>
                    <a:pt x="196723" y="0"/>
                  </a:cubicBezTo>
                  <a:lnTo>
                    <a:pt x="10964672" y="0"/>
                  </a:lnTo>
                  <a:cubicBezTo>
                    <a:pt x="11073384" y="0"/>
                    <a:pt x="11161395" y="88138"/>
                    <a:pt x="11161395" y="196723"/>
                  </a:cubicBezTo>
                  <a:lnTo>
                    <a:pt x="11161395" y="983614"/>
                  </a:lnTo>
                  <a:cubicBezTo>
                    <a:pt x="11161395" y="1092326"/>
                    <a:pt x="11073257" y="1180336"/>
                    <a:pt x="10964672" y="1180336"/>
                  </a:cubicBezTo>
                  <a:lnTo>
                    <a:pt x="196723" y="1180336"/>
                  </a:lnTo>
                  <a:cubicBezTo>
                    <a:pt x="88138" y="1180337"/>
                    <a:pt x="0" y="1092326"/>
                    <a:pt x="0" y="983614"/>
                  </a:cubicBezTo>
                  <a:close/>
                </a:path>
              </a:pathLst>
            </a:custGeom>
            <a:solidFill>
              <a:srgbClr val="E7F1EB"/>
            </a:solidFill>
            <a:ln w="19050" cap="sq">
              <a:solidFill>
                <a:srgbClr val="1E7145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11161395" cy="118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49"/>
                </a:lnSpc>
              </a:pPr>
              <a:r>
                <a:rPr lang="en-US" sz="2124">
                  <a:solidFill>
                    <a:srgbClr val="1E7145"/>
                  </a:solidFill>
                  <a:latin typeface="Arial"/>
                  <a:ea typeface="Arial"/>
                  <a:cs typeface="Arial"/>
                  <a:sym typeface="Arial"/>
                </a:rPr>
                <a:t>INT8 models on the tablet, lessons pre-translated at sync, spoken lesson lines matched on-device, live latency readout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40474" y="7416757"/>
            <a:ext cx="8371046" cy="885300"/>
            <a:chOff x="0" y="0"/>
            <a:chExt cx="11161395" cy="1180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161395" cy="1180336"/>
            </a:xfrm>
            <a:custGeom>
              <a:avLst/>
              <a:gdLst/>
              <a:ahLst/>
              <a:cxnLst/>
              <a:rect r="r" b="b" t="t" l="l"/>
              <a:pathLst>
                <a:path h="1180336" w="11161395">
                  <a:moveTo>
                    <a:pt x="0" y="196723"/>
                  </a:moveTo>
                  <a:cubicBezTo>
                    <a:pt x="0" y="88138"/>
                    <a:pt x="88138" y="0"/>
                    <a:pt x="196723" y="0"/>
                  </a:cubicBezTo>
                  <a:lnTo>
                    <a:pt x="10964672" y="0"/>
                  </a:lnTo>
                  <a:cubicBezTo>
                    <a:pt x="11073384" y="0"/>
                    <a:pt x="11161395" y="88138"/>
                    <a:pt x="11161395" y="196723"/>
                  </a:cubicBezTo>
                  <a:lnTo>
                    <a:pt x="11161395" y="983614"/>
                  </a:lnTo>
                  <a:cubicBezTo>
                    <a:pt x="11161395" y="1092326"/>
                    <a:pt x="11073257" y="1180336"/>
                    <a:pt x="10964672" y="1180336"/>
                  </a:cubicBezTo>
                  <a:lnTo>
                    <a:pt x="196723" y="1180336"/>
                  </a:lnTo>
                  <a:cubicBezTo>
                    <a:pt x="88138" y="1180337"/>
                    <a:pt x="0" y="1092326"/>
                    <a:pt x="0" y="983614"/>
                  </a:cubicBezTo>
                  <a:close/>
                </a:path>
              </a:pathLst>
            </a:custGeom>
            <a:solidFill>
              <a:srgbClr val="F7E8E6"/>
            </a:solidFill>
            <a:ln w="19050" cap="sq">
              <a:solidFill>
                <a:srgbClr val="A3322A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1161395" cy="118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49"/>
                </a:lnSpc>
              </a:pPr>
              <a:r>
                <a:rPr lang="en-US" sz="2124">
                  <a:solidFill>
                    <a:srgbClr val="A3322A"/>
                  </a:solidFill>
                  <a:latin typeface="Arial"/>
                  <a:ea typeface="Arial"/>
                  <a:cs typeface="Arial"/>
                  <a:sym typeface="Arial"/>
                </a:rPr>
                <a:t>Processing children's voice data raises data-privacy concerns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488472" y="7416757"/>
            <a:ext cx="8371046" cy="885300"/>
            <a:chOff x="0" y="0"/>
            <a:chExt cx="11161395" cy="1180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161395" cy="1180336"/>
            </a:xfrm>
            <a:custGeom>
              <a:avLst/>
              <a:gdLst/>
              <a:ahLst/>
              <a:cxnLst/>
              <a:rect r="r" b="b" t="t" l="l"/>
              <a:pathLst>
                <a:path h="1180336" w="11161395">
                  <a:moveTo>
                    <a:pt x="0" y="196723"/>
                  </a:moveTo>
                  <a:cubicBezTo>
                    <a:pt x="0" y="88138"/>
                    <a:pt x="88138" y="0"/>
                    <a:pt x="196723" y="0"/>
                  </a:cubicBezTo>
                  <a:lnTo>
                    <a:pt x="10964672" y="0"/>
                  </a:lnTo>
                  <a:cubicBezTo>
                    <a:pt x="11073384" y="0"/>
                    <a:pt x="11161395" y="88138"/>
                    <a:pt x="11161395" y="196723"/>
                  </a:cubicBezTo>
                  <a:lnTo>
                    <a:pt x="11161395" y="983614"/>
                  </a:lnTo>
                  <a:cubicBezTo>
                    <a:pt x="11161395" y="1092326"/>
                    <a:pt x="11073257" y="1180336"/>
                    <a:pt x="10964672" y="1180336"/>
                  </a:cubicBezTo>
                  <a:lnTo>
                    <a:pt x="196723" y="1180336"/>
                  </a:lnTo>
                  <a:cubicBezTo>
                    <a:pt x="88138" y="1180337"/>
                    <a:pt x="0" y="1092326"/>
                    <a:pt x="0" y="983614"/>
                  </a:cubicBezTo>
                  <a:close/>
                </a:path>
              </a:pathLst>
            </a:custGeom>
            <a:solidFill>
              <a:srgbClr val="E7F1EB"/>
            </a:solidFill>
            <a:ln w="19050" cap="sq">
              <a:solidFill>
                <a:srgbClr val="1E7145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11161395" cy="118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49"/>
                </a:lnSpc>
              </a:pPr>
              <a:r>
                <a:rPr lang="en-US" sz="2124">
                  <a:solidFill>
                    <a:srgbClr val="1E7145"/>
                  </a:solidFill>
                  <a:latin typeface="Arial"/>
                  <a:ea typeface="Arial"/>
                  <a:cs typeface="Arial"/>
                  <a:sym typeface="Arial"/>
                </a:rPr>
                <a:t>No cloud: speech stays on the tablet or school laptop; no child names in reports; reading-check audio deleted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40474" y="8373000"/>
            <a:ext cx="8371046" cy="885300"/>
            <a:chOff x="0" y="0"/>
            <a:chExt cx="11161395" cy="1180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161395" cy="1180336"/>
            </a:xfrm>
            <a:custGeom>
              <a:avLst/>
              <a:gdLst/>
              <a:ahLst/>
              <a:cxnLst/>
              <a:rect r="r" b="b" t="t" l="l"/>
              <a:pathLst>
                <a:path h="1180336" w="11161395">
                  <a:moveTo>
                    <a:pt x="0" y="196723"/>
                  </a:moveTo>
                  <a:cubicBezTo>
                    <a:pt x="0" y="88138"/>
                    <a:pt x="88138" y="0"/>
                    <a:pt x="196723" y="0"/>
                  </a:cubicBezTo>
                  <a:lnTo>
                    <a:pt x="10964672" y="0"/>
                  </a:lnTo>
                  <a:cubicBezTo>
                    <a:pt x="11073384" y="0"/>
                    <a:pt x="11161395" y="88138"/>
                    <a:pt x="11161395" y="196723"/>
                  </a:cubicBezTo>
                  <a:lnTo>
                    <a:pt x="11161395" y="983614"/>
                  </a:lnTo>
                  <a:cubicBezTo>
                    <a:pt x="11161395" y="1092326"/>
                    <a:pt x="11073257" y="1180336"/>
                    <a:pt x="10964672" y="1180336"/>
                  </a:cubicBezTo>
                  <a:lnTo>
                    <a:pt x="196723" y="1180336"/>
                  </a:lnTo>
                  <a:cubicBezTo>
                    <a:pt x="88138" y="1180337"/>
                    <a:pt x="0" y="1092326"/>
                    <a:pt x="0" y="983614"/>
                  </a:cubicBezTo>
                  <a:close/>
                </a:path>
              </a:pathLst>
            </a:custGeom>
            <a:solidFill>
              <a:srgbClr val="F7E8E6"/>
            </a:solidFill>
            <a:ln w="19050" cap="sq">
              <a:solidFill>
                <a:srgbClr val="A3322A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11161395" cy="118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49"/>
                </a:lnSpc>
              </a:pPr>
              <a:r>
                <a:rPr lang="en-US" sz="2124">
                  <a:solidFill>
                    <a:srgbClr val="A3322A"/>
                  </a:solidFill>
                  <a:latin typeface="Arial"/>
                  <a:ea typeface="Arial"/>
                  <a:cs typeface="Arial"/>
                  <a:sym typeface="Arial"/>
                </a:rPr>
                <a:t>Teachers with low digital literacy may resist adoption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488472" y="8373000"/>
            <a:ext cx="8371046" cy="885300"/>
            <a:chOff x="0" y="0"/>
            <a:chExt cx="11161395" cy="1180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161395" cy="1180336"/>
            </a:xfrm>
            <a:custGeom>
              <a:avLst/>
              <a:gdLst/>
              <a:ahLst/>
              <a:cxnLst/>
              <a:rect r="r" b="b" t="t" l="l"/>
              <a:pathLst>
                <a:path h="1180336" w="11161395">
                  <a:moveTo>
                    <a:pt x="0" y="196723"/>
                  </a:moveTo>
                  <a:cubicBezTo>
                    <a:pt x="0" y="88138"/>
                    <a:pt x="88138" y="0"/>
                    <a:pt x="196723" y="0"/>
                  </a:cubicBezTo>
                  <a:lnTo>
                    <a:pt x="10964672" y="0"/>
                  </a:lnTo>
                  <a:cubicBezTo>
                    <a:pt x="11073384" y="0"/>
                    <a:pt x="11161395" y="88138"/>
                    <a:pt x="11161395" y="196723"/>
                  </a:cubicBezTo>
                  <a:lnTo>
                    <a:pt x="11161395" y="983614"/>
                  </a:lnTo>
                  <a:cubicBezTo>
                    <a:pt x="11161395" y="1092326"/>
                    <a:pt x="11073257" y="1180336"/>
                    <a:pt x="10964672" y="1180336"/>
                  </a:cubicBezTo>
                  <a:lnTo>
                    <a:pt x="196723" y="1180336"/>
                  </a:lnTo>
                  <a:cubicBezTo>
                    <a:pt x="88138" y="1180337"/>
                    <a:pt x="0" y="1092326"/>
                    <a:pt x="0" y="983614"/>
                  </a:cubicBezTo>
                  <a:close/>
                </a:path>
              </a:pathLst>
            </a:custGeom>
            <a:solidFill>
              <a:srgbClr val="E7F1EB"/>
            </a:solidFill>
            <a:ln w="19050" cap="sq">
              <a:solidFill>
                <a:srgbClr val="1E7145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11161395" cy="118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49"/>
                </a:lnSpc>
              </a:pPr>
              <a:r>
                <a:rPr lang="en-US" sz="2124">
                  <a:solidFill>
                    <a:srgbClr val="1E7145"/>
                  </a:solidFill>
                  <a:latin typeface="Arial"/>
                  <a:ea typeface="Arial"/>
                  <a:cs typeface="Arial"/>
                  <a:sym typeface="Arial"/>
                </a:rPr>
                <a:t>Hindi, Santali and English interface, 18 pre-loaded NIPUN lessons — teachers start teaching, not configuring</a:t>
              </a:r>
            </a:p>
          </p:txBody>
        </p:sp>
      </p:grpSp>
      <p:sp>
        <p:nvSpPr>
          <p:cNvPr id="96" name="Measured header"/>
          <p:cNvSpPr/>
          <p:nvPr/>
        </p:nvSpPr>
        <p:spPr>
          <a:xfrm>
            <a:off x="11631168" y="2029968"/>
            <a:ext cx="6172200" cy="420624"/>
          </a:xfrm>
          <a:prstGeom prst="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14324D"/>
                </a:solidFill>
                <a:latin typeface="Arial"/>
                <a:cs typeface="Arial"/>
              </a:rPr>
              <a:t xml:space="preserve">Offline · </a:t>
            </a:r>
            <a:r>
              <a:rPr lang="en-US" sz="1300" b="1">
                <a:solidFill>
                  <a:srgbClr val="B45309"/>
                </a:solidFill>
                <a:latin typeface="Arial"/>
                <a:cs typeface="Arial"/>
              </a:rPr>
              <a:t xml:space="preserve">Realme Pad Mini (4 GB)</a:t>
            </a:r>
            <a:r>
              <a:rPr lang="en-US" sz="1300" b="1">
                <a:solidFill>
                  <a:srgbClr val="14324D"/>
                </a:solidFill>
                <a:latin typeface="Arial"/>
                <a:cs typeface="Arial"/>
              </a:rPr>
              <a:t xml:space="preserve"> · 2 GB emulator</a:t>
            </a:r>
            <a:r>
              <a:rPr lang="en-US" sz="1300" b="1">
                <a:solidFill>
                  <a:srgbClr val="14324D"/>
                </a:solidFill>
                <a:latin typeface="Arial"/>
                <a:cs typeface="Arial"/>
              </a:rPr>
              <a:t xml:space="preserve"> · laptop hub</a:t>
            </a:r>
          </a:p>
        </p:txBody>
      </p:sp>
      <p:sp>
        <p:nvSpPr>
          <p:cNvPr id="97" name="Measured tile 1"/>
          <p:cNvSpPr/>
          <p:nvPr/>
        </p:nvSpPr>
        <p:spPr>
          <a:xfrm>
            <a:off x="11631168" y="2542032"/>
            <a:ext cx="2994660" cy="1147572"/>
          </a:xfrm>
          <a:prstGeom prst="roundRect">
            <a:avLst>
              <a:gd name="adj" fmla="val 14000"/>
            </a:avLst>
          </a:prstGeom>
          <a:solidFill>
            <a:srgbClr val="14324D"/>
          </a:solidFill>
          <a:ln>
            <a:no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buNone/>
            </a:pPr>
            <a:r>
              <a:rPr lang="en-US" sz="2600" b="1">
                <a:solidFill>
                  <a:srgbClr val="FFD28A"/>
                </a:solidFill>
                <a:latin typeface="Arial"/>
                <a:cs typeface="Arial"/>
              </a:rPr>
              <a:t>0.70 s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1250">
                <a:solidFill>
                  <a:srgbClr val="FFFFFF"/>
                </a:solidFill>
                <a:latin typeface="Arial"/>
                <a:cs typeface="Arial"/>
              </a:rPr>
              <a:t>lesson lines on the tablet, median (p90 1.20 s); 2 GB emulator 0.50 s</a:t>
            </a:r>
          </a:p>
        </p:txBody>
      </p:sp>
      <p:sp>
        <p:nvSpPr>
          <p:cNvPr id="98" name="Measured tile 2"/>
          <p:cNvSpPr/>
          <p:nvPr/>
        </p:nvSpPr>
        <p:spPr>
          <a:xfrm>
            <a:off x="14808708" y="2542032"/>
            <a:ext cx="2994660" cy="1147572"/>
          </a:xfrm>
          <a:prstGeom prst="roundRect">
            <a:avLst>
              <a:gd name="adj" fmla="val 14000"/>
            </a:avLst>
          </a:prstGeom>
          <a:solidFill>
            <a:srgbClr val="14324D"/>
          </a:solidFill>
          <a:ln>
            <a:no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buNone/>
            </a:pPr>
            <a:r>
              <a:rPr lang="en-US" sz="2600" b="1">
                <a:solidFill>
                  <a:srgbClr val="FFD28A"/>
                </a:solidFill>
                <a:latin typeface="Arial"/>
                <a:cs typeface="Arial"/>
              </a:rPr>
              <a:t>2.85 s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1250">
                <a:solidFill>
                  <a:srgbClr val="FFFFFF"/>
                </a:solidFill>
                <a:latin typeface="Arial"/>
                <a:cs typeface="Arial"/>
              </a:rPr>
              <a:t>p90 hub, Hindi speech ≤ 17 words; Santali → Hindi p90 2.58 s</a:t>
            </a:r>
          </a:p>
        </p:txBody>
      </p:sp>
      <p:sp>
        <p:nvSpPr>
          <p:cNvPr id="99" name="Measured tile 3"/>
          <p:cNvSpPr/>
          <p:nvPr/>
        </p:nvSpPr>
        <p:spPr>
          <a:xfrm>
            <a:off x="11631168" y="3826764"/>
            <a:ext cx="2994660" cy="1147572"/>
          </a:xfrm>
          <a:prstGeom prst="roundRect">
            <a:avLst>
              <a:gd name="adj" fmla="val 14000"/>
            </a:avLst>
          </a:prstGeom>
          <a:solidFill>
            <a:srgbClr val="14324D"/>
          </a:solidFill>
          <a:ln>
            <a:no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buNone/>
            </a:pPr>
            <a:r>
              <a:rPr lang="en-US" sz="2600" b="1">
                <a:solidFill>
                  <a:srgbClr val="FFD28A"/>
                </a:solidFill>
                <a:latin typeface="Arial"/>
                <a:cs typeface="Arial"/>
              </a:rPr>
              <a:t>32.2 chrF++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1250">
                <a:solidFill>
                  <a:srgbClr val="FFFFFF"/>
                </a:solidFill>
                <a:latin typeface="Arial"/>
                <a:cs typeface="Arial"/>
              </a:rPr>
              <a:t>Hindi→Santali, IN22-Conv public test set (n = 1,503)</a:t>
            </a:r>
          </a:p>
        </p:txBody>
      </p:sp>
      <p:sp>
        <p:nvSpPr>
          <p:cNvPr id="100" name="Measured tile 4"/>
          <p:cNvSpPr/>
          <p:nvPr/>
        </p:nvSpPr>
        <p:spPr>
          <a:xfrm>
            <a:off x="14808708" y="3826764"/>
            <a:ext cx="2994660" cy="1147572"/>
          </a:xfrm>
          <a:prstGeom prst="roundRect">
            <a:avLst>
              <a:gd name="adj" fmla="val 14000"/>
            </a:avLst>
          </a:prstGeom>
          <a:solidFill>
            <a:srgbClr val="14324D"/>
          </a:solidFill>
          <a:ln>
            <a:no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buNone/>
            </a:pPr>
            <a:r>
              <a:rPr lang="en-US" sz="2600" b="1">
                <a:solidFill>
                  <a:srgbClr val="FFD28A"/>
                </a:solidFill>
                <a:latin typeface="Arial"/>
                <a:cs typeface="Arial"/>
              </a:rPr>
              <a:t>24 / 24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1250">
                <a:solidFill>
                  <a:srgbClr val="FFFFFF"/>
                </a:solidFill>
                <a:latin typeface="Arial"/>
                <a:cs typeface="Arial"/>
              </a:rPr>
              <a:t>app checks in airplane mode, on the Realme and the 2 GB emulator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789319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791700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791700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8-bitPool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69764" y="7929556"/>
            <a:ext cx="16810468" cy="1445448"/>
            <a:chOff x="0" y="0"/>
            <a:chExt cx="22413957" cy="1927264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5342264" cy="656911"/>
              <a:chOff x="0" y="0"/>
              <a:chExt cx="5529999" cy="679996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5529961" cy="679958"/>
              </a:xfrm>
              <a:custGeom>
                <a:avLst/>
                <a:gdLst/>
                <a:ahLst/>
                <a:cxnLst/>
                <a:rect r="r" b="b" t="t" l="l"/>
                <a:pathLst>
                  <a:path h="679958" w="5529961">
                    <a:moveTo>
                      <a:pt x="0" y="113284"/>
                    </a:moveTo>
                    <a:cubicBezTo>
                      <a:pt x="0" y="50800"/>
                      <a:pt x="50800" y="0"/>
                      <a:pt x="113284" y="0"/>
                    </a:cubicBezTo>
                    <a:lnTo>
                      <a:pt x="5416677" y="0"/>
                    </a:lnTo>
                    <a:cubicBezTo>
                      <a:pt x="5479288" y="0"/>
                      <a:pt x="5529961" y="50800"/>
                      <a:pt x="5529961" y="113284"/>
                    </a:cubicBezTo>
                    <a:lnTo>
                      <a:pt x="5529961" y="566674"/>
                    </a:lnTo>
                    <a:cubicBezTo>
                      <a:pt x="5529961" y="629285"/>
                      <a:pt x="5479161" y="679958"/>
                      <a:pt x="5416677" y="679958"/>
                    </a:cubicBezTo>
                    <a:lnTo>
                      <a:pt x="113284" y="679958"/>
                    </a:lnTo>
                    <a:cubicBezTo>
                      <a:pt x="50800" y="679958"/>
                      <a:pt x="0" y="629285"/>
                      <a:pt x="0" y="566674"/>
                    </a:cubicBezTo>
                    <a:close/>
                  </a:path>
                </a:pathLst>
              </a:custGeom>
              <a:solidFill>
                <a:srgbClr val="14324D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9525"/>
                <a:ext cx="5529999" cy="6895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69"/>
                  </a:lnSpc>
                </a:pPr>
                <a:r>
                  <a:rPr lang="en-US" sz="1974" b="tru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SOCIAL</a:t>
                </a: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558720"/>
              <a:ext cx="5342264" cy="1368544"/>
              <a:chOff x="0" y="0"/>
              <a:chExt cx="5529999" cy="141663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5529961" cy="1416662"/>
              </a:xfrm>
              <a:custGeom>
                <a:avLst/>
                <a:gdLst/>
                <a:ahLst/>
                <a:cxnLst/>
                <a:rect r="r" b="b" t="t" l="l"/>
                <a:pathLst>
                  <a:path h="1416662" w="5529961">
                    <a:moveTo>
                      <a:pt x="0" y="236119"/>
                    </a:moveTo>
                    <a:cubicBezTo>
                      <a:pt x="0" y="105715"/>
                      <a:pt x="204470" y="0"/>
                      <a:pt x="456692" y="0"/>
                    </a:cubicBezTo>
                    <a:lnTo>
                      <a:pt x="5073269" y="0"/>
                    </a:lnTo>
                    <a:cubicBezTo>
                      <a:pt x="5325491" y="0"/>
                      <a:pt x="5529961" y="105715"/>
                      <a:pt x="5529961" y="236119"/>
                    </a:cubicBezTo>
                    <a:lnTo>
                      <a:pt x="5529961" y="1180530"/>
                    </a:lnTo>
                    <a:cubicBezTo>
                      <a:pt x="5529961" y="1310934"/>
                      <a:pt x="5325491" y="1416662"/>
                      <a:pt x="5073269" y="1416662"/>
                    </a:cubicBezTo>
                    <a:lnTo>
                      <a:pt x="456692" y="1416662"/>
                    </a:lnTo>
                    <a:cubicBezTo>
                      <a:pt x="204470" y="1416662"/>
                      <a:pt x="0" y="1310934"/>
                      <a:pt x="0" y="1180530"/>
                    </a:cubicBezTo>
                    <a:close/>
                  </a:path>
                </a:pathLst>
              </a:custGeom>
              <a:solidFill>
                <a:srgbClr val="F2F3F5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19050"/>
                <a:ext cx="5529999" cy="1435687"/>
              </a:xfrm>
              <a:prstGeom prst="rect">
                <a:avLst/>
              </a:prstGeom>
            </p:spPr>
            <p:txBody>
              <a:bodyPr anchor="t" rtlCol="false" tIns="50800" lIns="50800" bIns="50800" rIns="50800"/>
              <a:lstStyle/>
              <a:p>
                <a:pPr algn="l">
                  <a:lnSpc>
                    <a:spcPts val="2189"/>
                  </a:lnSpc>
                </a:pPr>
                <a:r>
                  <a:rPr lang="en-US" sz="1824">
                    <a:solidFill>
                      <a:srgbClr val="222222"/>
                    </a:solidFill>
                    <a:latin typeface="Arial"/>
                    <a:ea typeface="Arial"/>
                    <a:cs typeface="Arial"/>
                    <a:sym typeface="Arial"/>
                  </a:rPr>
                  <a:t>Hindi-medium teachers can teach in the child's mother tongue — aims to lift comprehension before Grade 3</a:t>
                </a: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5749564" y="0"/>
              <a:ext cx="5342264" cy="656911"/>
              <a:chOff x="0" y="0"/>
              <a:chExt cx="5529999" cy="679996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5529961" cy="679958"/>
              </a:xfrm>
              <a:custGeom>
                <a:avLst/>
                <a:gdLst/>
                <a:ahLst/>
                <a:cxnLst/>
                <a:rect r="r" b="b" t="t" l="l"/>
                <a:pathLst>
                  <a:path h="679958" w="5529961">
                    <a:moveTo>
                      <a:pt x="0" y="113284"/>
                    </a:moveTo>
                    <a:cubicBezTo>
                      <a:pt x="0" y="50800"/>
                      <a:pt x="50800" y="0"/>
                      <a:pt x="113284" y="0"/>
                    </a:cubicBezTo>
                    <a:lnTo>
                      <a:pt x="5416677" y="0"/>
                    </a:lnTo>
                    <a:cubicBezTo>
                      <a:pt x="5479288" y="0"/>
                      <a:pt x="5529961" y="50800"/>
                      <a:pt x="5529961" y="113284"/>
                    </a:cubicBezTo>
                    <a:lnTo>
                      <a:pt x="5529961" y="566674"/>
                    </a:lnTo>
                    <a:cubicBezTo>
                      <a:pt x="5529961" y="629285"/>
                      <a:pt x="5479161" y="679958"/>
                      <a:pt x="5416677" y="679958"/>
                    </a:cubicBezTo>
                    <a:lnTo>
                      <a:pt x="113284" y="679958"/>
                    </a:lnTo>
                    <a:cubicBezTo>
                      <a:pt x="50800" y="679958"/>
                      <a:pt x="0" y="629285"/>
                      <a:pt x="0" y="566674"/>
                    </a:cubicBezTo>
                    <a:close/>
                  </a:path>
                </a:pathLst>
              </a:custGeom>
              <a:solidFill>
                <a:srgbClr val="E06B0A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9525"/>
                <a:ext cx="5529999" cy="6895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69"/>
                  </a:lnSpc>
                </a:pPr>
                <a:r>
                  <a:rPr lang="en-US" sz="1974" b="tru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ECONOMIC</a:t>
                </a: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5690050" y="581247"/>
              <a:ext cx="5342264" cy="1340042"/>
              <a:chOff x="0" y="0"/>
              <a:chExt cx="5529999" cy="1387132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5529961" cy="1387158"/>
              </a:xfrm>
              <a:custGeom>
                <a:avLst/>
                <a:gdLst/>
                <a:ahLst/>
                <a:cxnLst/>
                <a:rect r="r" b="b" t="t" l="l"/>
                <a:pathLst>
                  <a:path h="1387158" w="5529961">
                    <a:moveTo>
                      <a:pt x="0" y="231202"/>
                    </a:moveTo>
                    <a:cubicBezTo>
                      <a:pt x="0" y="103514"/>
                      <a:pt x="204470" y="0"/>
                      <a:pt x="456692" y="0"/>
                    </a:cubicBezTo>
                    <a:lnTo>
                      <a:pt x="5073269" y="0"/>
                    </a:lnTo>
                    <a:cubicBezTo>
                      <a:pt x="5325491" y="0"/>
                      <a:pt x="5529961" y="103514"/>
                      <a:pt x="5529961" y="231202"/>
                    </a:cubicBezTo>
                    <a:lnTo>
                      <a:pt x="5529961" y="1155944"/>
                    </a:lnTo>
                    <a:cubicBezTo>
                      <a:pt x="5529961" y="1283632"/>
                      <a:pt x="5325491" y="1387158"/>
                      <a:pt x="5073269" y="1387158"/>
                    </a:cubicBezTo>
                    <a:lnTo>
                      <a:pt x="456692" y="1387158"/>
                    </a:lnTo>
                    <a:cubicBezTo>
                      <a:pt x="204470" y="1387158"/>
                      <a:pt x="0" y="1283632"/>
                      <a:pt x="0" y="1155944"/>
                    </a:cubicBezTo>
                    <a:close/>
                  </a:path>
                </a:pathLst>
              </a:custGeom>
              <a:solidFill>
                <a:srgbClr val="F2F3F5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19050"/>
                <a:ext cx="5529999" cy="1406182"/>
              </a:xfrm>
              <a:prstGeom prst="rect">
                <a:avLst/>
              </a:prstGeom>
            </p:spPr>
            <p:txBody>
              <a:bodyPr anchor="t" rtlCol="false" tIns="50800" lIns="50800" bIns="50800" rIns="50800"/>
              <a:lstStyle/>
              <a:p>
                <a:pPr algn="l">
                  <a:lnSpc>
                    <a:spcPts val="2189"/>
                  </a:lnSpc>
                </a:pPr>
                <a:r>
                  <a:rPr lang="en-US" sz="1824">
                    <a:solidFill>
                      <a:srgbClr val="222222"/>
                    </a:solidFill>
                    <a:latin typeface="Arial"/>
                    <a:ea typeface="Arial"/>
                    <a:cs typeface="Arial"/>
                    <a:sym typeface="Arial"/>
                  </a:rPr>
                  <a:t>No licence fees or per-query cloud billing — IndicConformer and IndicTrans2 are MIT-licensed</a:t>
                </a: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11381643" y="0"/>
              <a:ext cx="5342264" cy="656911"/>
              <a:chOff x="0" y="0"/>
              <a:chExt cx="5529999" cy="679996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5529961" cy="679958"/>
              </a:xfrm>
              <a:custGeom>
                <a:avLst/>
                <a:gdLst/>
                <a:ahLst/>
                <a:cxnLst/>
                <a:rect r="r" b="b" t="t" l="l"/>
                <a:pathLst>
                  <a:path h="679958" w="5529961">
                    <a:moveTo>
                      <a:pt x="0" y="113284"/>
                    </a:moveTo>
                    <a:cubicBezTo>
                      <a:pt x="0" y="50800"/>
                      <a:pt x="50800" y="0"/>
                      <a:pt x="113284" y="0"/>
                    </a:cubicBezTo>
                    <a:lnTo>
                      <a:pt x="5416677" y="0"/>
                    </a:lnTo>
                    <a:cubicBezTo>
                      <a:pt x="5479288" y="0"/>
                      <a:pt x="5529961" y="50800"/>
                      <a:pt x="5529961" y="113284"/>
                    </a:cubicBezTo>
                    <a:lnTo>
                      <a:pt x="5529961" y="566674"/>
                    </a:lnTo>
                    <a:cubicBezTo>
                      <a:pt x="5529961" y="629285"/>
                      <a:pt x="5479161" y="679958"/>
                      <a:pt x="5416677" y="679958"/>
                    </a:cubicBezTo>
                    <a:lnTo>
                      <a:pt x="113284" y="679958"/>
                    </a:lnTo>
                    <a:cubicBezTo>
                      <a:pt x="50800" y="679958"/>
                      <a:pt x="0" y="629285"/>
                      <a:pt x="0" y="566674"/>
                    </a:cubicBezTo>
                    <a:close/>
                  </a:path>
                </a:pathLst>
              </a:custGeom>
              <a:solidFill>
                <a:srgbClr val="1F6FB2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9525"/>
                <a:ext cx="5529999" cy="6895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69"/>
                  </a:lnSpc>
                </a:pPr>
                <a:r>
                  <a:rPr lang="en-US" sz="1974" b="tru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OPERATIONAL</a:t>
                </a: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17071693" y="0"/>
              <a:ext cx="5342264" cy="656911"/>
              <a:chOff x="0" y="0"/>
              <a:chExt cx="5529999" cy="679996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5529961" cy="679958"/>
              </a:xfrm>
              <a:custGeom>
                <a:avLst/>
                <a:gdLst/>
                <a:ahLst/>
                <a:cxnLst/>
                <a:rect r="r" b="b" t="t" l="l"/>
                <a:pathLst>
                  <a:path h="679958" w="5529961">
                    <a:moveTo>
                      <a:pt x="0" y="113284"/>
                    </a:moveTo>
                    <a:cubicBezTo>
                      <a:pt x="0" y="50800"/>
                      <a:pt x="50800" y="0"/>
                      <a:pt x="113284" y="0"/>
                    </a:cubicBezTo>
                    <a:lnTo>
                      <a:pt x="5416677" y="0"/>
                    </a:lnTo>
                    <a:cubicBezTo>
                      <a:pt x="5479288" y="0"/>
                      <a:pt x="5529961" y="50800"/>
                      <a:pt x="5529961" y="113284"/>
                    </a:cubicBezTo>
                    <a:lnTo>
                      <a:pt x="5529961" y="566674"/>
                    </a:lnTo>
                    <a:cubicBezTo>
                      <a:pt x="5529961" y="629285"/>
                      <a:pt x="5479161" y="679958"/>
                      <a:pt x="5416677" y="679958"/>
                    </a:cubicBezTo>
                    <a:lnTo>
                      <a:pt x="113284" y="679958"/>
                    </a:lnTo>
                    <a:cubicBezTo>
                      <a:pt x="50800" y="679958"/>
                      <a:pt x="0" y="629285"/>
                      <a:pt x="0" y="566674"/>
                    </a:cubicBezTo>
                    <a:close/>
                  </a:path>
                </a:pathLst>
              </a:custGeom>
              <a:solidFill>
                <a:srgbClr val="1E7145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9525"/>
                <a:ext cx="5529999" cy="6895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69"/>
                  </a:lnSpc>
                </a:pPr>
                <a:r>
                  <a:rPr lang="en-US" sz="1974" b="tru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POLICY</a:t>
                </a: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11381643" y="558720"/>
              <a:ext cx="5342264" cy="1340042"/>
              <a:chOff x="0" y="0"/>
              <a:chExt cx="5529999" cy="1387132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5529961" cy="1387158"/>
              </a:xfrm>
              <a:custGeom>
                <a:avLst/>
                <a:gdLst/>
                <a:ahLst/>
                <a:cxnLst/>
                <a:rect r="r" b="b" t="t" l="l"/>
                <a:pathLst>
                  <a:path h="1387158" w="5529961">
                    <a:moveTo>
                      <a:pt x="0" y="231202"/>
                    </a:moveTo>
                    <a:cubicBezTo>
                      <a:pt x="0" y="103514"/>
                      <a:pt x="204470" y="0"/>
                      <a:pt x="456692" y="0"/>
                    </a:cubicBezTo>
                    <a:lnTo>
                      <a:pt x="5073269" y="0"/>
                    </a:lnTo>
                    <a:cubicBezTo>
                      <a:pt x="5325491" y="0"/>
                      <a:pt x="5529961" y="103514"/>
                      <a:pt x="5529961" y="231202"/>
                    </a:cubicBezTo>
                    <a:lnTo>
                      <a:pt x="5529961" y="1155944"/>
                    </a:lnTo>
                    <a:cubicBezTo>
                      <a:pt x="5529961" y="1283632"/>
                      <a:pt x="5325491" y="1387158"/>
                      <a:pt x="5073269" y="1387158"/>
                    </a:cubicBezTo>
                    <a:lnTo>
                      <a:pt x="456692" y="1387158"/>
                    </a:lnTo>
                    <a:cubicBezTo>
                      <a:pt x="204470" y="1387158"/>
                      <a:pt x="0" y="1283632"/>
                      <a:pt x="0" y="1155944"/>
                    </a:cubicBezTo>
                    <a:close/>
                  </a:path>
                </a:pathLst>
              </a:custGeom>
              <a:solidFill>
                <a:srgbClr val="F2F3F5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19050"/>
                <a:ext cx="5529999" cy="1406182"/>
              </a:xfrm>
              <a:prstGeom prst="rect">
                <a:avLst/>
              </a:prstGeom>
            </p:spPr>
            <p:txBody>
              <a:bodyPr anchor="t" rtlCol="false" tIns="50800" lIns="50800" bIns="50800" rIns="50800"/>
              <a:lstStyle/>
              <a:p>
                <a:pPr algn="l">
                  <a:lnSpc>
                    <a:spcPts val="2189"/>
                  </a:lnSpc>
                </a:pPr>
                <a:r>
                  <a:rPr lang="en-US" sz="1824">
                    <a:solidFill>
                      <a:srgbClr val="222222"/>
                    </a:solidFill>
                    <a:latin typeface="Arial"/>
                    <a:ea typeface="Arial"/>
                    <a:cs typeface="Arial"/>
                    <a:sym typeface="Arial"/>
                  </a:rPr>
                  <a:t>Offline on low-cost Android 9+ tablets, no new hiring; teacher corrections sync between tablets as signed files</a:t>
                </a: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17071693" y="558720"/>
              <a:ext cx="5342264" cy="1340042"/>
              <a:chOff x="0" y="0"/>
              <a:chExt cx="5529999" cy="1387132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5529961" cy="1387158"/>
              </a:xfrm>
              <a:custGeom>
                <a:avLst/>
                <a:gdLst/>
                <a:ahLst/>
                <a:cxnLst/>
                <a:rect r="r" b="b" t="t" l="l"/>
                <a:pathLst>
                  <a:path h="1387158" w="5529961">
                    <a:moveTo>
                      <a:pt x="0" y="231202"/>
                    </a:moveTo>
                    <a:cubicBezTo>
                      <a:pt x="0" y="103514"/>
                      <a:pt x="204470" y="0"/>
                      <a:pt x="456692" y="0"/>
                    </a:cubicBezTo>
                    <a:lnTo>
                      <a:pt x="5073269" y="0"/>
                    </a:lnTo>
                    <a:cubicBezTo>
                      <a:pt x="5325491" y="0"/>
                      <a:pt x="5529961" y="103514"/>
                      <a:pt x="5529961" y="231202"/>
                    </a:cubicBezTo>
                    <a:lnTo>
                      <a:pt x="5529961" y="1155944"/>
                    </a:lnTo>
                    <a:cubicBezTo>
                      <a:pt x="5529961" y="1283632"/>
                      <a:pt x="5325491" y="1387158"/>
                      <a:pt x="5073269" y="1387158"/>
                    </a:cubicBezTo>
                    <a:lnTo>
                      <a:pt x="456692" y="1387158"/>
                    </a:lnTo>
                    <a:cubicBezTo>
                      <a:pt x="204470" y="1387158"/>
                      <a:pt x="0" y="1283632"/>
                      <a:pt x="0" y="1155944"/>
                    </a:cubicBezTo>
                    <a:close/>
                  </a:path>
                </a:pathLst>
              </a:custGeom>
              <a:solidFill>
                <a:srgbClr val="F2F3F5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19050"/>
                <a:ext cx="5529999" cy="1406182"/>
              </a:xfrm>
              <a:prstGeom prst="rect">
                <a:avLst/>
              </a:prstGeom>
            </p:spPr>
            <p:txBody>
              <a:bodyPr anchor="t" rtlCol="false" tIns="50800" lIns="50800" bIns="50800" rIns="50800"/>
              <a:lstStyle/>
              <a:p>
                <a:pPr algn="l">
                  <a:lnSpc>
                    <a:spcPts val="2189"/>
                  </a:lnSpc>
                </a:pPr>
                <a:r>
                  <a:rPr lang="en-US" sz="1824">
                    <a:solidFill>
                      <a:srgbClr val="222222"/>
                    </a:solidFill>
                    <a:latin typeface="Arial"/>
                    <a:ea typeface="Arial"/>
                    <a:cs typeface="Arial"/>
                    <a:sym typeface="Arial"/>
                  </a:rPr>
                  <a:t>Supports NEP 2020 §4.11 (mother tongue), NIPUN Bharat FLN goals and SDG 4 (Quality Education)</a:t>
                </a: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0">
            <a:off x="869764" y="5994704"/>
            <a:ext cx="4006698" cy="1449077"/>
            <a:chOff x="0" y="0"/>
            <a:chExt cx="5529999" cy="2000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530088" cy="2000000"/>
            </a:xfrm>
            <a:custGeom>
              <a:avLst/>
              <a:gdLst/>
              <a:ahLst/>
              <a:cxnLst/>
              <a:rect r="r" b="b" t="t" l="l"/>
              <a:pathLst>
                <a:path h="2000000" w="5530088">
                  <a:moveTo>
                    <a:pt x="0" y="333376"/>
                  </a:moveTo>
                  <a:cubicBezTo>
                    <a:pt x="0" y="149225"/>
                    <a:pt x="149225" y="0"/>
                    <a:pt x="333375" y="0"/>
                  </a:cubicBezTo>
                  <a:lnTo>
                    <a:pt x="5196713" y="0"/>
                  </a:lnTo>
                  <a:cubicBezTo>
                    <a:pt x="5380863" y="0"/>
                    <a:pt x="5530088" y="149225"/>
                    <a:pt x="5530088" y="333376"/>
                  </a:cubicBezTo>
                  <a:lnTo>
                    <a:pt x="5530088" y="1666624"/>
                  </a:lnTo>
                  <a:cubicBezTo>
                    <a:pt x="5530088" y="1850775"/>
                    <a:pt x="5380863" y="2000000"/>
                    <a:pt x="5196713" y="2000000"/>
                  </a:cubicBezTo>
                  <a:lnTo>
                    <a:pt x="333375" y="2000000"/>
                  </a:lnTo>
                  <a:cubicBezTo>
                    <a:pt x="149225" y="2000000"/>
                    <a:pt x="0" y="1850775"/>
                    <a:pt x="0" y="1666624"/>
                  </a:cubicBezTo>
                  <a:close/>
                </a:path>
              </a:pathLst>
            </a:custGeom>
            <a:solidFill>
              <a:srgbClr val="14324D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5529999" cy="2019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1,041</a:t>
              </a:r>
            </a:p>
            <a:p>
              <a:pPr algn="ctr">
                <a:lnSpc>
                  <a:spcPts val="2099"/>
                </a:lnSpc>
              </a:pPr>
              <a:r>
                <a:rPr lang="en-US" sz="174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PALASH schools (JEPC, Jan 2026) — first deployment target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224243" y="5994704"/>
            <a:ext cx="4006698" cy="1449077"/>
            <a:chOff x="0" y="0"/>
            <a:chExt cx="5529999" cy="20000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530088" cy="2000000"/>
            </a:xfrm>
            <a:custGeom>
              <a:avLst/>
              <a:gdLst/>
              <a:ahLst/>
              <a:cxnLst/>
              <a:rect r="r" b="b" t="t" l="l"/>
              <a:pathLst>
                <a:path h="2000000" w="5530088">
                  <a:moveTo>
                    <a:pt x="0" y="333376"/>
                  </a:moveTo>
                  <a:cubicBezTo>
                    <a:pt x="0" y="149225"/>
                    <a:pt x="149225" y="0"/>
                    <a:pt x="333375" y="0"/>
                  </a:cubicBezTo>
                  <a:lnTo>
                    <a:pt x="5196713" y="0"/>
                  </a:lnTo>
                  <a:cubicBezTo>
                    <a:pt x="5380863" y="0"/>
                    <a:pt x="5530088" y="149225"/>
                    <a:pt x="5530088" y="333376"/>
                  </a:cubicBezTo>
                  <a:lnTo>
                    <a:pt x="5530088" y="1666624"/>
                  </a:lnTo>
                  <a:cubicBezTo>
                    <a:pt x="5530088" y="1850775"/>
                    <a:pt x="5380863" y="2000000"/>
                    <a:pt x="5196713" y="2000000"/>
                  </a:cubicBezTo>
                  <a:lnTo>
                    <a:pt x="333375" y="2000000"/>
                  </a:lnTo>
                  <a:cubicBezTo>
                    <a:pt x="149225" y="2000000"/>
                    <a:pt x="0" y="1850775"/>
                    <a:pt x="0" y="1666624"/>
                  </a:cubicBezTo>
                  <a:close/>
                </a:path>
              </a:pathLst>
            </a:custGeom>
            <a:solidFill>
              <a:srgbClr val="E06B0A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5529999" cy="2019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 of 24</a:t>
              </a:r>
            </a:p>
            <a:p>
              <a:pPr algn="ctr">
                <a:lnSpc>
                  <a:spcPts val="2099"/>
                </a:lnSpc>
              </a:pPr>
              <a:r>
                <a:rPr lang="en-US" sz="174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PALASH districts today → path to all 24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550084" y="5994704"/>
            <a:ext cx="4006698" cy="1449077"/>
            <a:chOff x="0" y="0"/>
            <a:chExt cx="5529999" cy="20000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530088" cy="2000000"/>
            </a:xfrm>
            <a:custGeom>
              <a:avLst/>
              <a:gdLst/>
              <a:ahLst/>
              <a:cxnLst/>
              <a:rect r="r" b="b" t="t" l="l"/>
              <a:pathLst>
                <a:path h="2000000" w="5530088">
                  <a:moveTo>
                    <a:pt x="0" y="333376"/>
                  </a:moveTo>
                  <a:cubicBezTo>
                    <a:pt x="0" y="149225"/>
                    <a:pt x="149225" y="0"/>
                    <a:pt x="333375" y="0"/>
                  </a:cubicBezTo>
                  <a:lnTo>
                    <a:pt x="5196713" y="0"/>
                  </a:lnTo>
                  <a:cubicBezTo>
                    <a:pt x="5380863" y="0"/>
                    <a:pt x="5530088" y="149225"/>
                    <a:pt x="5530088" y="333376"/>
                  </a:cubicBezTo>
                  <a:lnTo>
                    <a:pt x="5530088" y="1666624"/>
                  </a:lnTo>
                  <a:cubicBezTo>
                    <a:pt x="5530088" y="1850775"/>
                    <a:pt x="5380863" y="2000000"/>
                    <a:pt x="5196713" y="2000000"/>
                  </a:cubicBezTo>
                  <a:lnTo>
                    <a:pt x="333375" y="2000000"/>
                  </a:lnTo>
                  <a:cubicBezTo>
                    <a:pt x="149225" y="2000000"/>
                    <a:pt x="0" y="1850775"/>
                    <a:pt x="0" y="1666624"/>
                  </a:cubicBezTo>
                  <a:close/>
                </a:path>
              </a:pathLst>
            </a:custGeom>
            <a:solidFill>
              <a:srgbClr val="1F6FB2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5529999" cy="2019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Rs. 0</a:t>
              </a:r>
            </a:p>
            <a:p>
              <a:pPr algn="ctr">
                <a:lnSpc>
                  <a:spcPts val="2099"/>
                </a:lnSpc>
              </a:pPr>
              <a:r>
                <a:rPr lang="en-US" sz="174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Licence and cloud fees — open models, runs offline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817621" y="5994704"/>
            <a:ext cx="4006698" cy="1449077"/>
            <a:chOff x="0" y="0"/>
            <a:chExt cx="5529999" cy="20000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530088" cy="2000000"/>
            </a:xfrm>
            <a:custGeom>
              <a:avLst/>
              <a:gdLst/>
              <a:ahLst/>
              <a:cxnLst/>
              <a:rect r="r" b="b" t="t" l="l"/>
              <a:pathLst>
                <a:path h="2000000" w="5530088">
                  <a:moveTo>
                    <a:pt x="0" y="333376"/>
                  </a:moveTo>
                  <a:cubicBezTo>
                    <a:pt x="0" y="149225"/>
                    <a:pt x="149225" y="0"/>
                    <a:pt x="333375" y="0"/>
                  </a:cubicBezTo>
                  <a:lnTo>
                    <a:pt x="5196713" y="0"/>
                  </a:lnTo>
                  <a:cubicBezTo>
                    <a:pt x="5380863" y="0"/>
                    <a:pt x="5530088" y="149225"/>
                    <a:pt x="5530088" y="333376"/>
                  </a:cubicBezTo>
                  <a:lnTo>
                    <a:pt x="5530088" y="1666624"/>
                  </a:lnTo>
                  <a:cubicBezTo>
                    <a:pt x="5530088" y="1850775"/>
                    <a:pt x="5380863" y="2000000"/>
                    <a:pt x="5196713" y="2000000"/>
                  </a:cubicBezTo>
                  <a:lnTo>
                    <a:pt x="333375" y="2000000"/>
                  </a:lnTo>
                  <a:cubicBezTo>
                    <a:pt x="149225" y="2000000"/>
                    <a:pt x="0" y="1850775"/>
                    <a:pt x="0" y="1666624"/>
                  </a:cubicBezTo>
                  <a:close/>
                </a:path>
              </a:pathLst>
            </a:custGeom>
            <a:solidFill>
              <a:srgbClr val="1E7145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5529999" cy="2019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18 lessons</a:t>
              </a:r>
            </a:p>
            <a:p>
              <a:pPr algn="ctr">
                <a:lnSpc>
                  <a:spcPts val="2099"/>
                </a:lnSpc>
              </a:pPr>
              <a:r>
                <a:rPr lang="en-US" sz="174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every NIPUN Lakshya, Balvatika to Grade 3, with worksheets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3036688" y="1484332"/>
            <a:ext cx="12677224" cy="4443697"/>
          </a:xfrm>
          <a:custGeom>
            <a:avLst/>
            <a:gdLst/>
            <a:ahLst/>
            <a:cxnLst/>
            <a:rect r="r" b="b" t="t" l="l"/>
            <a:pathLst>
              <a:path h="4443697" w="12677224">
                <a:moveTo>
                  <a:pt x="0" y="0"/>
                </a:moveTo>
                <a:lnTo>
                  <a:pt x="12677224" y="0"/>
                </a:lnTo>
                <a:lnTo>
                  <a:pt x="12677224" y="4443697"/>
                </a:lnTo>
                <a:lnTo>
                  <a:pt x="0" y="44436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1576" r="0" b="-728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2065809" y="1213142"/>
            <a:ext cx="9601200" cy="1113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3593" indent="-216797" lvl="1">
              <a:lnSpc>
                <a:spcPts val="2875"/>
              </a:lnSpc>
              <a:buFont typeface="Arial"/>
              <a:buChar char="•"/>
            </a:pPr>
            <a:r>
              <a:rPr lang="en-US" b="true" sz="2395">
                <a:solidFill>
                  <a:srgbClr val="14324D"/>
                </a:solidFill>
                <a:latin typeface="Arial Bold"/>
                <a:ea typeface="Arial Bold"/>
                <a:cs typeface="Arial Bold"/>
                <a:sym typeface="Arial Bold"/>
              </a:rPr>
              <a:t>Potential impact on the target audience</a:t>
            </a:r>
          </a:p>
          <a:p>
            <a:pPr algn="just">
              <a:lnSpc>
                <a:spcPts val="5883"/>
              </a:lnSpc>
            </a:pPr>
          </a:p>
        </p:txBody>
      </p:sp>
      <p:sp>
        <p:nvSpPr>
          <p:cNvPr name="TextBox 57" id="57"/>
          <p:cNvSpPr txBox="true"/>
          <p:nvPr/>
        </p:nvSpPr>
        <p:spPr>
          <a:xfrm rot="0">
            <a:off x="914400" y="7500931"/>
            <a:ext cx="1672235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383" b="true">
                <a:solidFill>
                  <a:srgbClr val="14324D"/>
                </a:solidFill>
                <a:latin typeface="Arial Bold"/>
                <a:ea typeface="Arial Bold"/>
                <a:cs typeface="Arial Bold"/>
                <a:sym typeface="Arial Bold"/>
              </a:rPr>
              <a:t>Benefits of the solution (social, economic, operational, policy)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8-bitPool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46395" y="2052638"/>
            <a:ext cx="16995210" cy="2711545"/>
            <a:chOff x="0" y="0"/>
            <a:chExt cx="22660280" cy="3615393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126528"/>
              <a:ext cx="2998243" cy="3488865"/>
              <a:chOff x="0" y="0"/>
              <a:chExt cx="6985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985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985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F88022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20650"/>
                <a:ext cx="698500" cy="552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9"/>
                  </a:lnSpc>
                </a:pPr>
                <a:r>
                  <a:rPr lang="en-US" sz="2174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English-Santali MT Eval</a:t>
                </a:r>
              </a:p>
              <a:p>
                <a:pPr algn="ctr">
                  <a:lnSpc>
                    <a:spcPts val="2609"/>
                  </a:lnSpc>
                </a:pPr>
              </a:p>
              <a:p>
                <a:pPr algn="ctr">
                  <a:lnSpc>
                    <a:spcPts val="2609"/>
                  </a:lnSpc>
                </a:pPr>
                <a:r>
                  <a:rPr lang="en-US" sz="2174" u="sng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  <a:hlinkClick r:id="rId4" tooltip="https://aclanthology.org/2025.mmloso-1.9/"/>
                  </a:rPr>
                  <a:t>LINK</a:t>
                </a: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3277903" y="0"/>
              <a:ext cx="2998243" cy="3488865"/>
              <a:chOff x="0" y="0"/>
              <a:chExt cx="6985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985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985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F88022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120650"/>
                <a:ext cx="698500" cy="552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9"/>
                  </a:lnSpc>
                </a:pPr>
                <a:r>
                  <a:rPr lang="en-US" sz="2174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AI4Bharat BPCC</a:t>
                </a:r>
              </a:p>
              <a:p>
                <a:pPr algn="ctr">
                  <a:lnSpc>
                    <a:spcPts val="2609"/>
                  </a:lnSpc>
                </a:pPr>
              </a:p>
              <a:p>
                <a:pPr algn="ctr">
                  <a:lnSpc>
                    <a:spcPts val="2609"/>
                  </a:lnSpc>
                </a:pPr>
                <a:r>
                  <a:rPr lang="en-US" sz="2174" u="sng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  <a:hlinkClick r:id="rId5" tooltip="https://huggingface.co/datasets/ai4bharat/BPCC"/>
                  </a:rPr>
                  <a:t>LINK</a:t>
                </a: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6555546" y="0"/>
              <a:ext cx="2998243" cy="3488865"/>
              <a:chOff x="0" y="0"/>
              <a:chExt cx="6985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985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985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F88022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120650"/>
                <a:ext cx="698500" cy="552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9"/>
                  </a:lnSpc>
                </a:pPr>
                <a:r>
                  <a:rPr lang="en-US" sz="2174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IndicTrans2 Repo</a:t>
                </a:r>
              </a:p>
              <a:p>
                <a:pPr algn="ctr">
                  <a:lnSpc>
                    <a:spcPts val="2969"/>
                  </a:lnSpc>
                </a:pPr>
              </a:p>
              <a:p>
                <a:pPr algn="ctr">
                  <a:lnSpc>
                    <a:spcPts val="2969"/>
                  </a:lnSpc>
                </a:pPr>
              </a:p>
              <a:p>
                <a:pPr algn="ctr">
                  <a:lnSpc>
                    <a:spcPts val="2609"/>
                  </a:lnSpc>
                </a:pPr>
                <a:r>
                  <a:rPr lang="en-US" sz="2174" u="sng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  <a:hlinkClick r:id="rId6" tooltip="https://github.com/ai4bharat/IndicTrans2"/>
                  </a:rPr>
                  <a:t>LINK</a:t>
                </a: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9833189" y="0"/>
              <a:ext cx="2998243" cy="3488865"/>
              <a:chOff x="0" y="0"/>
              <a:chExt cx="6985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985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985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1F6FB2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120650"/>
                <a:ext cx="698500" cy="552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9"/>
                  </a:lnSpc>
                </a:pPr>
                <a:r>
                  <a:rPr lang="en-US" sz="2174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IndicConformer ASR</a:t>
                </a:r>
              </a:p>
              <a:p>
                <a:pPr algn="ctr">
                  <a:lnSpc>
                    <a:spcPts val="2609"/>
                  </a:lnSpc>
                </a:pPr>
              </a:p>
              <a:p>
                <a:pPr algn="ctr">
                  <a:lnSpc>
                    <a:spcPts val="2609"/>
                  </a:lnSpc>
                </a:pPr>
                <a:r>
                  <a:rPr lang="en-US" sz="2174" u="sng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  <a:hlinkClick r:id="rId7" tooltip="https://commonvoice.mozilla.org/datasets"/>
                  </a:rPr>
                  <a:t>LINK</a:t>
                </a: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13110832" y="0"/>
              <a:ext cx="2998243" cy="3488865"/>
              <a:chOff x="0" y="0"/>
              <a:chExt cx="6985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6985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985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159748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120650"/>
                <a:ext cx="698500" cy="552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9"/>
                  </a:lnSpc>
                </a:pPr>
                <a:r>
                  <a:rPr lang="en-US" sz="2174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NIPUN Bharat Framework</a:t>
                </a:r>
              </a:p>
              <a:p>
                <a:pPr algn="ctr">
                  <a:lnSpc>
                    <a:spcPts val="2609"/>
                  </a:lnSpc>
                </a:pPr>
              </a:p>
              <a:p>
                <a:pPr algn="ctr">
                  <a:lnSpc>
                    <a:spcPts val="2609"/>
                  </a:lnSpc>
                </a:pPr>
                <a:r>
                  <a:rPr lang="en-US" sz="2174" u="sng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  <a:hlinkClick r:id="rId8" tooltip="https://en.vikaspedia.in/viewcontent/education/policies-and-schemes/nipun-bharat-programme"/>
                  </a:rPr>
                  <a:t>LINK</a:t>
                </a: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16384394" y="0"/>
              <a:ext cx="2998243" cy="3488865"/>
              <a:chOff x="0" y="0"/>
              <a:chExt cx="6985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6985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985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159748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120650"/>
                <a:ext cx="698500" cy="552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9"/>
                  </a:lnSpc>
                </a:pPr>
                <a:r>
                  <a:rPr lang="en-US" sz="2174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Adi Vaani (MoTA)</a:t>
                </a:r>
              </a:p>
              <a:p>
                <a:pPr algn="ctr">
                  <a:lnSpc>
                    <a:spcPts val="2609"/>
                  </a:lnSpc>
                </a:pPr>
              </a:p>
              <a:p>
                <a:pPr algn="ctr">
                  <a:lnSpc>
                    <a:spcPts val="2609"/>
                  </a:lnSpc>
                </a:pPr>
                <a:r>
                  <a:rPr lang="en-US" sz="2174" u="sng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  <a:hlinkClick r:id="rId9" tooltip="https://glocal.soas.ac.uk/endangered-languages-program/"/>
                  </a:rPr>
                  <a:t>LINK</a:t>
                </a: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19662037" y="0"/>
              <a:ext cx="2998243" cy="3488865"/>
              <a:chOff x="0" y="0"/>
              <a:chExt cx="698500" cy="812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6985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985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159748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120650"/>
                <a:ext cx="698500" cy="552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9"/>
                  </a:lnSpc>
                </a:pPr>
                <a:r>
                  <a:rPr lang="en-US" sz="2174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JEPC</a:t>
                </a:r>
              </a:p>
              <a:p>
                <a:pPr algn="ctr">
                  <a:lnSpc>
                    <a:spcPts val="3089"/>
                  </a:lnSpc>
                </a:pPr>
              </a:p>
              <a:p>
                <a:pPr algn="ctr">
                  <a:lnSpc>
                    <a:spcPts val="2609"/>
                  </a:lnSpc>
                </a:pPr>
                <a:r>
                  <a:rPr lang="en-US" sz="2174" u="sng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  <a:hlinkClick r:id="rId10" tooltip="https://jepc.jharkhand.gov.in"/>
                  </a:rPr>
                  <a:t>LINK</a:t>
                </a:r>
              </a:p>
            </p:txBody>
          </p:sp>
        </p:grpSp>
      </p:grpSp>
      <p:sp>
        <p:nvSpPr>
          <p:cNvPr name="Freeform 40" id="40"/>
          <p:cNvSpPr/>
          <p:nvPr/>
        </p:nvSpPr>
        <p:spPr>
          <a:xfrm flipH="false" flipV="false" rot="0">
            <a:off x="475612" y="5449676"/>
            <a:ext cx="8416849" cy="3808624"/>
          </a:xfrm>
          <a:custGeom>
            <a:avLst/>
            <a:gdLst/>
            <a:ahLst/>
            <a:cxnLst/>
            <a:rect r="r" b="b" t="t" l="l"/>
            <a:pathLst>
              <a:path h="3808624" w="8416849">
                <a:moveTo>
                  <a:pt x="0" y="0"/>
                </a:moveTo>
                <a:lnTo>
                  <a:pt x="8416849" y="0"/>
                </a:lnTo>
                <a:lnTo>
                  <a:pt x="8416849" y="3808624"/>
                </a:lnTo>
                <a:lnTo>
                  <a:pt x="0" y="380862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9454482" y="5449676"/>
            <a:ext cx="8359120" cy="3808624"/>
          </a:xfrm>
          <a:custGeom>
            <a:avLst/>
            <a:gdLst/>
            <a:ahLst/>
            <a:cxnLst/>
            <a:rect r="r" b="b" t="t" l="l"/>
            <a:pathLst>
              <a:path h="3808624" w="8359120">
                <a:moveTo>
                  <a:pt x="0" y="0"/>
                </a:moveTo>
                <a:lnTo>
                  <a:pt x="8359121" y="0"/>
                </a:lnTo>
                <a:lnTo>
                  <a:pt x="8359121" y="3808624"/>
                </a:lnTo>
                <a:lnTo>
                  <a:pt x="0" y="38086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475612" y="1633537"/>
            <a:ext cx="118872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3593" indent="-216797" lvl="1">
              <a:lnSpc>
                <a:spcPts val="287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5" strike="noStrike" u="none">
                <a:solidFill>
                  <a:srgbClr val="14324D"/>
                </a:solidFill>
                <a:latin typeface="Arial Bold"/>
                <a:ea typeface="Arial Bold"/>
                <a:cs typeface="Arial Bold"/>
                <a:sym typeface="Arial Bold"/>
              </a:rPr>
              <a:t>Details / Links of the reference and research work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75612" y="4916429"/>
            <a:ext cx="88392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3593" indent="-216797" lvl="1">
              <a:lnSpc>
                <a:spcPts val="287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5" strike="noStrike" u="none">
                <a:solidFill>
                  <a:srgbClr val="14324D"/>
                </a:solidFill>
                <a:latin typeface="Arial Bold"/>
                <a:ea typeface="Arial Bold"/>
                <a:cs typeface="Arial Bold"/>
                <a:sym typeface="Arial Bold"/>
              </a:rPr>
              <a:t>UI/UX Interface</a:t>
            </a:r>
            <a:r>
              <a:rPr lang="en-US" sz="1600">
                <a:solidFill>
                  <a:srgbClr val="14324D"/>
                </a:solidFill>
                <a:latin typeface="Arial"/>
                <a:cs typeface="Arial"/>
              </a:rPr>
              <a:t xml:space="preserve">   Current build, English view (also Hindi / Santali)</a:t>
            </a:r>
          </a:p>
        </p:txBody>
      </p:sp>
      <p:sp>
        <p:nvSpPr>
          <p:cNvPr id="90" name="Demo video link"/>
          <p:cNvSpPr/>
          <p:nvPr/>
        </p:nvSpPr>
        <p:spPr>
          <a:xfrm>
            <a:off x="9454896" y="4846320"/>
            <a:ext cx="4069080" cy="475488"/>
          </a:xfrm>
          <a:prstGeom prst="roundRect">
            <a:avLst>
              <a:gd name="adj" fmla="val 50000"/>
            </a:avLst>
          </a:prstGeom>
          <a:solidFill>
            <a:srgbClr val="14324D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Arial"/>
                <a:cs typeface="Arial"/>
              </a:rPr>
              <a:t xml:space="preserve">Demo video:  </a:t>
            </a:r>
            <a:r>
              <a:rPr lang="en-US" sz="1800">
                <a:solidFill>
                  <a:srgbClr val="FFD28A"/>
                </a:solidFill>
                <a:latin typeface="Arial"/>
                <a:cs typeface="Arial"/>
              </a:rPr>
              <a:t>[add link after recording]</a:t>
            </a:r>
          </a:p>
        </p:txBody>
      </p:sp>
      <p:sp>
        <p:nvSpPr>
          <p:cNvPr id="91" name="GitHub repo link">
            <a:hlinkClick r:id="rIdGitHub"/>
          </p:cNvPr>
          <p:cNvSpPr/>
          <p:nvPr/>
        </p:nvSpPr>
        <p:spPr>
          <a:xfrm>
            <a:off x="13743432" y="4846320"/>
            <a:ext cx="4069080" cy="475488"/>
          </a:xfrm>
          <a:prstGeom prst="roundRect">
            <a:avLst>
              <a:gd name="adj" fmla="val 50000"/>
            </a:avLst>
          </a:prstGeom>
          <a:solidFill>
            <a:srgbClr val="14324D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 xml:space="preserve">GitHub repo:  </a:t>
            </a:r>
            <a:r>
              <a:rPr lang="en-US" sz="1300">
                <a:solidFill>
                  <a:srgbClr val="FFD28A"/>
                </a:solidFill>
                <a:latin typeface="Arial"/>
                <a:cs typeface="Arial"/>
              </a:rPr>
              <a:t>github.com/barath0512s-rgb/nijbhasha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DAHUuDtzfno</dc:identifier>
  <dcterms:modified xsi:type="dcterms:W3CDTF">2011-08-01T06:04:30Z</dcterms:modified>
  <cp:revision>1</cp:revision>
  <dc:title>Nijbhasha — SIH26042 — Team 8-bitPool (Team ID 168531)</dc:title>
</cp:coreProperties>
</file>